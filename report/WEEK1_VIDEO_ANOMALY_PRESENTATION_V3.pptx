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90194beb784569" /><Relationship Type="http://schemas.openxmlformats.org/officeDocument/2006/relationships/extended-properties" Target="/docProps/app.xml" Id="R93c4e9dca7644706" /><Relationship Type="http://schemas.openxmlformats.org/officeDocument/2006/relationships/officeDocument" Target="/ppt/presentation.xml" Id="Re2af0eb03180471c" /></Relationships>
</file>

<file path=ppt/presentation.xml><?xml version="1.0" encoding="utf-8"?>
<p:presentation xmlns:p="http://schemas.openxmlformats.org/presentationml/2006/main">
  <p:sldMasterIdLst>
    <p:sldMasterId xmlns:r="http://schemas.openxmlformats.org/officeDocument/2006/relationships" id="2147483648" r:id="R7f2e7221f0024f7a"/>
  </p:sldMasterIdLst>
  <p:notesMasterIdLst>
    <p:notesMasterId xmlns:r="http://schemas.openxmlformats.org/officeDocument/2006/relationships" r:id="Red10ea7248574293"/>
  </p:notesMasterIdLst>
  <p:sldIdLst>
    <p:sldId xmlns:r="http://schemas.openxmlformats.org/officeDocument/2006/relationships" id="256" r:id="R123dcdfddac24977"/>
    <p:sldId xmlns:r="http://schemas.openxmlformats.org/officeDocument/2006/relationships" id="257" r:id="R3d0db573ed2a4e37"/>
    <p:sldId xmlns:r="http://schemas.openxmlformats.org/officeDocument/2006/relationships" id="258" r:id="R713d89e45f4d4694"/>
    <p:sldId xmlns:r="http://schemas.openxmlformats.org/officeDocument/2006/relationships" id="259" r:id="Re62e71fce27d4448"/>
    <p:sldId xmlns:r="http://schemas.openxmlformats.org/officeDocument/2006/relationships" id="260" r:id="R7b36e315226f446a"/>
    <p:sldId xmlns:r="http://schemas.openxmlformats.org/officeDocument/2006/relationships" id="261" r:id="R4a69c710aee04f46"/>
    <p:sldId xmlns:r="http://schemas.openxmlformats.org/officeDocument/2006/relationships" id="262" r:id="R0702c2bb121c4d29"/>
    <p:sldId xmlns:r="http://schemas.openxmlformats.org/officeDocument/2006/relationships" id="263" r:id="R049d9b3e7b354e2b"/>
    <p:sldId xmlns:r="http://schemas.openxmlformats.org/officeDocument/2006/relationships" id="264" r:id="Rc9fc87ff50e94b6c"/>
    <p:sldId xmlns:r="http://schemas.openxmlformats.org/officeDocument/2006/relationships" id="265" r:id="R6c2d24cde5c34beb"/>
    <p:sldId xmlns:r="http://schemas.openxmlformats.org/officeDocument/2006/relationships" id="266" r:id="R30243fddfff044c9"/>
    <p:sldId xmlns:r="http://schemas.openxmlformats.org/officeDocument/2006/relationships" id="267" r:id="Rffe97458c39742fb"/>
    <p:sldId xmlns:r="http://schemas.openxmlformats.org/officeDocument/2006/relationships" id="268" r:id="Rf29c0248b53346f2"/>
    <p:sldId xmlns:r="http://schemas.openxmlformats.org/officeDocument/2006/relationships" id="269" r:id="R6955c9f5dcf14b62"/>
    <p:sldId xmlns:r="http://schemas.openxmlformats.org/officeDocument/2006/relationships" id="270" r:id="R779914987b2c49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1094881eca4d74" /><Relationship Type="http://schemas.openxmlformats.org/officeDocument/2006/relationships/slideMaster" Target="/ppt/slideMasters/slideMaster1.xml" Id="R7f2e7221f0024f7a" /><Relationship Type="http://schemas.openxmlformats.org/officeDocument/2006/relationships/notesMaster" Target="/ppt/notesMasters/notesMaster1.xml" Id="Red10ea7248574293" /><Relationship Type="http://schemas.openxmlformats.org/officeDocument/2006/relationships/presProps" Target="/ppt/presProps.xml" Id="R811665238eac4a0d" /><Relationship Type="http://schemas.openxmlformats.org/officeDocument/2006/relationships/tableStyles" Target="/ppt/tableStyles.xml" Id="Rccdc54a325f64f6b" /><Relationship Type="http://schemas.openxmlformats.org/officeDocument/2006/relationships/slide" Target="/ppt/slides/slide1.xml" Id="R123dcdfddac24977" /><Relationship Type="http://schemas.openxmlformats.org/officeDocument/2006/relationships/slide" Target="/ppt/slides/slide2.xml" Id="R3d0db573ed2a4e37" /><Relationship Type="http://schemas.openxmlformats.org/officeDocument/2006/relationships/slide" Target="/ppt/slides/slide3.xml" Id="R713d89e45f4d4694" /><Relationship Type="http://schemas.openxmlformats.org/officeDocument/2006/relationships/slide" Target="/ppt/slides/slide4.xml" Id="Re62e71fce27d4448" /><Relationship Type="http://schemas.openxmlformats.org/officeDocument/2006/relationships/slide" Target="/ppt/slides/slide5.xml" Id="R7b36e315226f446a" /><Relationship Type="http://schemas.openxmlformats.org/officeDocument/2006/relationships/slide" Target="/ppt/slides/slide6.xml" Id="R4a69c710aee04f46" /><Relationship Type="http://schemas.openxmlformats.org/officeDocument/2006/relationships/slide" Target="/ppt/slides/slide7.xml" Id="R0702c2bb121c4d29" /><Relationship Type="http://schemas.openxmlformats.org/officeDocument/2006/relationships/slide" Target="/ppt/slides/slide8.xml" Id="R049d9b3e7b354e2b" /><Relationship Type="http://schemas.openxmlformats.org/officeDocument/2006/relationships/slide" Target="/ppt/slides/slide9.xml" Id="Rc9fc87ff50e94b6c" /><Relationship Type="http://schemas.openxmlformats.org/officeDocument/2006/relationships/slide" Target="/ppt/slides/slide10.xml" Id="R6c2d24cde5c34beb" /><Relationship Type="http://schemas.openxmlformats.org/officeDocument/2006/relationships/slide" Target="/ppt/slides/slide11.xml" Id="R30243fddfff044c9" /><Relationship Type="http://schemas.openxmlformats.org/officeDocument/2006/relationships/slide" Target="/ppt/slides/slide12.xml" Id="Rffe97458c39742fb" /><Relationship Type="http://schemas.openxmlformats.org/officeDocument/2006/relationships/slide" Target="/ppt/slides/slide13.xml" Id="Rf29c0248b53346f2" /><Relationship Type="http://schemas.openxmlformats.org/officeDocument/2006/relationships/slide" Target="/ppt/slides/slide14.xml" Id="R6955c9f5dcf14b62" /><Relationship Type="http://schemas.openxmlformats.org/officeDocument/2006/relationships/slide" Target="/ppt/slides/slide15.xml" Id="R779914987b2c49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32dc25cc4549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659afb369c46b6" /><Relationship Type="http://schemas.openxmlformats.org/officeDocument/2006/relationships/notesMaster" Target="/ppt/notesMasters/notesMaster1.xml" Id="R1e6d9bc3e1d146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def706cb41438d" /><Relationship Type="http://schemas.openxmlformats.org/officeDocument/2006/relationships/notesMaster" Target="/ppt/notesMasters/notesMaster1.xml" Id="R7afa6fa06b7146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48b3ec1e6748b2" /><Relationship Type="http://schemas.openxmlformats.org/officeDocument/2006/relationships/notesMaster" Target="/ppt/notesMasters/notesMaster1.xml" Id="R0abb2ba62dae49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44a1a712514d7e" /><Relationship Type="http://schemas.openxmlformats.org/officeDocument/2006/relationships/notesMaster" Target="/ppt/notesMasters/notesMaster1.xml" Id="R47bf5c0a4feb46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48c3b1d79248a0" /><Relationship Type="http://schemas.openxmlformats.org/officeDocument/2006/relationships/notesMaster" Target="/ppt/notesMasters/notesMaster1.xml" Id="R62ef0913a2db46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d4154ac4ee41c3" /><Relationship Type="http://schemas.openxmlformats.org/officeDocument/2006/relationships/notesMaster" Target="/ppt/notesMasters/notesMaster1.xml" Id="R9e82086533c641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1aa93b70cd4746" /><Relationship Type="http://schemas.openxmlformats.org/officeDocument/2006/relationships/notesMaster" Target="/ppt/notesMasters/notesMaster1.xml" Id="R115d68adb9c745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8c98e7f5164a86" /><Relationship Type="http://schemas.openxmlformats.org/officeDocument/2006/relationships/notesMaster" Target="/ppt/notesMasters/notesMaster1.xml" Id="R6f294e9365004e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224afadf05349c4" /><Relationship Type="http://schemas.openxmlformats.org/officeDocument/2006/relationships/notesMaster" Target="/ppt/notesMasters/notesMaster1.xml" Id="R2d8f905645a141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4ae3c6356b4013" /><Relationship Type="http://schemas.openxmlformats.org/officeDocument/2006/relationships/notesMaster" Target="/ppt/notesMasters/notesMaster1.xml" Id="R726fdf9cff834a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650b2c77664df8" /><Relationship Type="http://schemas.openxmlformats.org/officeDocument/2006/relationships/notesMaster" Target="/ppt/notesMasters/notesMaster1.xml" Id="R2da3ace1d0594d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bfb193a88f40c8" /><Relationship Type="http://schemas.openxmlformats.org/officeDocument/2006/relationships/notesMaster" Target="/ppt/notesMasters/notesMaster1.xml" Id="Raaa55efbcf0d455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376b38d8554a91" /><Relationship Type="http://schemas.openxmlformats.org/officeDocument/2006/relationships/notesMaster" Target="/ppt/notesMasters/notesMaster1.xml" Id="R0006893dd2424d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b01cd433b94280" /><Relationship Type="http://schemas.openxmlformats.org/officeDocument/2006/relationships/notesMaster" Target="/ppt/notesMasters/notesMaster1.xml" Id="Raeafcb004fa945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293ba3a61f457b" /><Relationship Type="http://schemas.openxmlformats.org/officeDocument/2006/relationships/notesMaster" Target="/ppt/notesMasters/notesMaster1.xml" Id="Rf858e110d96742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báo cáo kết quả tìm hiểu trong tuần đầu của dự án. Đề tài hướng tới một hệ thống hỗ trợ nhân viên giám sát bằng cách tự động tính mức độ bất thường của từng đoạn video và phát cảnh báo khi phát hiện đối tượng hoặc chuyển động khác với bối cảnh bình thường. Trong tuần đầu, trọng tâm là xác định bài toán, khảo sát dữ liệu, lựa chọn hướng mô hình và thiết kế sơ bộ hệ thống. Dự án chưa bước vào giai đoạn huấn luyện nên bài trình bày chưa đưa ra số liệu thực nghiệm.</a:t>
            </a:r>
          </a:p>
          <a:p xmlns:a="http://schemas.openxmlformats.org/drawingml/2006/main">
            <a:r>
              <a:t/>
            </a:r>
          </a:p>
          <a:p xmlns:a="http://schemas.openxmlformats.org/drawingml/2006/main">
            <a:r>
              <a:t>Nguồn:</a:t>
            </a:r>
          </a:p>
          <a:p xmlns:a="http://schemas.openxmlformats.org/drawingml/2006/main">
            <a:r>
              <a:t>- Ảnh minh họa: Mannheim24, https://www.mannheim24.de/mannheim/mannheim-kameras-alten-messplatz-bahnhof-paradeplatz-polizei-videoueberwachung-9616248.html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của đề tài không phải thay thế nhân viên giám sát. Hệ thống đóng vai trò bộ lọc, giúp xác định đoạn video có dấu hiệu khác thường để con người kiểm tra. Trong thực tế, một người không thể quan sát tập trung nhiều camera trong thời gian dài. Tuy nhiên, việc phát cảnh báo sai quá nhiều cũng làm hệ thống mất giá trị. Vì vậy, ngoài chỉ số trên dataset, dự án cần quan tâm đến số cảnh báo giả, độ trễ và tốc độ xử lý.</a:t>
            </a:r>
          </a:p>
          <a:p xmlns:a="http://schemas.openxmlformats.org/drawingml/2006/main">
            <a:r>
              <a:t/>
            </a:r>
          </a:p>
          <a:p xmlns:a="http://schemas.openxmlformats.org/drawingml/2006/main">
            <a:r>
              <a:t>Nguồn:</a:t>
            </a:r>
          </a:p>
          <a:p xmlns:a="http://schemas.openxmlformats.org/drawingml/2006/main">
            <a:r>
              <a:t>- Ảnh minh họa: North Lanarkshire Council, https://www.northlanarkshire.gov.uk/news/community-safety-hub-supporting-vulnerable-residents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Khái niệm bất thường phụ thuộc vào bối cảnh. Xe đạp là bình thường trên đường giao thông nhưng có thể là bất thường trong lối đi chỉ dành cho người đi bộ. Vì vậy, dự án giới hạn bối cảnh ở camera cố định và tập trung vào bất thường về đối tượng hoặc chuyển động. Phiên bản đầu chưa giải quyết các khái niệm mang tính ý định như trộm cắp hoặc hành vi đáng ngờ. Đầu ra chính là một điểm số theo frame, sau đó hệ thống áp dụng quy tắc thời gian để quyết định cảnh báo.</a:t>
            </a:r>
          </a:p>
          <a:p xmlns:a="http://schemas.openxmlformats.org/drawingml/2006/main">
            <a:r>
              <a:t/>
            </a:r>
          </a:p>
          <a:p xmlns:a="http://schemas.openxmlformats.org/drawingml/2006/main">
            <a:r>
              <a:t>Chuẩn bị trao đổi:</a:t>
            </a:r>
          </a:p>
          <a:p xmlns:a="http://schemas.openxmlformats.org/drawingml/2006/main">
            <a:r>
              <a:t>Hỏi: Hệ thống có phát hiện được đánh nhau hoặc trộm cắp không? Trả lời: Không nên khẳng định với Ped2. Dataset này chủ yếu phù hợp với đối tượng và chuyển động bất thường trong lối đi bộ. Muốn xử lý bạo lực hoặc trộm cắp cần dataset và cách giám sát khác.</a:t>
            </a:r>
          </a:p>
          <a:p xmlns:a="http://schemas.openxmlformats.org/drawingml/2006/main">
            <a:r>
              <a:t/>
            </a:r>
          </a:p>
          <a:p xmlns:a="http://schemas.openxmlformats.org/drawingml/2006/main">
            <a:r>
              <a:t>Nguồn:</a:t>
            </a:r>
          </a:p>
          <a:p xmlns:a="http://schemas.openxmlformats.org/drawingml/2006/main">
            <a:r>
              <a:t>- Ramachandra, B., Jones, M., Vatsavai, R. “Street Scene: A New Dataset and Evaluation Protocol for Video Anomaly Detection.” WACV 2020. https://openaccess.thecvf.com/content_WACV_2020/html/Ramachandra_Street_Scene_A_new_dataset_and_evaluation_protocol_for_video_WACV_2020_paper.html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nhiều bài báo, cách thiết lập này được gọi là unsupervised video anomaly detection. Một tên mô tả chính xác hơn là one-class hoặc normal-only learning vì quá trình huấn luyện biết trước rằng video train chứa hành vi bình thường. Cách tiếp cận này phù hợp khi bất thường hiếm và không thể liệt kê đầy đủ. Model không học tên của từng hành vi xấu. Model học mẫu bình thường, sau đó đo mức độ sai khác của dữ liệu mới.</a:t>
            </a:r>
          </a:p>
          <a:p xmlns:a="http://schemas.openxmlformats.org/drawingml/2006/main">
            <a:r>
              <a:t/>
            </a:r>
          </a:p>
          <a:p xmlns:a="http://schemas.openxmlformats.org/drawingml/2006/main">
            <a:r>
              <a:t>Chuẩn bị trao đổi:</a:t>
            </a:r>
          </a:p>
          <a:p xmlns:a="http://schemas.openxmlformats.org/drawingml/2006/main">
            <a:r>
              <a:t>Hỏi: Vì sao chọn cách học chỉ từ video bình thường? Trả lời: Sự kiện bất thường hiếm và không thể thu thập đầy đủ mọi loại. Học từ hoạt động bình thường giúp model có cơ hội phát hiện cả những mẫu bất thường chưa xuất hiện trong dữ liệu huấn luyện.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Ped2 là lựa chọn phù hợp để xây dựng proof of concept vì dataset tương đối nhỏ và bối cảnh rõ ràng. Model có thể học rằng hoạt động bình thường chủ yếu là người đi bộ theo một số hướng quen thuộc. Xe đạp, skateboard hoặc xe nhỏ tạo ra sự khác biệt về hình dáng và chuyển động. Hạn chế quan trọng là Ped2 chỉ đại diện cho một cảnh cụ thể. Kết quả tốt trên Ped2 chưa đủ chứng minh mô hình có thể triển khai trên mọi camera.</a:t>
            </a:r>
          </a:p>
          <a:p xmlns:a="http://schemas.openxmlformats.org/drawingml/2006/main">
            <a:r>
              <a:t/>
            </a:r>
          </a:p>
          <a:p xmlns:a="http://schemas.openxmlformats.org/drawingml/2006/main">
            <a:r>
              <a:t>Chuẩn bị trao đổi:</a:t>
            </a:r>
          </a:p>
          <a:p xmlns:a="http://schemas.openxmlformats.org/drawingml/2006/main">
            <a:r>
              <a:t>Hỏi: Vì sao chọn Ped2? Trả lời: Ped2 có dung lượng nhỏ, split rõ ràng và ground truth theo frame. Dataset phù hợp để người mới xây dựng và kiểm tra toàn bộ pipeline trong thời gian giới hạn.</a:t>
            </a:r>
          </a:p>
          <a:p xmlns:a="http://schemas.openxmlformats.org/drawingml/2006/main">
            <a:r>
              <a:t/>
            </a:r>
          </a:p>
          <a:p xmlns:a="http://schemas.openxmlformats.org/drawingml/2006/main">
            <a:r>
              <a:t>Nguồn:</a:t>
            </a:r>
          </a:p>
          <a:p xmlns:a="http://schemas.openxmlformats.org/drawingml/2006/main">
            <a:r>
              <a:t>- Mahadevan, V., Li, W., Bhalodia, V., Vasconcelos, N. “Anomaly Detection in Crowded Scenes.” CVPR 2010. http://www.svcl.ucsd.edu/projects/anomaly/</a:t>
            </a:r>
          </a:p>
          <a:p xmlns:a="http://schemas.openxmlformats.org/drawingml/2006/main">
            <a:r>
              <a:t>- Li, W., Mahadevan, V., Vasconcelos, N. “Anomaly Detection and Localization in Crowded Scenes.” IEEE TPAMI, 2014. https://www.svcl.ucsd.edu/publications/journal/2013/pami.anomaly/pami_anomaly.pdf</a:t>
            </a:r>
          </a:p>
          <a:p xmlns:a="http://schemas.openxmlformats.org/drawingml/2006/main">
            <a:r>
              <a:t>- Ảnh minh họa từ trang chính thức UCSD Anomaly Detection Dataset: http://www.svcl.ucsd.edu/projects/anomaly/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Avenue đa dạng hơn Ped2 và cung cấp bounding box cho vùng bất thường. Dataset phù hợp để kiểm tra liệu cùng một pipeline có hoạt động trong bối cảnh khác hay không. Tuy nhiên, Avenue và Ped2 khác về camera, màu sắc, nền và loại hành vi. Nếu dùng model train trên Ped2 để test trực tiếp trên Avenue, model có thể phản ứng với sự thay đổi bối cảnh thay vì hành vi bất thường.</a:t>
            </a:r>
          </a:p>
          <a:p xmlns:a="http://schemas.openxmlformats.org/drawingml/2006/main">
            <a:r>
              <a:t/>
            </a:r>
          </a:p>
          <a:p xmlns:a="http://schemas.openxmlformats.org/drawingml/2006/main">
            <a:r>
              <a:t>Chuẩn bị trao đổi:</a:t>
            </a:r>
          </a:p>
          <a:p xmlns:a="http://schemas.openxmlformats.org/drawingml/2006/main">
            <a:r>
              <a:t>Hỏi: Vì sao cần Avenue? Trả lời: Avenue đa dạng hơn Ped2 và có thông tin vùng bất thường. Dataset giúp kiểm tra liệu cùng phương pháp có hoạt động trên một bối cảnh khác hay không.</a:t>
            </a:r>
          </a:p>
          <a:p xmlns:a="http://schemas.openxmlformats.org/drawingml/2006/main">
            <a:r>
              <a:t/>
            </a:r>
          </a:p>
          <a:p xmlns:a="http://schemas.openxmlformats.org/drawingml/2006/main">
            <a:r>
              <a:t>Nguồn:</a:t>
            </a:r>
          </a:p>
          <a:p xmlns:a="http://schemas.openxmlformats.org/drawingml/2006/main">
            <a:r>
              <a:t>- Lu, C., Shi, J., Jia, J. “Abnormal Event Detection at 150 FPS in MATLAB.” ICCV 2013. https://www.cse.cuhk.edu.hk/~leojia/projects/detectabnormal/dataset.html</a:t>
            </a:r>
          </a:p>
          <a:p xmlns:a="http://schemas.openxmlformats.org/drawingml/2006/main">
            <a:r>
              <a:t>- Ảnh minh họa từ trang chính thức CUHK Avenue Dataset: https://www.cse.cuhk.edu.hk/~leojia/projects/detectabnormal/dataset.html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Giao thức chính nên tuân theo split chính thức của từng dataset. Ped2 Train được dùng để huấn luyện và Ped2 Test dùng để đánh giá. Sau khi pipeline ổn định, cùng mã nguồn được train lại trên Avenue Train và đánh giá trên Avenue Test. Việc train Ped2 rồi test Avenue vẫn có giá trị nhưng cần được gọi đúng là cross-domain hoặc zero-shot cross-domain evaluation. Nếu giảng viên bắt buộc một dataset chỉ dùng train và dataset còn lại chỉ dùng test, dự án phải xác định đây là câu hỏi nghiên cứu chính và chấp nhận rằng điểm số có thể giảm mạnh.</a:t>
            </a:r>
          </a:p>
          <a:p xmlns:a="http://schemas.openxmlformats.org/drawingml/2006/main">
            <a:r>
              <a:t/>
            </a:r>
          </a:p>
          <a:p xmlns:a="http://schemas.openxmlformats.org/drawingml/2006/main">
            <a:r>
              <a:t>Chuẩn bị trao đổi:</a:t>
            </a:r>
          </a:p>
          <a:p xmlns:a="http://schemas.openxmlformats.org/drawingml/2006/main">
            <a:r>
              <a:t>Hỏi: Có thể train Ped2 rồi test Avenue không? Trả lời: Có thể, nhưng đây là cross-domain evaluation. Sự khác biệt về camera, nền và màu sắc có thể làm anomaly score tăng ngay cả khi hành vi bình thường. Vì vậy, kết quả cần được trình bày như một thí nghiệm tổng quát hóa, không thay thế đánh giá theo split chính thức.</a:t>
            </a:r>
          </a:p>
          <a:p xmlns:a="http://schemas.openxmlformats.org/drawingml/2006/main">
            <a:r>
              <a:t/>
            </a:r>
          </a:p>
          <a:p xmlns:a="http://schemas.openxmlformats.org/drawingml/2006/main">
            <a:r>
              <a:t>Nguồn:</a:t>
            </a:r>
          </a:p>
          <a:p xmlns:a="http://schemas.openxmlformats.org/drawingml/2006/main">
            <a:r>
              <a:t>- Aich, A., Peng, K., Roy-Chowdhury, A. “Cross-Domain Video Anomaly Detection Without Target Domain Adaptation.” WACV 2023. https://openaccess.thecvf.com/content/WACV2023/papers/Aich_Cross-Domain_Video_Anomaly_Detection_Without_Target_Domain_Adaptation_WACV_2023_paper.pdf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Conv-Autoencoder là mô hình phù hợp cho người mới vì có cấu trúc rõ ràng. Encoder giảm kích thước ảnh và rút ra đặc trưng. Decoder cố gắng khôi phục ảnh ban đầu. Khi huấn luyện chỉ bằng ảnh bình thường, model được kỳ vọng sẽ tái tạo tốt các mẫu quen thuộc. Tuy nhiên, autoencoder đôi khi vẫn tái tạo được vật thể bất thường, và việc xử lý từng frame riêng lẻ làm model khó hiểu chuyển động. Vì vậy, Conv-Autoencoder đóng vai trò baseline thay vì mô hình cuối cùng.</a:t>
            </a:r>
          </a:p>
          <a:p xmlns:a="http://schemas.openxmlformats.org/drawingml/2006/main">
            <a:r>
              <a:t/>
            </a:r>
          </a:p>
          <a:p xmlns:a="http://schemas.openxmlformats.org/drawingml/2006/main">
            <a:r>
              <a:t>Nguồn:</a:t>
            </a:r>
          </a:p>
          <a:p xmlns:a="http://schemas.openxmlformats.org/drawingml/2006/main">
            <a:r>
              <a:t>- Gong, D. et al. “Memorizing Normality to Detect Anomaly: Memory-Augmented Deep Autoencoder for Unsupervised Anomaly Detection.” ICCV 2019. https://openaccess.thecvf.com/content_ICCV_2019/html/Gong_Memorizing_Normality_to_Detect_Anomaly_Memory-Augmented_Deep_Autoencoder_for_Unsupervised_ICCV_2019_paper.html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CNN xử lý nội dung trong từng frame, còn Transformer mô hình hóa quan hệ giữa nhiều thời điểm. Phiên bản đầu sử dụng ResNet18 vì nhẹ hơn các backbone lớn. Nên giữ feature map không gian thay vì chỉ dùng một vector sau global average pooling, vì thông tin vị trí cần thiết để tạo anomaly map. Dự đoán feature tiếp theo nhẹ và ổn định hơn việc tái tạo toàn bộ ảnh. Nếu thời gian cho phép, dự án có thể bổ sung decoder để tạo ảnh dự đoán trực quan.</a:t>
            </a:r>
          </a:p>
          <a:p xmlns:a="http://schemas.openxmlformats.org/drawingml/2006/main">
            <a:r>
              <a:t/>
            </a:r>
          </a:p>
          <a:p xmlns:a="http://schemas.openxmlformats.org/drawingml/2006/main">
            <a:r>
              <a:t>Chuẩn bị trao đổi:</a:t>
            </a:r>
          </a:p>
          <a:p xmlns:a="http://schemas.openxmlformats.org/drawingml/2006/main">
            <a:r>
              <a:t>Hỏi: Vì sao dùng Transformer? Trả lời: CNN lấy đặc trưng trong từng frame. Transformer phân tích quan hệ giữa nhiều frame liên tiếp, từ đó hỗ trợ phát hiện các chuyển động không theo quy luật đã học.</a:t>
            </a:r>
          </a:p>
          <a:p xmlns:a="http://schemas.openxmlformats.org/drawingml/2006/main">
            <a:r>
              <a:t>Hỏi: Làm sao biết Transformer thực sự có ích? Trả lời: So sánh hai cấu hình giống nhau, chỉ thay đổi việc có hoặc không có Transformer. Nếu các điều kiện huấn luyện giống nhau, chênh lệch kết quả thể hiện đóng góp của khối temporal attention.</a:t>
            </a:r>
          </a:p>
          <a:p xmlns:a="http://schemas.openxmlformats.org/drawingml/2006/main">
            <a:r>
              <a:t/>
            </a:r>
          </a:p>
          <a:p xmlns:a="http://schemas.openxmlformats.org/drawingml/2006/main">
            <a:r>
              <a:t>Nguồn:</a:t>
            </a:r>
          </a:p>
          <a:p xmlns:a="http://schemas.openxmlformats.org/drawingml/2006/main">
            <a:r>
              <a:t>- Vaswani, A. et al. “Attention Is All You Need.” NeurIPS 2017. https://arxiv.org/abs/1706.03762</a:t>
            </a:r>
          </a:p>
          <a:p xmlns:a="http://schemas.openxmlformats.org/drawingml/2006/main">
            <a:r>
              <a:t>- Liu, W., Luo, W., Lian, D., Gao, S. “Future Frame Prediction for Anomaly Detection: A New Baseline.” CVPR 2018. https://openaccess.thecvf.com/content_cvpr_2018/html/Liu_Future_Frame_Prediction_CVPR_2018_paper.html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mô hình đạt AUROC cao chưa tự động trở thành hệ thống ứng dụng. Hệ thống cần xử lý đầu vào camera, duy trì buffer frame, tính điểm liên tục và quyết định khi nào tạo cảnh báo. Nếu chỉ dựa vào một frame vượt ngưỡng, hệ thống dễ báo giả do nhiễu hoặc thay đổi ánh sáng. Vì vậy, dự án dự kiến làm mượt anomaly score và yêu cầu nhiều frame liên tiếp vượt ngưỡng. Demo cuối kỳ cần lưu lại bằng chứng để người vận hành có thể xem lại sự kiện.</a:t>
            </a:r>
          </a:p>
          <a:p xmlns:a="http://schemas.openxmlformats.org/drawingml/2006/main">
            <a:r>
              <a:t/>
            </a:r>
          </a:p>
          <a:p xmlns:a="http://schemas.openxmlformats.org/drawingml/2006/main">
            <a:r>
              <a:t>Chuẩn bị trao đổi:</a:t>
            </a:r>
          </a:p>
          <a:p xmlns:a="http://schemas.openxmlformats.org/drawingml/2006/main">
            <a:r>
              <a:t>Hỏi: Hệ thống có chạy thời gian thực không? Trả lời: Dự án chưa cam kết trước khi đo. ResNet18 và Transformer nhỏ được chọn để giảm chi phí tính toán. Giai đoạn đánh giá sẽ báo cáo FPS và latency trên thiết bị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AUROC là metric xếp hạng, không phải tỷ lệ dự đoán đúng tại một ngưỡng. Một hệ thống có AUROC tốt vẫn có thể tạo nhiều cảnh báo giả khi triển khai. Vì vậy, dự án cần bổ sung Average Precision, precision, recall và F1. Đối với demo ứng dụng, số cảnh báo giả trên mỗi giờ và độ trễ cảnh báo có ý nghĩa trực tiếp hơn. Ngưỡng phải được xác định từ validation, tốt nhất là một phần dữ liệu bình thường được giữ lại từ tập train.</a:t>
            </a:r>
          </a:p>
          <a:p xmlns:a="http://schemas.openxmlformats.org/drawingml/2006/main">
            <a:r>
              <a:t/>
            </a:r>
          </a:p>
          <a:p xmlns:a="http://schemas.openxmlformats.org/drawingml/2006/main">
            <a:r>
              <a:t>Chuẩn bị trao đổi:</a:t>
            </a:r>
          </a:p>
          <a:p xmlns:a="http://schemas.openxmlformats.org/drawingml/2006/main">
            <a:r>
              <a:t>Hỏi: Ngưỡng cảnh báo được chọn như thế nào? Trả lời: Giữ lại một phần dữ liệu bình thường làm validation. Phân bố anomaly score của validation được dùng để đặt ngưỡng. Không dùng nhãn test để tìm ngưỡng vì sẽ gây data leakage.</a:t>
            </a:r>
          </a:p>
          <a:p xmlns:a="http://schemas.openxmlformats.org/drawingml/2006/main">
            <a:r>
              <a:t>Hỏi: AUC cao có nghĩa hệ thống ứng dụng tốt không? Trả lời: Không hoàn toàn. AUROC cho biết khả năng xếp hạng frame nhưng không phản ánh trực tiếp số cảnh báo giả ở một ngưỡng cụ thể. Dự án cần báo cáo thêm precision, recall, F1, cảnh báo giả trên mỗi giờ và độ trễ.</a:t>
            </a:r>
          </a:p>
          <a:p xmlns:a="http://schemas.openxmlformats.org/drawingml/2006/main">
            <a:r>
              <a:t/>
            </a:r>
          </a:p>
          <a:p xmlns:a="http://schemas.openxmlformats.org/drawingml/2006/main">
            <a:r>
              <a:t>Nguồn:</a:t>
            </a:r>
          </a:p>
          <a:p xmlns:a="http://schemas.openxmlformats.org/drawingml/2006/main">
            <a:r>
              <a:t>- Ramachandra, B., Jones, M., Vatsavai, R. “Street Scene: A New Dataset and Evaluation Protocol for Video Anomaly Detection.” WACV 2020. https://openaccess.thecvf.com/content_WACV_2020/html/Ramachandra_Street_Scene_A_new_dataset_and_evaluation_protocol_for_video_WACV_2020_paper.html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Thiết kế ban đầu có ba mô hình nhưng phạm vi tám tuần có thể quá lớn đối với người mới học AI. Vì vậy, Conv-Autoencoder và CNN-Transformer là hai mô hình bắt buộc. ConvLSTM chỉ thực hiện khi data pipeline và mô hình chính đã ổn định. Ablation quan trọng nhất là loại bỏ Transformer trong khi giữ các thành phần khác giống nhau. Thí nghiệm này cho biết Transformer có đóng góp thực sự hay không.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Tuần đầu tập trung vào việc làm rõ bài toán trước khi viết model. Rủi ro lớn nhất là mở rộng phạm vi quá nhanh và đánh giá cross-domain như một bài test thông thường. Rủi ro thứ hai là dành quá nhiều thời gian cho Transformer trước khi data pipeline hoạt động. Cách triển khai dự kiến là xây baseline nhỏ trước, kiểm tra toàn bộ quá trình đọc dữ liệu, train, tính score và đánh giá, sau đó mới thay thế phần mô hình bằng CNN-Transformer.</a:t>
            </a:r>
          </a:p>
          <a:p xmlns:a="http://schemas.openxmlformats.org/drawingml/2006/main">
            <a:r>
              <a:t/>
            </a:r>
          </a:p>
          <a:p xmlns:a="http://schemas.openxmlformats.org/drawingml/2006/main">
            <a:r>
              <a:t>Chú ý trước khi trình bày: Người dùng phải sửa các gạch đầu dòng trên theo tiến độ thực tế. Nếu chưa thực hiện một nội dung, đổi thành “Đang khảo sát” hoặc chuyển sang kế hoạch tuần tiếp theo.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Đầu ra quan trọng nhất của tuần 2 là data pipeline đúng. Cần kiểm tra trực quan ground truth, vì chỉ một lỗi lệch frame cũng làm toàn bộ metric sai. Mỗi mẫu đầu vào dự kiến có dạng batch, sequence, channel, height và width. Các sequence không được vượt qua ranh giới giữa hai video. Sau khi DataLoader ổn định, tuần 3 mới bắt đầu huấn luyện Conv-Autoencoder.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khảo sát cho thấy đề tài có thể thực hiện trong thời gian môn học nếu ưu tiên đúng thứ tự. Dự án sẽ bắt đầu bằng một baseline đơn giản, sau đó mới phát triển CNN-Transformer. Hai dataset được sử dụng theo split chính thức trước khi thực hiện thí nghiệm cross-domain. Mục tiêu cuối cùng không chỉ là đạt một chỉ số AUROC, mà còn tạo được demo tiếp nhận video, tính điểm bất thường, giảm cảnh báo giả và lưu lại sự kiện để người vận hành xem xét.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db2e3995f84f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fca899d9624980" /><Relationship Type="http://schemas.openxmlformats.org/officeDocument/2006/relationships/slideLayout" Target="/ppt/slideLayouts/slideLayout1.xml" Id="R17c0695d2ace4b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c0695d2ace4b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0dd5d8f2474000" /><Relationship Type="http://schemas.openxmlformats.org/officeDocument/2006/relationships/image" Target="/ppt/media/image.jpeg" Id="R944134efc78f449a" /><Relationship Type="http://schemas.openxmlformats.org/officeDocument/2006/relationships/notesSlide" Target="/ppt/notesSlides/notesSlide1.xml" Id="Rd82dac6a59ab47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59577980a34405" /><Relationship Type="http://schemas.openxmlformats.org/officeDocument/2006/relationships/image" Target="/ppt/media/image2.jpeg" Id="R261434eaa96b4eb8" /><Relationship Type="http://schemas.openxmlformats.org/officeDocument/2006/relationships/notesSlide" Target="/ppt/notesSlides/notesSlide2.xml" Id="R65804caa947742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855e00463e463a" /><Relationship Type="http://schemas.openxmlformats.org/officeDocument/2006/relationships/notesSlide" Target="/ppt/notesSlides/notesSlide3.xml" Id="R828bb2b68f1d4f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9b21efccb14f30" /><Relationship Type="http://schemas.openxmlformats.org/officeDocument/2006/relationships/notesSlide" Target="/ppt/notesSlides/notesSlide4.xml" Id="R7bf9b6c505ad48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aa56eb96a14ecd" /><Relationship Type="http://schemas.openxmlformats.org/officeDocument/2006/relationships/image" Target="/ppt/media/image3.jpeg" Id="R2ad2733d525c4f9d" /><Relationship Type="http://schemas.openxmlformats.org/officeDocument/2006/relationships/image" Target="/ppt/media/image4.jpeg" Id="R0871290772db49d2" /><Relationship Type="http://schemas.openxmlformats.org/officeDocument/2006/relationships/notesSlide" Target="/ppt/notesSlides/notesSlide5.xml" Id="Rccea68668af542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1aa304f2774821" /><Relationship Type="http://schemas.openxmlformats.org/officeDocument/2006/relationships/image" Target="/ppt/media/image.png" Id="R3063c63b88dd4951" /><Relationship Type="http://schemas.openxmlformats.org/officeDocument/2006/relationships/notesSlide" Target="/ppt/notesSlides/notesSlide6.xml" Id="Ra344082c8ce745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8a4513468149f8" /><Relationship Type="http://schemas.openxmlformats.org/officeDocument/2006/relationships/notesSlide" Target="/ppt/notesSlides/notesSlide7.xml" Id="Rf8a7507361bd47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70c71306364d91" /><Relationship Type="http://schemas.openxmlformats.org/officeDocument/2006/relationships/notesSlide" Target="/ppt/notesSlides/notesSlide8.xml" Id="Rfb27a0820c1640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a74d47003a04545" /><Relationship Type="http://schemas.openxmlformats.org/officeDocument/2006/relationships/notesSlide" Target="/ppt/notesSlides/notesSlide9.xml" Id="R42ea93df173741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f4fe78629c46fa" /><Relationship Type="http://schemas.openxmlformats.org/officeDocument/2006/relationships/notesSlide" Target="/ppt/notesSlides/notesSlide10.xml" Id="Re1cda9c61b944b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5dcb9b2ec7348f0" /><Relationship Type="http://schemas.openxmlformats.org/officeDocument/2006/relationships/notesSlide" Target="/ppt/notesSlides/notesSlide11.xml" Id="R60faaf68372046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e9e1b0c76264253" /><Relationship Type="http://schemas.openxmlformats.org/officeDocument/2006/relationships/notesSlide" Target="/ppt/notesSlides/notesSlide12.xml" Id="R699a0a072a864a1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775f979be5b48e4" /><Relationship Type="http://schemas.openxmlformats.org/officeDocument/2006/relationships/notesSlide" Target="/ppt/notesSlides/notesSlide13.xml" Id="R10c5460c560542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bb9a9f7181b4ddb" /><Relationship Type="http://schemas.openxmlformats.org/officeDocument/2006/relationships/notesSlide" Target="/ppt/notesSlides/notesSlide14.xml" Id="R52d8b8c8635b46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dccc6129fca4875" /><Relationship Type="http://schemas.openxmlformats.org/officeDocument/2006/relationships/notesSlide" Target="/ppt/notesSlides/notesSlide15.xml" Id="R631cd910c6ee460b"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44134efc78f449a"/>
          <a:srcRect xmlns:a="http://schemas.openxmlformats.org/drawingml/2006/main" l="25391" t="0" r="25391"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5F5D5A-45AA-4EC4-9E68-91503600C233}"/>
              </a:ext>
            </a:extLst>
          </p:cNvPr>
          <p:cNvSpPr>
            <a:spLocks xmlns:a="http://schemas.openxmlformats.org/drawingml/2006/main" noGrp="1"/>
          </p:cNvSpPr>
          <p:nvPr/>
        </p:nvSpPr>
        <p:spPr>
          <a:xfrm xmlns:a="http://schemas.openxmlformats.org/drawingml/2006/main">
            <a:off x="6191250" y="0"/>
            <a:ext cx="6000750" cy="6858000"/>
          </a:xfrm>
          <a:prstGeom xmlns:a="http://schemas.openxmlformats.org/drawingml/2006/main" prst="rect">
            <a:avLst/>
          </a:prstGeom>
          <a:solidFill xmlns:a="http://schemas.openxmlformats.org/drawingml/2006/main">
            <a:srgbClr val="0B1F33">
              <a:alpha val="8000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253884-2D28-4A65-875E-E6F8D7173E43}"/>
              </a:ext>
            </a:extLst>
          </p:cNvPr>
          <p:cNvSpPr>
            <a:spLocks xmlns:a="http://schemas.openxmlformats.org/drawingml/2006/main" noGrp="1"/>
          </p:cNvSpPr>
          <p:nvPr/>
        </p:nvSpPr>
        <p:spPr>
          <a:xfrm xmlns:a="http://schemas.openxmlformats.org/drawingml/2006/main">
            <a:off x="0" y="0"/>
            <a:ext cx="6953250" cy="6858000"/>
          </a:xfrm>
          <a:prstGeom xmlns:a="http://schemas.openxmlformats.org/drawingml/2006/main" prst="rect">
            <a:avLst/>
          </a:prstGeom>
          <a:solidFill xmlns:a="http://schemas.openxmlformats.org/drawingml/2006/main">
            <a:srgbClr val="0B1F3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28CD8A4-869E-4689-B3E2-237E1FE31339}"/>
              </a:ext>
            </a:extLst>
          </p:cNvPr>
          <p:cNvSpPr>
            <a:spLocks xmlns:a="http://schemas.openxmlformats.org/drawingml/2006/main" noGrp="1"/>
          </p:cNvSpPr>
          <p:nvPr/>
        </p:nvSpPr>
        <p:spPr>
          <a:xfrm xmlns:a="http://schemas.openxmlformats.org/drawingml/2006/main">
            <a:off x="590550" y="590550"/>
            <a:ext cx="800100" cy="76200"/>
          </a:xfrm>
          <a:prstGeom xmlns:a="http://schemas.openxmlformats.org/drawingml/2006/main" prst="rect">
            <a:avLst/>
          </a:prstGeom>
          <a:solidFill xmlns:a="http://schemas.openxmlformats.org/drawingml/2006/main">
            <a:srgbClr val="159E9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E55A75E-6044-49DB-8542-7C024ECB58BC}"/>
              </a:ext>
            </a:extLst>
          </p:cNvPr>
          <p:cNvSpPr>
            <a:spLocks xmlns:a="http://schemas.openxmlformats.org/drawingml/2006/main" noGrp="1"/>
          </p:cNvSpPr>
          <p:nvPr/>
        </p:nvSpPr>
        <p:spPr>
          <a:xfrm xmlns:a="http://schemas.openxmlformats.org/drawingml/2006/main">
            <a:off x="590550" y="876300"/>
            <a:ext cx="557212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rmAutofit fontScale="100000"/>
          </a:bodyPr>
          <a:lstStyle xmlns:a="http://schemas.openxmlformats.org/drawingml/2006/main"/>
          <a:p xmlns:a="http://schemas.openxmlformats.org/drawingml/2006/main">
            <a:pPr algn="l">
              <a:lnSpc>
                <a:spcPct val="98000"/>
              </a:lnSpc>
              <a:buNone/>
              <a:defRPr sz="3375" b="1">
                <a:solidFill>
                  <a:srgbClr val="FFFFFF"/>
                </a:solidFill>
                <a:latin typeface="Arial"/>
                <a:ea typeface="Arial"/>
                <a:cs typeface="Arial"/>
              </a:defRPr>
            </a:pPr>
            <a:r>
              <a:rPr sz="3375" b="1">
                <a:solidFill>
                  <a:srgbClr val="FFFFFF"/>
                </a:solidFill>
                <a:latin typeface="Arial"/>
                <a:ea typeface="Arial"/>
                <a:cs typeface="Arial"/>
              </a:rPr>
              <a:t>HỆ THỐNG PHÁT HIỆN</a:t>
            </a:r>
          </a:p>
          <a:p xmlns:a="http://schemas.openxmlformats.org/drawingml/2006/main">
            <a:pPr algn="l">
              <a:lnSpc>
                <a:spcPct val="98000"/>
              </a:lnSpc>
              <a:buNone/>
              <a:defRPr sz="3375" b="1">
                <a:solidFill>
                  <a:srgbClr val="FFFFFF"/>
                </a:solidFill>
                <a:latin typeface="Arial"/>
                <a:ea typeface="Arial"/>
                <a:cs typeface="Arial"/>
              </a:defRPr>
            </a:pPr>
            <a:r>
              <a:rPr sz="3375" b="1">
                <a:solidFill>
                  <a:srgbClr val="FFFFFF"/>
                </a:solidFill>
                <a:latin typeface="Arial"/>
                <a:ea typeface="Arial"/>
                <a:cs typeface="Arial"/>
              </a:rPr>
              <a:t>HÀNH VI BẤT THƯỜNG</a:t>
            </a:r>
          </a:p>
          <a:p xmlns:a="http://schemas.openxmlformats.org/drawingml/2006/main">
            <a:pPr algn="l">
              <a:lnSpc>
                <a:spcPct val="98000"/>
              </a:lnSpc>
              <a:buNone/>
              <a:defRPr sz="3375" b="1">
                <a:solidFill>
                  <a:srgbClr val="FFFFFF"/>
                </a:solidFill>
                <a:latin typeface="Arial"/>
                <a:ea typeface="Arial"/>
                <a:cs typeface="Arial"/>
              </a:defRPr>
            </a:pPr>
            <a:r>
              <a:rPr sz="3375" b="1">
                <a:solidFill>
                  <a:srgbClr val="FFFFFF"/>
                </a:solidFill>
                <a:latin typeface="Arial"/>
                <a:ea typeface="Arial"/>
                <a:cs typeface="Arial"/>
              </a:rPr>
              <a:t>TRONG VIDEO CCTV</a:t>
            </a:r>
          </a:p>
        </p:txBody>
      </p:sp>
      <p:sp>
        <p:nvSpPr>
          <p:cNvPr id="6" name="">
            <a:extLst xmlns:a="http://schemas.openxmlformats.org/drawingml/2006/main">
              <a:ext uri="{FF2B5EF4-FFF2-40B4-BE49-F238E27FC236}">
                <a16:creationId xmlns:a16="http://schemas.microsoft.com/office/drawing/2014/main" id="{A6BB043E-FE02-4E7F-AD66-748766362D84}"/>
              </a:ext>
            </a:extLst>
          </p:cNvPr>
          <p:cNvSpPr>
            <a:spLocks xmlns:a="http://schemas.openxmlformats.org/drawingml/2006/main" noGrp="1"/>
          </p:cNvSpPr>
          <p:nvPr/>
        </p:nvSpPr>
        <p:spPr>
          <a:xfrm xmlns:a="http://schemas.openxmlformats.org/drawingml/2006/main">
            <a:off x="609600" y="339090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875" b="0">
                <a:solidFill>
                  <a:srgbClr val="B7DCDB"/>
                </a:solidFill>
                <a:latin typeface="Arial"/>
                <a:ea typeface="Arial"/>
                <a:cs typeface="Arial"/>
              </a:defRPr>
            </a:pPr>
            <a:r>
              <a:rPr sz="1875" b="0">
                <a:solidFill>
                  <a:srgbClr val="B7DCDB"/>
                </a:solidFill>
                <a:latin typeface="Arial"/>
                <a:ea typeface="Arial"/>
                <a:cs typeface="Arial"/>
              </a:rPr>
              <a:t>Khảo sát bài toán và thiết kế sơ bộ</a:t>
            </a:r>
          </a:p>
        </p:txBody>
      </p:sp>
      <p:sp>
        <p:nvSpPr>
          <p:cNvPr id="7" name="">
            <a:extLst xmlns:a="http://schemas.openxmlformats.org/drawingml/2006/main">
              <a:ext uri="{FF2B5EF4-FFF2-40B4-BE49-F238E27FC236}">
                <a16:creationId xmlns:a16="http://schemas.microsoft.com/office/drawing/2014/main" id="{0E5524D7-3602-4866-BCBF-8958E243CC53}"/>
              </a:ext>
            </a:extLst>
          </p:cNvPr>
          <p:cNvSpPr>
            <a:spLocks xmlns:a="http://schemas.openxmlformats.org/drawingml/2006/main" noGrp="1"/>
          </p:cNvSpPr>
          <p:nvPr/>
        </p:nvSpPr>
        <p:spPr>
          <a:xfrm xmlns:a="http://schemas.openxmlformats.org/drawingml/2006/main">
            <a:off x="609600" y="41719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Học phần: Thiết kế hệ thống thông minh</a:t>
            </a:r>
          </a:p>
        </p:txBody>
      </p:sp>
      <p:sp>
        <p:nvSpPr>
          <p:cNvPr id="8" name="">
            <a:extLst xmlns:a="http://schemas.openxmlformats.org/drawingml/2006/main">
              <a:ext uri="{FF2B5EF4-FFF2-40B4-BE49-F238E27FC236}">
                <a16:creationId xmlns:a16="http://schemas.microsoft.com/office/drawing/2014/main" id="{245B3BB4-3A3B-4E02-9BCE-FD71EB87DD84}"/>
              </a:ext>
            </a:extLst>
          </p:cNvPr>
          <p:cNvSpPr>
            <a:spLocks xmlns:a="http://schemas.openxmlformats.org/drawingml/2006/main" noGrp="1"/>
          </p:cNvSpPr>
          <p:nvPr/>
        </p:nvSpPr>
        <p:spPr>
          <a:xfrm xmlns:a="http://schemas.openxmlformats.org/drawingml/2006/main">
            <a:off x="609600" y="47625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rmAutofit fontScale="100000"/>
          </a:bodyPr>
          <a:lstStyle xmlns:a="http://schemas.openxmlformats.org/drawingml/2006/main"/>
          <a:p xmlns:a="http://schemas.openxmlformats.org/drawingml/2006/main">
            <a:pPr algn="l">
              <a:lnSpc>
                <a:spcPct val="112000"/>
              </a:lnSpc>
              <a:buNone/>
              <a:defRPr sz="1500" b="0">
                <a:solidFill>
                  <a:srgbClr val="D5E1E7"/>
                </a:solidFill>
                <a:latin typeface="Arial"/>
                <a:ea typeface="Arial"/>
                <a:cs typeface="Arial"/>
              </a:defRPr>
            </a:pPr>
            <a:r>
              <a:rPr sz="1500" b="0">
                <a:solidFill>
                  <a:srgbClr val="D5E1E7"/>
                </a:solidFill>
                <a:latin typeface="Arial"/>
                <a:ea typeface="Arial"/>
                <a:cs typeface="Arial"/>
              </a:rPr>
              <a:t>[TÊN SINH VIÊN/NHÓM]</a:t>
            </a:r>
          </a:p>
          <a:p xmlns:a="http://schemas.openxmlformats.org/drawingml/2006/main">
            <a:pPr algn="l">
              <a:lnSpc>
                <a:spcPct val="112000"/>
              </a:lnSpc>
              <a:buNone/>
              <a:defRPr sz="1500" b="0">
                <a:solidFill>
                  <a:srgbClr val="D5E1E7"/>
                </a:solidFill>
                <a:latin typeface="Arial"/>
                <a:ea typeface="Arial"/>
                <a:cs typeface="Arial"/>
              </a:defRPr>
            </a:pPr>
            <a:r>
              <a:rPr sz="1500" b="0">
                <a:solidFill>
                  <a:srgbClr val="D5E1E7"/>
                </a:solidFill>
                <a:latin typeface="Arial"/>
                <a:ea typeface="Arial"/>
                <a:cs typeface="Arial"/>
              </a:rPr>
              <a:t>[MÃ SỐ SINH VIÊN]</a:t>
            </a:r>
          </a:p>
          <a:p xmlns:a="http://schemas.openxmlformats.org/drawingml/2006/main">
            <a:pPr algn="l">
              <a:lnSpc>
                <a:spcPct val="112000"/>
              </a:lnSpc>
              <a:buNone/>
              <a:defRPr sz="1500" b="0">
                <a:solidFill>
                  <a:srgbClr val="D5E1E7"/>
                </a:solidFill>
                <a:latin typeface="Arial"/>
                <a:ea typeface="Arial"/>
                <a:cs typeface="Arial"/>
              </a:defRPr>
            </a:pPr>
            <a:r>
              <a:rPr sz="1500" b="0">
                <a:solidFill>
                  <a:srgbClr val="D5E1E7"/>
                </a:solidFill>
                <a:latin typeface="Arial"/>
                <a:ea typeface="Arial"/>
                <a:cs typeface="Arial"/>
              </a:rPr>
              <a:t>[TÊN GIẢNG VIÊN]</a:t>
            </a:r>
          </a:p>
          <a:p xmlns:a="http://schemas.openxmlformats.org/drawingml/2006/main">
            <a:pPr algn="l">
              <a:lnSpc>
                <a:spcPct val="112000"/>
              </a:lnSpc>
              <a:buNone/>
              <a:defRPr sz="1500" b="0">
                <a:solidFill>
                  <a:srgbClr val="D5E1E7"/>
                </a:solidFill>
                <a:latin typeface="Arial"/>
                <a:ea typeface="Arial"/>
                <a:cs typeface="Arial"/>
              </a:defRPr>
            </a:pPr>
            <a:r>
              <a:rPr sz="1500" b="0">
                <a:solidFill>
                  <a:srgbClr val="D5E1E7"/>
                </a:solidFill>
                <a:latin typeface="Arial"/>
                <a:ea typeface="Arial"/>
                <a:cs typeface="Arial"/>
              </a:rPr>
              <a:t>[NGÀY BÁO CÁO]</a:t>
            </a:r>
          </a:p>
        </p:txBody>
      </p:sp>
    </p:spTree>
    <p:extLst>
      <p:ext uri="{BB962C8B-B14F-4D97-AF65-F5344CB8AC3E}">
        <p14:creationId xmlns:p14="http://schemas.microsoft.com/office/powerpoint/2010/main" val="1497104544"/>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8A55F6-C4F0-4DAC-A832-703EE0FE57F9}"/>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Bối cảnh giám sát video</a:t>
            </a:r>
          </a:p>
        </p:txBody>
      </p:sp>
      <p:sp>
        <p:nvSpPr>
          <p:cNvPr id="2" name="">
            <a:extLst xmlns:a="http://schemas.openxmlformats.org/drawingml/2006/main">
              <a:ext uri="{FF2B5EF4-FFF2-40B4-BE49-F238E27FC236}">
                <a16:creationId xmlns:a16="http://schemas.microsoft.com/office/drawing/2014/main" id="{2A0BEF65-AD59-4955-9205-07D370E7F769}"/>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E7BF88DE-28F2-4B65-90D4-72CDA65224AA}"/>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02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61434eaa96b4eb8"/>
          <a:srcRect xmlns:a="http://schemas.openxmlformats.org/drawingml/2006/main" l="6446" t="0" r="6446" b="0"/>
          <a:stretch xmlns:a="http://schemas.openxmlformats.org/drawingml/2006/main">
            <a:fillRect l="0" t="0" r="0" b="0"/>
          </a:stretch>
        </p:blipFill>
        <p:spPr>
          <a:xfrm xmlns:a="http://schemas.openxmlformats.org/drawingml/2006/main">
            <a:off x="590550" y="1257300"/>
            <a:ext cx="4762500" cy="3905250"/>
          </a:xfrm>
          <a:prstGeom xmlns:a="http://schemas.openxmlformats.org/drawingml/2006/main" prst="roundRect">
            <a:avLst>
              <a:gd name="adj" fmla="val 4390"/>
            </a:avLst>
          </a:prstGeom>
        </p:spPr>
      </p:pic>
      <p:sp>
        <p:nvSpPr>
          <p:cNvPr id="5" name="">
            <a:extLst xmlns:a="http://schemas.openxmlformats.org/drawingml/2006/main">
              <a:ext uri="{FF2B5EF4-FFF2-40B4-BE49-F238E27FC236}">
                <a16:creationId xmlns:a16="http://schemas.microsoft.com/office/drawing/2014/main" id="{5F866F72-D1D4-405C-8991-3AEEC0A11EA9}"/>
              </a:ext>
            </a:extLst>
          </p:cNvPr>
          <p:cNvSpPr>
            <a:spLocks xmlns:a="http://schemas.openxmlformats.org/drawingml/2006/main" noGrp="1"/>
          </p:cNvSpPr>
          <p:nvPr/>
        </p:nvSpPr>
        <p:spPr>
          <a:xfrm xmlns:a="http://schemas.openxmlformats.org/drawingml/2006/main">
            <a:off x="5810250" y="1381125"/>
            <a:ext cx="571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1000"/>
              </a:spcAft>
              <a:buChar char="•"/>
              <a:defRPr sz="1950">
                <a:solidFill>
                  <a:srgbClr val="132B3F"/>
                </a:solidFill>
                <a:latin typeface="Arial"/>
                <a:ea typeface="Arial"/>
                <a:cs typeface="Arial"/>
              </a:defRPr>
            </a:pPr>
            <a:r>
              <a:t>Camera tạo ra lượng video lớn và hoạt động liên tục.</a:t>
            </a:r>
          </a:p>
          <a:p xmlns:a="http://schemas.openxmlformats.org/drawingml/2006/main">
            <a:pPr marL="228600" indent="-114300">
              <a:spcAft>
                <a:spcPts val="1000"/>
              </a:spcAft>
              <a:buChar char="•"/>
              <a:defRPr sz="1950">
                <a:solidFill>
                  <a:srgbClr val="132B3F"/>
                </a:solidFill>
                <a:latin typeface="Arial"/>
                <a:ea typeface="Arial"/>
                <a:cs typeface="Arial"/>
              </a:defRPr>
            </a:pPr>
            <a:r>
              <a:t>Người vận hành khó theo dõi đồng thời nhiều luồng hình ảnh.</a:t>
            </a:r>
          </a:p>
          <a:p xmlns:a="http://schemas.openxmlformats.org/drawingml/2006/main">
            <a:pPr marL="228600" indent="-114300">
              <a:spcAft>
                <a:spcPts val="1000"/>
              </a:spcAft>
              <a:buChar char="•"/>
              <a:defRPr sz="1950">
                <a:solidFill>
                  <a:srgbClr val="132B3F"/>
                </a:solidFill>
                <a:latin typeface="Arial"/>
                <a:ea typeface="Arial"/>
                <a:cs typeface="Arial"/>
              </a:defRPr>
            </a:pPr>
            <a:r>
              <a:t>Sự kiện bất thường xuất hiện ít nhưng thường cần phản ứng sớm.</a:t>
            </a:r>
          </a:p>
          <a:p xmlns:a="http://schemas.openxmlformats.org/drawingml/2006/main">
            <a:pPr marL="228600" indent="-114300">
              <a:spcAft>
                <a:spcPts val="1000"/>
              </a:spcAft>
              <a:buChar char="•"/>
              <a:defRPr sz="1950">
                <a:solidFill>
                  <a:srgbClr val="132B3F"/>
                </a:solidFill>
                <a:latin typeface="Arial"/>
                <a:ea typeface="Arial"/>
                <a:cs typeface="Arial"/>
              </a:defRPr>
            </a:pPr>
            <a:r>
              <a:t>Hệ thống AI có thể sàng lọc video và đề xuất thời điểm cần kiểm tra.</a:t>
            </a:r>
          </a:p>
        </p:txBody>
      </p:sp>
      <p:sp>
        <p:nvSpPr>
          <p:cNvPr id="6" name="">
            <a:extLst xmlns:a="http://schemas.openxmlformats.org/drawingml/2006/main">
              <a:ext uri="{FF2B5EF4-FFF2-40B4-BE49-F238E27FC236}">
                <a16:creationId xmlns:a16="http://schemas.microsoft.com/office/drawing/2014/main" id="{1A2F3DA2-426C-4123-B61D-33265AA93F03}"/>
              </a:ext>
            </a:extLst>
          </p:cNvPr>
          <p:cNvSpPr>
            <a:spLocks xmlns:a="http://schemas.openxmlformats.org/drawingml/2006/main" noGrp="1"/>
          </p:cNvSpPr>
          <p:nvPr/>
        </p:nvSpPr>
        <p:spPr>
          <a:xfrm xmlns:a="http://schemas.openxmlformats.org/drawingml/2006/main">
            <a:off x="5810250" y="47053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VAI TRÒ DỰ KIẾN</a:t>
            </a:r>
          </a:p>
        </p:txBody>
      </p:sp>
      <p:sp>
        <p:nvSpPr>
          <p:cNvPr id="7" name="">
            <a:extLst xmlns:a="http://schemas.openxmlformats.org/drawingml/2006/main">
              <a:ext uri="{FF2B5EF4-FFF2-40B4-BE49-F238E27FC236}">
                <a16:creationId xmlns:a16="http://schemas.microsoft.com/office/drawing/2014/main" id="{2D765E1B-A7A5-4FCE-B2DB-04F44076AB30}"/>
              </a:ext>
            </a:extLst>
          </p:cNvPr>
          <p:cNvSpPr>
            <a:spLocks xmlns:a="http://schemas.openxmlformats.org/drawingml/2006/main" noGrp="1"/>
          </p:cNvSpPr>
          <p:nvPr/>
        </p:nvSpPr>
        <p:spPr>
          <a:xfrm xmlns:a="http://schemas.openxmlformats.org/drawingml/2006/main">
            <a:off x="5810250" y="5048250"/>
            <a:ext cx="5734050" cy="1066800"/>
          </a:xfrm>
          <a:prstGeom xmlns:a="http://schemas.openxmlformats.org/drawingml/2006/main" prst="roundRect">
            <a:avLst>
              <a:gd name="adj" fmla="val 10714"/>
            </a:avLst>
          </a:prstGeom>
          <a:solidFill xmlns:a="http://schemas.openxmlformats.org/drawingml/2006/main">
            <a:srgbClr val="DDF3F2"/>
          </a:solidFill>
          <a:ln xmlns:a="http://schemas.openxmlformats.org/drawingml/2006/main" w="14288">
            <a:solidFill>
              <a:srgbClr val="79C9C7"/>
            </a:solidFill>
            <a:prstDash val="solid"/>
          </a:ln>
        </p:spPr>
      </p:sp>
      <p:sp>
        <p:nvSpPr>
          <p:cNvPr id="8" name="">
            <a:extLst xmlns:a="http://schemas.openxmlformats.org/drawingml/2006/main">
              <a:ext uri="{FF2B5EF4-FFF2-40B4-BE49-F238E27FC236}">
                <a16:creationId xmlns:a16="http://schemas.microsoft.com/office/drawing/2014/main" id="{37F8EE6B-CE9C-428A-917A-A30704BF8F3D}"/>
              </a:ext>
            </a:extLst>
          </p:cNvPr>
          <p:cNvSpPr>
            <a:spLocks xmlns:a="http://schemas.openxmlformats.org/drawingml/2006/main" noGrp="1"/>
          </p:cNvSpPr>
          <p:nvPr/>
        </p:nvSpPr>
        <p:spPr>
          <a:xfrm xmlns:a="http://schemas.openxmlformats.org/drawingml/2006/main">
            <a:off x="6019800" y="5219700"/>
            <a:ext cx="5334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8344"/>
          </a:bodyPr>
          <a:lstStyle xmlns:a="http://schemas.openxmlformats.org/drawingml/2006/main"/>
          <a:p xmlns:a="http://schemas.openxmlformats.org/drawingml/2006/main">
            <a:pPr algn="l">
              <a:defRPr sz="1800" b="1">
                <a:solidFill>
                  <a:srgbClr val="0B1F33"/>
                </a:solidFill>
                <a:latin typeface="Arial"/>
                <a:ea typeface="Arial"/>
                <a:cs typeface="Arial"/>
              </a:defRPr>
            </a:pPr>
            <a:r>
              <a:rPr sz="1800" b="1">
                <a:solidFill>
                  <a:srgbClr val="0B1F33"/>
                </a:solidFill>
                <a:latin typeface="Arial"/>
                <a:ea typeface="Arial"/>
                <a:cs typeface="Arial"/>
              </a:rPr>
              <a:t>Hỗ trợ cảnh báo cho người vận hành. Con người vẫn xác minh sự kiện và đưa ra quyết định.</a:t>
            </a:r>
          </a:p>
        </p:txBody>
      </p:sp>
    </p:spTree>
    <p:extLst>
      <p:ext uri="{BB962C8B-B14F-4D97-AF65-F5344CB8AC3E}">
        <p14:creationId xmlns:p14="http://schemas.microsoft.com/office/powerpoint/2010/main" val="449629534"/>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B7B4049-FAE3-4895-B5F0-269E4DB5EDDF}"/>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Phát biểu bài toán và phạm vi</a:t>
            </a:r>
          </a:p>
        </p:txBody>
      </p:sp>
      <p:sp>
        <p:nvSpPr>
          <p:cNvPr id="2" name="">
            <a:extLst xmlns:a="http://schemas.openxmlformats.org/drawingml/2006/main">
              <a:ext uri="{FF2B5EF4-FFF2-40B4-BE49-F238E27FC236}">
                <a16:creationId xmlns:a16="http://schemas.microsoft.com/office/drawing/2014/main" id="{8CC5F2BD-CB23-43BF-8595-91136EB80649}"/>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1A07551E-4CC8-4911-A3CE-D163CBAF3A7C}"/>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24E9425-C5F5-4812-89BA-F78F14265B56}"/>
              </a:ext>
            </a:extLst>
          </p:cNvPr>
          <p:cNvSpPr>
            <a:spLocks xmlns:a="http://schemas.openxmlformats.org/drawingml/2006/main" noGrp="1"/>
          </p:cNvSpPr>
          <p:nvPr/>
        </p:nvSpPr>
        <p:spPr>
          <a:xfrm xmlns:a="http://schemas.openxmlformats.org/drawingml/2006/main">
            <a:off x="714375" y="115252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defRPr sz="1875" b="1">
                <a:solidFill>
                  <a:srgbClr val="0B1F33"/>
                </a:solidFill>
                <a:latin typeface="Arial"/>
                <a:ea typeface="Arial"/>
                <a:cs typeface="Arial"/>
              </a:defRPr>
            </a:pPr>
            <a:r>
              <a:rPr sz="1875" b="1">
                <a:solidFill>
                  <a:srgbClr val="0B1F33"/>
                </a:solidFill>
                <a:latin typeface="Arial"/>
                <a:ea typeface="Arial"/>
                <a:cs typeface="Arial"/>
              </a:rPr>
              <a:t>Học quy luật hoạt động bình thường từ video camera cố định, sau đó phát hiện frame hoặc đoạn thời gian có đối tượng và chuyển động khác với quy luật đã học.</a:t>
            </a:r>
          </a:p>
        </p:txBody>
      </p:sp>
      <p:sp>
        <p:nvSpPr>
          <p:cNvPr id="5" name="">
            <a:extLst xmlns:a="http://schemas.openxmlformats.org/drawingml/2006/main">
              <a:ext uri="{FF2B5EF4-FFF2-40B4-BE49-F238E27FC236}">
                <a16:creationId xmlns:a16="http://schemas.microsoft.com/office/drawing/2014/main" id="{CA0EBDF3-3C42-4C61-86B3-F5B3A0213015}"/>
              </a:ext>
            </a:extLst>
          </p:cNvPr>
          <p:cNvSpPr>
            <a:spLocks xmlns:a="http://schemas.openxmlformats.org/drawingml/2006/main" noGrp="1"/>
          </p:cNvSpPr>
          <p:nvPr/>
        </p:nvSpPr>
        <p:spPr>
          <a:xfrm xmlns:a="http://schemas.openxmlformats.org/drawingml/2006/main">
            <a:off x="857250" y="2238375"/>
            <a:ext cx="3143250" cy="2476500"/>
          </a:xfrm>
          <a:prstGeom xmlns:a="http://schemas.openxmlformats.org/drawingml/2006/main" prst="roundRect">
            <a:avLst>
              <a:gd name="adj" fmla="val 6923"/>
            </a:avLst>
          </a:prstGeom>
          <a:solidFill xmlns:a="http://schemas.openxmlformats.org/drawingml/2006/main">
            <a:srgbClr val="FFFFFF"/>
          </a:solidFill>
          <a:ln xmlns:a="http://schemas.openxmlformats.org/drawingml/2006/main" w="14288">
            <a:solidFill>
              <a:srgbClr val="CBD6DE"/>
            </a:solidFill>
            <a:prstDash val="solid"/>
          </a:ln>
        </p:spPr>
      </p:sp>
      <p:sp>
        <p:nvSpPr>
          <p:cNvPr id="6" name="">
            <a:extLst xmlns:a="http://schemas.openxmlformats.org/drawingml/2006/main">
              <a:ext uri="{FF2B5EF4-FFF2-40B4-BE49-F238E27FC236}">
                <a16:creationId xmlns:a16="http://schemas.microsoft.com/office/drawing/2014/main" id="{6342307B-37BE-49DA-BCE5-3C1B9A79754A}"/>
              </a:ext>
            </a:extLst>
          </p:cNvPr>
          <p:cNvSpPr>
            <a:spLocks xmlns:a="http://schemas.openxmlformats.org/drawingml/2006/main" noGrp="1"/>
          </p:cNvSpPr>
          <p:nvPr/>
        </p:nvSpPr>
        <p:spPr>
          <a:xfrm xmlns:a="http://schemas.openxmlformats.org/drawingml/2006/main">
            <a:off x="2066925" y="2419350"/>
            <a:ext cx="723900" cy="723900"/>
          </a:xfrm>
          <a:prstGeom xmlns:a="http://schemas.openxmlformats.org/drawingml/2006/main" prst="ellipse">
            <a:avLst/>
          </a:prstGeom>
          <a:solidFill xmlns:a="http://schemas.openxmlformats.org/drawingml/2006/main">
            <a:srgbClr val="DDF3F2"/>
          </a:solidFill>
          <a:ln xmlns:a="http://schemas.openxmlformats.org/drawingml/2006/main" w="19050">
            <a:solidFill>
              <a:srgbClr val="159E9C"/>
            </a:solidFill>
            <a:prstDash val="solid"/>
          </a:ln>
        </p:spPr>
      </p:sp>
      <p:sp>
        <p:nvSpPr>
          <p:cNvPr id="7" name="">
            <a:extLst xmlns:a="http://schemas.openxmlformats.org/drawingml/2006/main">
              <a:ext uri="{FF2B5EF4-FFF2-40B4-BE49-F238E27FC236}">
                <a16:creationId xmlns:a16="http://schemas.microsoft.com/office/drawing/2014/main" id="{9648E0BC-3AE6-4DC5-8BED-A4D3073EDE83}"/>
              </a:ext>
            </a:extLst>
          </p:cNvPr>
          <p:cNvSpPr>
            <a:spLocks xmlns:a="http://schemas.openxmlformats.org/drawingml/2006/main" noGrp="1"/>
          </p:cNvSpPr>
          <p:nvPr/>
        </p:nvSpPr>
        <p:spPr>
          <a:xfrm xmlns:a="http://schemas.openxmlformats.org/drawingml/2006/main">
            <a:off x="2114550" y="257175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2250" b="1">
                <a:solidFill>
                  <a:srgbClr val="159E9C"/>
                </a:solidFill>
                <a:latin typeface="Arial"/>
                <a:ea typeface="Arial"/>
                <a:cs typeface="Arial"/>
              </a:defRPr>
            </a:pPr>
            <a:r>
              <a:rPr sz="2250" b="1">
                <a:solidFill>
                  <a:srgbClr val="159E9C"/>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B5BA00BD-D050-43C9-A83E-117C376A4723}"/>
              </a:ext>
            </a:extLst>
          </p:cNvPr>
          <p:cNvSpPr>
            <a:spLocks xmlns:a="http://schemas.openxmlformats.org/drawingml/2006/main" noGrp="1"/>
          </p:cNvSpPr>
          <p:nvPr/>
        </p:nvSpPr>
        <p:spPr>
          <a:xfrm xmlns:a="http://schemas.openxmlformats.org/drawingml/2006/main">
            <a:off x="1085850" y="3276600"/>
            <a:ext cx="2686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1575" b="1">
                <a:solidFill>
                  <a:srgbClr val="0B1F33"/>
                </a:solidFill>
                <a:latin typeface="Arial"/>
                <a:ea typeface="Arial"/>
                <a:cs typeface="Arial"/>
              </a:defRPr>
            </a:pPr>
            <a:r>
              <a:rPr sz="1575" b="1">
                <a:solidFill>
                  <a:srgbClr val="0B1F33"/>
                </a:solidFill>
                <a:latin typeface="Arial"/>
                <a:ea typeface="Arial"/>
                <a:cs typeface="Arial"/>
              </a:rPr>
              <a:t>ĐẦU VÀO</a:t>
            </a:r>
          </a:p>
        </p:txBody>
      </p:sp>
      <p:sp>
        <p:nvSpPr>
          <p:cNvPr id="9" name="">
            <a:extLst xmlns:a="http://schemas.openxmlformats.org/drawingml/2006/main">
              <a:ext uri="{FF2B5EF4-FFF2-40B4-BE49-F238E27FC236}">
                <a16:creationId xmlns:a16="http://schemas.microsoft.com/office/drawing/2014/main" id="{1164EE61-7861-4559-B2B8-3AC689104838}"/>
              </a:ext>
            </a:extLst>
          </p:cNvPr>
          <p:cNvSpPr>
            <a:spLocks xmlns:a="http://schemas.openxmlformats.org/drawingml/2006/main" noGrp="1"/>
          </p:cNvSpPr>
          <p:nvPr/>
        </p:nvSpPr>
        <p:spPr>
          <a:xfrm xmlns:a="http://schemas.openxmlformats.org/drawingml/2006/main">
            <a:off x="1095375" y="36861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91992"/>
          </a:bodyPr>
          <a:lstStyle xmlns:a="http://schemas.openxmlformats.org/drawingml/2006/main"/>
          <a:p xmlns:a="http://schemas.openxmlformats.org/drawingml/2006/main">
            <a:pPr marL="228600" indent="-114300">
              <a:spcAft>
                <a:spcPts val="400"/>
              </a:spcAft>
              <a:buChar char="•"/>
              <a:defRPr sz="1500">
                <a:solidFill>
                  <a:srgbClr val="132B3F"/>
                </a:solidFill>
                <a:latin typeface="Arial"/>
                <a:ea typeface="Arial"/>
                <a:cs typeface="Arial"/>
              </a:defRPr>
            </a:pPr>
            <a:r>
              <a:t>Video có sẵn, webcam hoặc luồng RTSP.</a:t>
            </a:r>
          </a:p>
          <a:p xmlns:a="http://schemas.openxmlformats.org/drawingml/2006/main">
            <a:pPr marL="228600" indent="-114300">
              <a:spcAft>
                <a:spcPts val="400"/>
              </a:spcAft>
              <a:buChar char="•"/>
              <a:defRPr sz="1500">
                <a:solidFill>
                  <a:srgbClr val="132B3F"/>
                </a:solidFill>
                <a:latin typeface="Arial"/>
                <a:ea typeface="Arial"/>
                <a:cs typeface="Arial"/>
              </a:defRPr>
            </a:pPr>
            <a:r>
              <a:t>Chuỗi 8 đến 16 frame liên tiếp.</a:t>
            </a:r>
          </a:p>
        </p:txBody>
      </p:sp>
      <p:sp>
        <p:nvSpPr>
          <p:cNvPr id="10" name="">
            <a:extLst xmlns:a="http://schemas.openxmlformats.org/drawingml/2006/main">
              <a:ext uri="{FF2B5EF4-FFF2-40B4-BE49-F238E27FC236}">
                <a16:creationId xmlns:a16="http://schemas.microsoft.com/office/drawing/2014/main" id="{72AEEF74-8CC9-41FD-91C3-565650AE6984}"/>
              </a:ext>
            </a:extLst>
          </p:cNvPr>
          <p:cNvSpPr>
            <a:spLocks xmlns:a="http://schemas.openxmlformats.org/drawingml/2006/main" noGrp="1"/>
          </p:cNvSpPr>
          <p:nvPr/>
        </p:nvSpPr>
        <p:spPr>
          <a:xfrm xmlns:a="http://schemas.openxmlformats.org/drawingml/2006/main">
            <a:off x="4476750" y="2238375"/>
            <a:ext cx="3143250" cy="2476500"/>
          </a:xfrm>
          <a:prstGeom xmlns:a="http://schemas.openxmlformats.org/drawingml/2006/main" prst="roundRect">
            <a:avLst>
              <a:gd name="adj" fmla="val 6923"/>
            </a:avLst>
          </a:prstGeom>
          <a:solidFill xmlns:a="http://schemas.openxmlformats.org/drawingml/2006/main">
            <a:srgbClr val="FFFFFF"/>
          </a:solidFill>
          <a:ln xmlns:a="http://schemas.openxmlformats.org/drawingml/2006/main" w="23813">
            <a:solidFill>
              <a:srgbClr val="159E9C"/>
            </a:solidFill>
            <a:prstDash val="solid"/>
          </a:ln>
        </p:spPr>
      </p:sp>
      <p:sp>
        <p:nvSpPr>
          <p:cNvPr id="11" name="">
            <a:extLst xmlns:a="http://schemas.openxmlformats.org/drawingml/2006/main">
              <a:ext uri="{FF2B5EF4-FFF2-40B4-BE49-F238E27FC236}">
                <a16:creationId xmlns:a16="http://schemas.microsoft.com/office/drawing/2014/main" id="{DFB1F3C2-6ED0-4C27-8A88-B3DE2EB0159A}"/>
              </a:ext>
            </a:extLst>
          </p:cNvPr>
          <p:cNvSpPr>
            <a:spLocks xmlns:a="http://schemas.openxmlformats.org/drawingml/2006/main" noGrp="1"/>
          </p:cNvSpPr>
          <p:nvPr/>
        </p:nvSpPr>
        <p:spPr>
          <a:xfrm xmlns:a="http://schemas.openxmlformats.org/drawingml/2006/main">
            <a:off x="5686425" y="2419350"/>
            <a:ext cx="723900" cy="723900"/>
          </a:xfrm>
          <a:prstGeom xmlns:a="http://schemas.openxmlformats.org/drawingml/2006/main" prst="hexagon">
            <a:avLst/>
          </a:prstGeom>
          <a:solidFill xmlns:a="http://schemas.openxmlformats.org/drawingml/2006/main">
            <a:srgbClr val="DDF3F2"/>
          </a:solidFill>
          <a:ln xmlns:a="http://schemas.openxmlformats.org/drawingml/2006/main" w="19050">
            <a:solidFill>
              <a:srgbClr val="159E9C"/>
            </a:solidFill>
            <a:prstDash val="solid"/>
          </a:ln>
        </p:spPr>
      </p:sp>
      <p:sp>
        <p:nvSpPr>
          <p:cNvPr id="12" name="">
            <a:extLst xmlns:a="http://schemas.openxmlformats.org/drawingml/2006/main">
              <a:ext uri="{FF2B5EF4-FFF2-40B4-BE49-F238E27FC236}">
                <a16:creationId xmlns:a16="http://schemas.microsoft.com/office/drawing/2014/main" id="{34FED296-0E22-476C-BABE-034488610846}"/>
              </a:ext>
            </a:extLst>
          </p:cNvPr>
          <p:cNvSpPr>
            <a:spLocks xmlns:a="http://schemas.openxmlformats.org/drawingml/2006/main" noGrp="1"/>
          </p:cNvSpPr>
          <p:nvPr/>
        </p:nvSpPr>
        <p:spPr>
          <a:xfrm xmlns:a="http://schemas.openxmlformats.org/drawingml/2006/main">
            <a:off x="5734050" y="257175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800" b="1">
                <a:solidFill>
                  <a:srgbClr val="159E9C"/>
                </a:solidFill>
                <a:latin typeface="Arial"/>
                <a:ea typeface="Arial"/>
                <a:cs typeface="Arial"/>
              </a:defRPr>
            </a:pPr>
            <a:r>
              <a:rPr sz="1800" b="1">
                <a:solidFill>
                  <a:srgbClr val="159E9C"/>
                </a:solidFill>
                <a:latin typeface="Arial"/>
                <a:ea typeface="Arial"/>
                <a:cs typeface="Arial"/>
              </a:rPr>
              <a:t>AI</a:t>
            </a:r>
          </a:p>
        </p:txBody>
      </p:sp>
      <p:sp>
        <p:nvSpPr>
          <p:cNvPr id="13" name="">
            <a:extLst xmlns:a="http://schemas.openxmlformats.org/drawingml/2006/main">
              <a:ext uri="{FF2B5EF4-FFF2-40B4-BE49-F238E27FC236}">
                <a16:creationId xmlns:a16="http://schemas.microsoft.com/office/drawing/2014/main" id="{B224371B-0C43-41D0-B3C0-9FA39262C3EF}"/>
              </a:ext>
            </a:extLst>
          </p:cNvPr>
          <p:cNvSpPr>
            <a:spLocks xmlns:a="http://schemas.openxmlformats.org/drawingml/2006/main" noGrp="1"/>
          </p:cNvSpPr>
          <p:nvPr/>
        </p:nvSpPr>
        <p:spPr>
          <a:xfrm xmlns:a="http://schemas.openxmlformats.org/drawingml/2006/main">
            <a:off x="4705350" y="3276600"/>
            <a:ext cx="2686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1575" b="1">
                <a:solidFill>
                  <a:srgbClr val="0B1F33"/>
                </a:solidFill>
                <a:latin typeface="Arial"/>
                <a:ea typeface="Arial"/>
                <a:cs typeface="Arial"/>
              </a:defRPr>
            </a:pPr>
            <a:r>
              <a:rPr sz="1575" b="1">
                <a:solidFill>
                  <a:srgbClr val="0B1F33"/>
                </a:solidFill>
                <a:latin typeface="Arial"/>
                <a:ea typeface="Arial"/>
                <a:cs typeface="Arial"/>
              </a:rPr>
              <a:t>XỬ LÝ</a:t>
            </a:r>
          </a:p>
        </p:txBody>
      </p:sp>
      <p:sp>
        <p:nvSpPr>
          <p:cNvPr id="14" name="">
            <a:extLst xmlns:a="http://schemas.openxmlformats.org/drawingml/2006/main">
              <a:ext uri="{FF2B5EF4-FFF2-40B4-BE49-F238E27FC236}">
                <a16:creationId xmlns:a16="http://schemas.microsoft.com/office/drawing/2014/main" id="{FF72EFE2-CE83-4485-9DAD-C600BBF7D684}"/>
              </a:ext>
            </a:extLst>
          </p:cNvPr>
          <p:cNvSpPr>
            <a:spLocks xmlns:a="http://schemas.openxmlformats.org/drawingml/2006/main" noGrp="1"/>
          </p:cNvSpPr>
          <p:nvPr/>
        </p:nvSpPr>
        <p:spPr>
          <a:xfrm xmlns:a="http://schemas.openxmlformats.org/drawingml/2006/main">
            <a:off x="4714875" y="36861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400"/>
              </a:spcAft>
              <a:buChar char="•"/>
              <a:defRPr sz="1500">
                <a:solidFill>
                  <a:srgbClr val="132B3F"/>
                </a:solidFill>
                <a:latin typeface="Arial"/>
                <a:ea typeface="Arial"/>
                <a:cs typeface="Arial"/>
              </a:defRPr>
            </a:pPr>
            <a:r>
              <a:t>Học quy luật bình thường.</a:t>
            </a:r>
          </a:p>
          <a:p xmlns:a="http://schemas.openxmlformats.org/drawingml/2006/main">
            <a:pPr marL="228600" indent="-114300">
              <a:spcAft>
                <a:spcPts val="400"/>
              </a:spcAft>
              <a:buChar char="•"/>
              <a:defRPr sz="1500">
                <a:solidFill>
                  <a:srgbClr val="132B3F"/>
                </a:solidFill>
                <a:latin typeface="Arial"/>
                <a:ea typeface="Arial"/>
                <a:cs typeface="Arial"/>
              </a:defRPr>
            </a:pPr>
            <a:r>
              <a:t>Tính mức độ sai khác theo frame.</a:t>
            </a:r>
          </a:p>
        </p:txBody>
      </p:sp>
      <p:sp>
        <p:nvSpPr>
          <p:cNvPr id="15" name="">
            <a:extLst xmlns:a="http://schemas.openxmlformats.org/drawingml/2006/main">
              <a:ext uri="{FF2B5EF4-FFF2-40B4-BE49-F238E27FC236}">
                <a16:creationId xmlns:a16="http://schemas.microsoft.com/office/drawing/2014/main" id="{DF5B2DC7-D3E1-420C-8ACA-DBDA1D011A58}"/>
              </a:ext>
            </a:extLst>
          </p:cNvPr>
          <p:cNvSpPr>
            <a:spLocks xmlns:a="http://schemas.openxmlformats.org/drawingml/2006/main" noGrp="1"/>
          </p:cNvSpPr>
          <p:nvPr/>
        </p:nvSpPr>
        <p:spPr>
          <a:xfrm xmlns:a="http://schemas.openxmlformats.org/drawingml/2006/main">
            <a:off x="8096250" y="2238375"/>
            <a:ext cx="3143250" cy="2476500"/>
          </a:xfrm>
          <a:prstGeom xmlns:a="http://schemas.openxmlformats.org/drawingml/2006/main" prst="roundRect">
            <a:avLst>
              <a:gd name="adj" fmla="val 6923"/>
            </a:avLst>
          </a:prstGeom>
          <a:solidFill xmlns:a="http://schemas.openxmlformats.org/drawingml/2006/main">
            <a:srgbClr val="FFFFFF"/>
          </a:solidFill>
          <a:ln xmlns:a="http://schemas.openxmlformats.org/drawingml/2006/main" w="14288">
            <a:solidFill>
              <a:srgbClr val="CBD6DE"/>
            </a:solidFill>
            <a:prstDash val="solid"/>
          </a:ln>
        </p:spPr>
      </p:sp>
      <p:sp>
        <p:nvSpPr>
          <p:cNvPr id="16" name="">
            <a:extLst xmlns:a="http://schemas.openxmlformats.org/drawingml/2006/main">
              <a:ext uri="{FF2B5EF4-FFF2-40B4-BE49-F238E27FC236}">
                <a16:creationId xmlns:a16="http://schemas.microsoft.com/office/drawing/2014/main" id="{F5F463F1-0356-43A3-A781-705807F0B3CB}"/>
              </a:ext>
            </a:extLst>
          </p:cNvPr>
          <p:cNvSpPr>
            <a:spLocks xmlns:a="http://schemas.openxmlformats.org/drawingml/2006/main" noGrp="1"/>
          </p:cNvSpPr>
          <p:nvPr/>
        </p:nvSpPr>
        <p:spPr>
          <a:xfrm xmlns:a="http://schemas.openxmlformats.org/drawingml/2006/main">
            <a:off x="9305925" y="2419350"/>
            <a:ext cx="723900" cy="723900"/>
          </a:xfrm>
          <a:prstGeom xmlns:a="http://schemas.openxmlformats.org/drawingml/2006/main" prst="ellipse">
            <a:avLst/>
          </a:prstGeom>
          <a:solidFill xmlns:a="http://schemas.openxmlformats.org/drawingml/2006/main">
            <a:srgbClr val="FFF1D4"/>
          </a:solidFill>
          <a:ln xmlns:a="http://schemas.openxmlformats.org/drawingml/2006/main" w="19050">
            <a:solidFill>
              <a:srgbClr val="F59E0B"/>
            </a:solidFill>
            <a:prstDash val="solid"/>
          </a:ln>
        </p:spPr>
      </p:sp>
      <p:sp>
        <p:nvSpPr>
          <p:cNvPr id="17" name="">
            <a:extLst xmlns:a="http://schemas.openxmlformats.org/drawingml/2006/main">
              <a:ext uri="{FF2B5EF4-FFF2-40B4-BE49-F238E27FC236}">
                <a16:creationId xmlns:a16="http://schemas.microsoft.com/office/drawing/2014/main" id="{D30F0C59-3F78-4144-9E46-156F30BF5C89}"/>
              </a:ext>
            </a:extLst>
          </p:cNvPr>
          <p:cNvSpPr>
            <a:spLocks xmlns:a="http://schemas.openxmlformats.org/drawingml/2006/main" noGrp="1"/>
          </p:cNvSpPr>
          <p:nvPr/>
        </p:nvSpPr>
        <p:spPr>
          <a:xfrm xmlns:a="http://schemas.openxmlformats.org/drawingml/2006/main">
            <a:off x="9353550" y="257175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2250" b="1">
                <a:solidFill>
                  <a:srgbClr val="F59E0B"/>
                </a:solidFill>
                <a:latin typeface="Arial"/>
                <a:ea typeface="Arial"/>
                <a:cs typeface="Arial"/>
              </a:defRPr>
            </a:pPr>
            <a:r>
              <a:rPr sz="2250" b="1">
                <a:solidFill>
                  <a:srgbClr val="F59E0B"/>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267D5993-0245-41E4-BA04-8E9F5DB12960}"/>
              </a:ext>
            </a:extLst>
          </p:cNvPr>
          <p:cNvSpPr>
            <a:spLocks xmlns:a="http://schemas.openxmlformats.org/drawingml/2006/main" noGrp="1"/>
          </p:cNvSpPr>
          <p:nvPr/>
        </p:nvSpPr>
        <p:spPr>
          <a:xfrm xmlns:a="http://schemas.openxmlformats.org/drawingml/2006/main">
            <a:off x="8324850" y="3276600"/>
            <a:ext cx="2686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1575" b="1">
                <a:solidFill>
                  <a:srgbClr val="0B1F33"/>
                </a:solidFill>
                <a:latin typeface="Arial"/>
                <a:ea typeface="Arial"/>
                <a:cs typeface="Arial"/>
              </a:defRPr>
            </a:pPr>
            <a:r>
              <a:rPr sz="1575" b="1">
                <a:solidFill>
                  <a:srgbClr val="0B1F33"/>
                </a:solidFill>
                <a:latin typeface="Arial"/>
                <a:ea typeface="Arial"/>
                <a:cs typeface="Arial"/>
              </a:rPr>
              <a:t>ĐẦU RA</a:t>
            </a:r>
          </a:p>
        </p:txBody>
      </p:sp>
      <p:sp>
        <p:nvSpPr>
          <p:cNvPr id="19" name="">
            <a:extLst xmlns:a="http://schemas.openxmlformats.org/drawingml/2006/main">
              <a:ext uri="{FF2B5EF4-FFF2-40B4-BE49-F238E27FC236}">
                <a16:creationId xmlns:a16="http://schemas.microsoft.com/office/drawing/2014/main" id="{6D9FFBC8-7A44-46C0-9D56-515F98601670}"/>
              </a:ext>
            </a:extLst>
          </p:cNvPr>
          <p:cNvSpPr>
            <a:spLocks xmlns:a="http://schemas.openxmlformats.org/drawingml/2006/main" noGrp="1"/>
          </p:cNvSpPr>
          <p:nvPr/>
        </p:nvSpPr>
        <p:spPr>
          <a:xfrm xmlns:a="http://schemas.openxmlformats.org/drawingml/2006/main">
            <a:off x="8334375" y="368617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72447"/>
          </a:bodyPr>
          <a:lstStyle xmlns:a="http://schemas.openxmlformats.org/drawingml/2006/main"/>
          <a:p xmlns:a="http://schemas.openxmlformats.org/drawingml/2006/main">
            <a:pPr marL="228600" indent="-114300">
              <a:spcAft>
                <a:spcPts val="400"/>
              </a:spcAft>
              <a:buChar char="•"/>
              <a:defRPr sz="1500">
                <a:solidFill>
                  <a:srgbClr val="132B3F"/>
                </a:solidFill>
                <a:latin typeface="Arial"/>
                <a:ea typeface="Arial"/>
                <a:cs typeface="Arial"/>
              </a:defRPr>
            </a:pPr>
            <a:r>
              <a:t>Anomaly score cho từng frame.</a:t>
            </a:r>
          </a:p>
          <a:p xmlns:a="http://schemas.openxmlformats.org/drawingml/2006/main">
            <a:pPr marL="228600" indent="-114300">
              <a:spcAft>
                <a:spcPts val="400"/>
              </a:spcAft>
              <a:buChar char="•"/>
              <a:defRPr sz="1500">
                <a:solidFill>
                  <a:srgbClr val="132B3F"/>
                </a:solidFill>
                <a:latin typeface="Arial"/>
                <a:ea typeface="Arial"/>
                <a:cs typeface="Arial"/>
              </a:defRPr>
            </a:pPr>
            <a:r>
              <a:t>Trạng thái bình thường hoặc cảnh báo.</a:t>
            </a:r>
          </a:p>
          <a:p xmlns:a="http://schemas.openxmlformats.org/drawingml/2006/main">
            <a:pPr marL="228600" indent="-114300">
              <a:spcAft>
                <a:spcPts val="400"/>
              </a:spcAft>
              <a:buChar char="•"/>
              <a:defRPr sz="1500">
                <a:solidFill>
                  <a:srgbClr val="132B3F"/>
                </a:solidFill>
                <a:latin typeface="Arial"/>
                <a:ea typeface="Arial"/>
                <a:cs typeface="Arial"/>
              </a:defRPr>
            </a:pPr>
            <a:r>
              <a:t>Thời gian và hình ảnh của sự kiện nghi ngờ.</a:t>
            </a:r>
          </a:p>
        </p:txBody>
      </p:sp>
      <p:cxnSp>
        <p:nvCxnSpPr>
          <p:cNvPr id="44" name=""/>
          <p:cNvCxnSpPr>
            <a:stCxn xmlns:a="http://schemas.openxmlformats.org/drawingml/2006/main" id="5" idx="3"/>
            <a:endCxn xmlns:a="http://schemas.openxmlformats.org/drawingml/2006/main" id="10" idx="1"/>
          </p:cNvCxnSpPr>
          <p:nvPr/>
        </p:nvCxnSpPr>
        <p:spPr>
          <a:xfrm xmlns:a="http://schemas.openxmlformats.org/drawingml/2006/main">
            <a:off x="4000500" y="3476625"/>
            <a:ext cx="476250"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45" name=""/>
          <p:cNvCxnSpPr>
            <a:stCxn xmlns:a="http://schemas.openxmlformats.org/drawingml/2006/main" id="10" idx="3"/>
            <a:endCxn xmlns:a="http://schemas.openxmlformats.org/drawingml/2006/main" id="15" idx="1"/>
          </p:cNvCxnSpPr>
          <p:nvPr/>
        </p:nvCxnSpPr>
        <p:spPr>
          <a:xfrm xmlns:a="http://schemas.openxmlformats.org/drawingml/2006/main">
            <a:off x="7620000" y="3476625"/>
            <a:ext cx="476250"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sp>
        <p:nvSpPr>
          <p:cNvPr id="22" name="">
            <a:extLst xmlns:a="http://schemas.openxmlformats.org/drawingml/2006/main">
              <a:ext uri="{FF2B5EF4-FFF2-40B4-BE49-F238E27FC236}">
                <a16:creationId xmlns:a16="http://schemas.microsoft.com/office/drawing/2014/main" id="{31F3E189-4026-4F3E-B2DF-1FD24B0B5232}"/>
              </a:ext>
            </a:extLst>
          </p:cNvPr>
          <p:cNvSpPr>
            <a:spLocks xmlns:a="http://schemas.openxmlformats.org/drawingml/2006/main" noGrp="1"/>
          </p:cNvSpPr>
          <p:nvPr/>
        </p:nvSpPr>
        <p:spPr>
          <a:xfrm xmlns:a="http://schemas.openxmlformats.org/drawingml/2006/main">
            <a:off x="857250" y="5191125"/>
            <a:ext cx="10382250" cy="876300"/>
          </a:xfrm>
          <a:prstGeom xmlns:a="http://schemas.openxmlformats.org/drawingml/2006/main" prst="roundRect">
            <a:avLst>
              <a:gd name="adj" fmla="val 15217"/>
            </a:avLst>
          </a:prstGeom>
          <a:solidFill xmlns:a="http://schemas.openxmlformats.org/drawingml/2006/main">
            <a:srgbClr val="0B1F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7C41536-65B4-48A9-A471-442ADE35570A}"/>
              </a:ext>
            </a:extLst>
          </p:cNvPr>
          <p:cNvSpPr>
            <a:spLocks xmlns:a="http://schemas.openxmlformats.org/drawingml/2006/main" noGrp="1"/>
          </p:cNvSpPr>
          <p:nvPr/>
        </p:nvSpPr>
        <p:spPr>
          <a:xfrm xmlns:a="http://schemas.openxmlformats.org/drawingml/2006/main">
            <a:off x="1104900" y="5334000"/>
            <a:ext cx="2809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425" b="1">
                <a:solidFill>
                  <a:srgbClr val="78D1CE"/>
                </a:solidFill>
                <a:latin typeface="Arial"/>
                <a:ea typeface="Arial"/>
                <a:cs typeface="Arial"/>
              </a:defRPr>
            </a:pPr>
            <a:r>
              <a:rPr sz="1425" b="1">
                <a:solidFill>
                  <a:srgbClr val="78D1CE"/>
                </a:solidFill>
                <a:latin typeface="Arial"/>
                <a:ea typeface="Arial"/>
                <a:cs typeface="Arial"/>
              </a:rPr>
              <a:t>PHẠM VI PHIÊN BẢN ĐẦU</a:t>
            </a:r>
          </a:p>
        </p:txBody>
      </p:sp>
      <p:sp>
        <p:nvSpPr>
          <p:cNvPr id="24" name="">
            <a:extLst xmlns:a="http://schemas.openxmlformats.org/drawingml/2006/main">
              <a:ext uri="{FF2B5EF4-FFF2-40B4-BE49-F238E27FC236}">
                <a16:creationId xmlns:a16="http://schemas.microsoft.com/office/drawing/2014/main" id="{4717E953-47D9-4938-AA5F-CD96C77AA5E3}"/>
              </a:ext>
            </a:extLst>
          </p:cNvPr>
          <p:cNvSpPr>
            <a:spLocks xmlns:a="http://schemas.openxmlformats.org/drawingml/2006/main" noGrp="1"/>
          </p:cNvSpPr>
          <p:nvPr/>
        </p:nvSpPr>
        <p:spPr>
          <a:xfrm xmlns:a="http://schemas.openxmlformats.org/drawingml/2006/main">
            <a:off x="1104900" y="5619750"/>
            <a:ext cx="976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rmAutofit fontScale="87839"/>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Camera cố định tại khu vực dành cho người đi bộ. Không nhận dạng khuôn mặt, danh tính hoặc ý định của con người.</a:t>
            </a:r>
          </a:p>
        </p:txBody>
      </p:sp>
    </p:spTree>
    <p:extLst>
      <p:ext uri="{BB962C8B-B14F-4D97-AF65-F5344CB8AC3E}">
        <p14:creationId xmlns:p14="http://schemas.microsoft.com/office/powerpoint/2010/main" val="1046202106"/>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05C4FB0-E025-42CF-AC6A-D4EC214107F4}"/>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Cách học từ dữ liệu bình thường</a:t>
            </a:r>
          </a:p>
        </p:txBody>
      </p:sp>
      <p:sp>
        <p:nvSpPr>
          <p:cNvPr id="2" name="">
            <a:extLst xmlns:a="http://schemas.openxmlformats.org/drawingml/2006/main">
              <a:ext uri="{FF2B5EF4-FFF2-40B4-BE49-F238E27FC236}">
                <a16:creationId xmlns:a16="http://schemas.microsoft.com/office/drawing/2014/main" id="{D1B60E60-439B-4D12-A73A-3AD096FC368E}"/>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A017A9FB-A86F-4F86-8602-2CD29A3DC23B}"/>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CD1E6F2-074F-4BDA-8177-C0312938C5B7}"/>
              </a:ext>
            </a:extLst>
          </p:cNvPr>
          <p:cNvSpPr>
            <a:spLocks xmlns:a="http://schemas.openxmlformats.org/drawingml/2006/main" noGrp="1"/>
          </p:cNvSpPr>
          <p:nvPr/>
        </p:nvSpPr>
        <p:spPr>
          <a:xfrm xmlns:a="http://schemas.openxmlformats.org/drawingml/2006/main">
            <a:off x="590550" y="1200150"/>
            <a:ext cx="5286375" cy="409575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19050">
            <a:solidFill>
              <a:srgbClr val="159E9C"/>
            </a:solidFill>
            <a:prstDash val="solid"/>
          </a:ln>
        </p:spPr>
      </p:sp>
      <p:sp>
        <p:nvSpPr>
          <p:cNvPr id="5" name="">
            <a:extLst xmlns:a="http://schemas.openxmlformats.org/drawingml/2006/main">
              <a:ext uri="{FF2B5EF4-FFF2-40B4-BE49-F238E27FC236}">
                <a16:creationId xmlns:a16="http://schemas.microsoft.com/office/drawing/2014/main" id="{AE5B9A54-7D1E-475B-8165-125CC1B60B08}"/>
              </a:ext>
            </a:extLst>
          </p:cNvPr>
          <p:cNvSpPr>
            <a:spLocks xmlns:a="http://schemas.openxmlformats.org/drawingml/2006/main" noGrp="1"/>
          </p:cNvSpPr>
          <p:nvPr/>
        </p:nvSpPr>
        <p:spPr>
          <a:xfrm xmlns:a="http://schemas.openxmlformats.org/drawingml/2006/main">
            <a:off x="6315075" y="1200150"/>
            <a:ext cx="5286375" cy="4095750"/>
          </a:xfrm>
          <a:prstGeom xmlns:a="http://schemas.openxmlformats.org/drawingml/2006/main" prst="roundRect">
            <a:avLst>
              <a:gd name="adj" fmla="val 4186"/>
            </a:avLst>
          </a:prstGeom>
          <a:solidFill xmlns:a="http://schemas.openxmlformats.org/drawingml/2006/main">
            <a:srgbClr val="FFFFFF"/>
          </a:solidFill>
          <a:ln xmlns:a="http://schemas.openxmlformats.org/drawingml/2006/main" w="19050">
            <a:solidFill>
              <a:srgbClr val="F59E0B"/>
            </a:solidFill>
            <a:prstDash val="solid"/>
          </a:ln>
        </p:spPr>
      </p:sp>
      <p:sp>
        <p:nvSpPr>
          <p:cNvPr id="6" name="">
            <a:extLst xmlns:a="http://schemas.openxmlformats.org/drawingml/2006/main">
              <a:ext uri="{FF2B5EF4-FFF2-40B4-BE49-F238E27FC236}">
                <a16:creationId xmlns:a16="http://schemas.microsoft.com/office/drawing/2014/main" id="{47617790-8FD9-4A6B-8D66-6B713EDA8240}"/>
              </a:ext>
            </a:extLst>
          </p:cNvPr>
          <p:cNvSpPr>
            <a:spLocks xmlns:a="http://schemas.openxmlformats.org/drawingml/2006/main" noGrp="1"/>
          </p:cNvSpPr>
          <p:nvPr/>
        </p:nvSpPr>
        <p:spPr>
          <a:xfrm xmlns:a="http://schemas.openxmlformats.org/drawingml/2006/main">
            <a:off x="876300" y="1428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59E9C"/>
                </a:solidFill>
                <a:latin typeface="Arial"/>
                <a:ea typeface="Arial"/>
                <a:cs typeface="Arial"/>
              </a:defRPr>
            </a:pPr>
            <a:r>
              <a:rPr sz="1500" b="1">
                <a:solidFill>
                  <a:srgbClr val="159E9C"/>
                </a:solidFill>
                <a:latin typeface="Arial"/>
                <a:ea typeface="Arial"/>
                <a:cs typeface="Arial"/>
              </a:rPr>
              <a:t>GIAI ĐOẠN HUẤN LUYỆN</a:t>
            </a:r>
          </a:p>
        </p:txBody>
      </p:sp>
      <p:sp>
        <p:nvSpPr>
          <p:cNvPr id="7" name="">
            <a:extLst xmlns:a="http://schemas.openxmlformats.org/drawingml/2006/main">
              <a:ext uri="{FF2B5EF4-FFF2-40B4-BE49-F238E27FC236}">
                <a16:creationId xmlns:a16="http://schemas.microsoft.com/office/drawing/2014/main" id="{0B733597-A3D9-456D-ACCC-89B7B33C8D78}"/>
              </a:ext>
            </a:extLst>
          </p:cNvPr>
          <p:cNvSpPr>
            <a:spLocks xmlns:a="http://schemas.openxmlformats.org/drawingml/2006/main" noGrp="1"/>
          </p:cNvSpPr>
          <p:nvPr/>
        </p:nvSpPr>
        <p:spPr>
          <a:xfrm xmlns:a="http://schemas.openxmlformats.org/drawingml/2006/main">
            <a:off x="876300" y="18097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rmAutofit fontScale="100000"/>
          </a:bodyPr>
          <a:lstStyle xmlns:a="http://schemas.openxmlformats.org/drawingml/2006/main"/>
          <a:p xmlns:a="http://schemas.openxmlformats.org/drawingml/2006/main">
            <a:pPr algn="l">
              <a:defRPr sz="1725" b="0">
                <a:solidFill>
                  <a:srgbClr val="0B1F33"/>
                </a:solidFill>
                <a:latin typeface="Arial"/>
                <a:ea typeface="Arial"/>
                <a:cs typeface="Arial"/>
              </a:defRPr>
            </a:pPr>
            <a:r>
              <a:rPr sz="1725" b="0">
                <a:solidFill>
                  <a:srgbClr val="0B1F33"/>
                </a:solidFill>
                <a:latin typeface="Arial"/>
                <a:ea typeface="Arial"/>
                <a:cs typeface="Arial"/>
              </a:rPr>
              <a:t>Video bình thường được dùng để mô hình học hình ảnh và chuyển động thường gặp.</a:t>
            </a:r>
          </a:p>
        </p:txBody>
      </p:sp>
      <p:sp>
        <p:nvSpPr>
          <p:cNvPr id="8" name="">
            <a:extLst xmlns:a="http://schemas.openxmlformats.org/drawingml/2006/main">
              <a:ext uri="{FF2B5EF4-FFF2-40B4-BE49-F238E27FC236}">
                <a16:creationId xmlns:a16="http://schemas.microsoft.com/office/drawing/2014/main" id="{346233BF-AB35-4018-8C11-D9B7A2BD179E}"/>
              </a:ext>
            </a:extLst>
          </p:cNvPr>
          <p:cNvSpPr>
            <a:spLocks xmlns:a="http://schemas.openxmlformats.org/drawingml/2006/main" noGrp="1"/>
          </p:cNvSpPr>
          <p:nvPr/>
        </p:nvSpPr>
        <p:spPr>
          <a:xfrm xmlns:a="http://schemas.openxmlformats.org/drawingml/2006/main">
            <a:off x="1000125" y="2857500"/>
            <a:ext cx="1143000" cy="1000125"/>
          </a:xfrm>
          <a:prstGeom xmlns:a="http://schemas.openxmlformats.org/drawingml/2006/main" prst="roundRect">
            <a:avLst>
              <a:gd name="adj" fmla="val 9524"/>
            </a:avLst>
          </a:prstGeom>
          <a:solidFill xmlns:a="http://schemas.openxmlformats.org/drawingml/2006/main">
            <a:srgbClr val="DDF3F2"/>
          </a:solidFill>
          <a:ln xmlns:a="http://schemas.openxmlformats.org/drawingml/2006/main" w="14288">
            <a:solidFill>
              <a:srgbClr val="159E9C"/>
            </a:solidFill>
            <a:prstDash val="solid"/>
          </a:ln>
        </p:spPr>
      </p:sp>
      <p:sp>
        <p:nvSpPr>
          <p:cNvPr id="9" name="">
            <a:extLst xmlns:a="http://schemas.openxmlformats.org/drawingml/2006/main">
              <a:ext uri="{FF2B5EF4-FFF2-40B4-BE49-F238E27FC236}">
                <a16:creationId xmlns:a16="http://schemas.microsoft.com/office/drawing/2014/main" id="{0A1CA27B-CCE4-4D30-A927-14F5525BF991}"/>
              </a:ext>
            </a:extLst>
          </p:cNvPr>
          <p:cNvSpPr>
            <a:spLocks xmlns:a="http://schemas.openxmlformats.org/drawingml/2006/main" noGrp="1"/>
          </p:cNvSpPr>
          <p:nvPr/>
        </p:nvSpPr>
        <p:spPr>
          <a:xfrm xmlns:a="http://schemas.openxmlformats.org/drawingml/2006/main">
            <a:off x="1104900" y="3095625"/>
            <a:ext cx="933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4967"/>
          </a:bodyPr>
          <a:lstStyle xmlns:a="http://schemas.openxmlformats.org/drawingml/2006/main"/>
          <a:p xmlns:a="http://schemas.openxmlformats.org/drawingml/2006/main">
            <a:pPr algn="ctr">
              <a:defRPr sz="1275" b="1">
                <a:solidFill>
                  <a:srgbClr val="159E9C"/>
                </a:solidFill>
                <a:latin typeface="Arial"/>
                <a:ea typeface="Arial"/>
                <a:cs typeface="Arial"/>
              </a:defRPr>
            </a:pPr>
            <a:r>
              <a:rPr sz="1275" b="1">
                <a:solidFill>
                  <a:srgbClr val="159E9C"/>
                </a:solidFill>
                <a:latin typeface="Arial"/>
                <a:ea typeface="Arial"/>
                <a:cs typeface="Arial"/>
              </a:rPr>
              <a:t>FRAME</a:t>
            </a:r>
          </a:p>
          <a:p xmlns:a="http://schemas.openxmlformats.org/drawingml/2006/main">
            <a:pPr algn="ctr">
              <a:defRPr sz="1275" b="1">
                <a:solidFill>
                  <a:srgbClr val="159E9C"/>
                </a:solidFill>
                <a:latin typeface="Arial"/>
                <a:ea typeface="Arial"/>
                <a:cs typeface="Arial"/>
              </a:defRPr>
            </a:pPr>
            <a:r>
              <a:rPr sz="1275" b="1">
                <a:solidFill>
                  <a:srgbClr val="159E9C"/>
                </a:solidFill>
                <a:latin typeface="Arial"/>
                <a:ea typeface="Arial"/>
                <a:cs typeface="Arial"/>
              </a:rPr>
              <a:t>BÌNH THƯỜNG</a:t>
            </a:r>
          </a:p>
        </p:txBody>
      </p:sp>
      <p:sp>
        <p:nvSpPr>
          <p:cNvPr id="10" name="">
            <a:extLst xmlns:a="http://schemas.openxmlformats.org/drawingml/2006/main">
              <a:ext uri="{FF2B5EF4-FFF2-40B4-BE49-F238E27FC236}">
                <a16:creationId xmlns:a16="http://schemas.microsoft.com/office/drawing/2014/main" id="{C876F4B7-E13B-4013-96D5-9D1CB93CCAC9}"/>
              </a:ext>
            </a:extLst>
          </p:cNvPr>
          <p:cNvSpPr>
            <a:spLocks xmlns:a="http://schemas.openxmlformats.org/drawingml/2006/main" noGrp="1"/>
          </p:cNvSpPr>
          <p:nvPr/>
        </p:nvSpPr>
        <p:spPr>
          <a:xfrm xmlns:a="http://schemas.openxmlformats.org/drawingml/2006/main">
            <a:off x="2743200" y="2857500"/>
            <a:ext cx="1143000" cy="1000125"/>
          </a:xfrm>
          <a:prstGeom xmlns:a="http://schemas.openxmlformats.org/drawingml/2006/main" prst="roundRect">
            <a:avLst>
              <a:gd name="adj" fmla="val 9524"/>
            </a:avLst>
          </a:prstGeom>
          <a:solidFill xmlns:a="http://schemas.openxmlformats.org/drawingml/2006/main">
            <a:srgbClr val="0B1F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8AFF79-4492-468C-97AB-56B36475E418}"/>
              </a:ext>
            </a:extLst>
          </p:cNvPr>
          <p:cNvSpPr>
            <a:spLocks xmlns:a="http://schemas.openxmlformats.org/drawingml/2006/main" noGrp="1"/>
          </p:cNvSpPr>
          <p:nvPr/>
        </p:nvSpPr>
        <p:spPr>
          <a:xfrm xmlns:a="http://schemas.openxmlformats.org/drawingml/2006/main">
            <a:off x="2857500" y="31813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MODEL</a:t>
            </a:r>
          </a:p>
        </p:txBody>
      </p:sp>
      <p:sp>
        <p:nvSpPr>
          <p:cNvPr id="12" name="">
            <a:extLst xmlns:a="http://schemas.openxmlformats.org/drawingml/2006/main">
              <a:ext uri="{FF2B5EF4-FFF2-40B4-BE49-F238E27FC236}">
                <a16:creationId xmlns:a16="http://schemas.microsoft.com/office/drawing/2014/main" id="{7A15EDA3-9809-4ECC-BB98-BA1E88B3B9DE}"/>
              </a:ext>
            </a:extLst>
          </p:cNvPr>
          <p:cNvSpPr>
            <a:spLocks xmlns:a="http://schemas.openxmlformats.org/drawingml/2006/main" noGrp="1"/>
          </p:cNvSpPr>
          <p:nvPr/>
        </p:nvSpPr>
        <p:spPr>
          <a:xfrm xmlns:a="http://schemas.openxmlformats.org/drawingml/2006/main">
            <a:off x="4476750" y="2857500"/>
            <a:ext cx="1143000" cy="1000125"/>
          </a:xfrm>
          <a:prstGeom xmlns:a="http://schemas.openxmlformats.org/drawingml/2006/main" prst="roundRect">
            <a:avLst>
              <a:gd name="adj" fmla="val 9524"/>
            </a:avLst>
          </a:prstGeom>
          <a:solidFill xmlns:a="http://schemas.openxmlformats.org/drawingml/2006/main">
            <a:srgbClr val="DDF3F2"/>
          </a:solidFill>
          <a:ln xmlns:a="http://schemas.openxmlformats.org/drawingml/2006/main" w="14288">
            <a:solidFill>
              <a:srgbClr val="159E9C"/>
            </a:solidFill>
            <a:prstDash val="solid"/>
          </a:ln>
        </p:spPr>
      </p:sp>
      <p:sp>
        <p:nvSpPr>
          <p:cNvPr id="13" name="">
            <a:extLst xmlns:a="http://schemas.openxmlformats.org/drawingml/2006/main">
              <a:ext uri="{FF2B5EF4-FFF2-40B4-BE49-F238E27FC236}">
                <a16:creationId xmlns:a16="http://schemas.microsoft.com/office/drawing/2014/main" id="{32D1C690-C701-44BD-AE6D-A5AD0A18F1A7}"/>
              </a:ext>
            </a:extLst>
          </p:cNvPr>
          <p:cNvSpPr>
            <a:spLocks xmlns:a="http://schemas.openxmlformats.org/drawingml/2006/main" noGrp="1"/>
          </p:cNvSpPr>
          <p:nvPr/>
        </p:nvSpPr>
        <p:spPr>
          <a:xfrm xmlns:a="http://schemas.openxmlformats.org/drawingml/2006/main">
            <a:off x="4581525" y="3095625"/>
            <a:ext cx="933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4967"/>
          </a:bodyPr>
          <a:lstStyle xmlns:a="http://schemas.openxmlformats.org/drawingml/2006/main"/>
          <a:p xmlns:a="http://schemas.openxmlformats.org/drawingml/2006/main">
            <a:pPr algn="ctr">
              <a:defRPr sz="1275" b="1">
                <a:solidFill>
                  <a:srgbClr val="159E9C"/>
                </a:solidFill>
                <a:latin typeface="Arial"/>
                <a:ea typeface="Arial"/>
                <a:cs typeface="Arial"/>
              </a:defRPr>
            </a:pPr>
            <a:r>
              <a:rPr sz="1275" b="1">
                <a:solidFill>
                  <a:srgbClr val="159E9C"/>
                </a:solidFill>
                <a:latin typeface="Arial"/>
                <a:ea typeface="Arial"/>
                <a:cs typeface="Arial"/>
              </a:rPr>
              <a:t>QUY LUẬT</a:t>
            </a:r>
          </a:p>
          <a:p xmlns:a="http://schemas.openxmlformats.org/drawingml/2006/main">
            <a:pPr algn="ctr">
              <a:defRPr sz="1275" b="1">
                <a:solidFill>
                  <a:srgbClr val="159E9C"/>
                </a:solidFill>
                <a:latin typeface="Arial"/>
                <a:ea typeface="Arial"/>
                <a:cs typeface="Arial"/>
              </a:defRPr>
            </a:pPr>
            <a:r>
              <a:rPr sz="1275" b="1">
                <a:solidFill>
                  <a:srgbClr val="159E9C"/>
                </a:solidFill>
                <a:latin typeface="Arial"/>
                <a:ea typeface="Arial"/>
                <a:cs typeface="Arial"/>
              </a:rPr>
              <a:t>BÌNH THƯỜNG</a:t>
            </a:r>
          </a:p>
        </p:txBody>
      </p:sp>
      <p:cxnSp>
        <p:nvCxnSpPr>
          <p:cNvPr id="42" name=""/>
          <p:cNvCxnSpPr>
            <a:stCxn xmlns:a="http://schemas.openxmlformats.org/drawingml/2006/main" id="8" idx="3"/>
            <a:endCxn xmlns:a="http://schemas.openxmlformats.org/drawingml/2006/main" id="10" idx="1"/>
          </p:cNvCxnSpPr>
          <p:nvPr/>
        </p:nvCxnSpPr>
        <p:spPr>
          <a:xfrm xmlns:a="http://schemas.openxmlformats.org/drawingml/2006/main">
            <a:off x="2143125" y="3357563"/>
            <a:ext cx="600075"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43" name=""/>
          <p:cNvCxnSpPr>
            <a:stCxn xmlns:a="http://schemas.openxmlformats.org/drawingml/2006/main" id="10" idx="3"/>
            <a:endCxn xmlns:a="http://schemas.openxmlformats.org/drawingml/2006/main" id="12" idx="1"/>
          </p:cNvCxnSpPr>
          <p:nvPr/>
        </p:nvCxnSpPr>
        <p:spPr>
          <a:xfrm xmlns:a="http://schemas.openxmlformats.org/drawingml/2006/main">
            <a:off x="3886200" y="3357563"/>
            <a:ext cx="590550"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sp>
        <p:nvSpPr>
          <p:cNvPr id="16" name="">
            <a:extLst xmlns:a="http://schemas.openxmlformats.org/drawingml/2006/main">
              <a:ext uri="{FF2B5EF4-FFF2-40B4-BE49-F238E27FC236}">
                <a16:creationId xmlns:a16="http://schemas.microsoft.com/office/drawing/2014/main" id="{38F4B0E8-46B9-4887-A478-9F963AADBF61}"/>
              </a:ext>
            </a:extLst>
          </p:cNvPr>
          <p:cNvSpPr>
            <a:spLocks xmlns:a="http://schemas.openxmlformats.org/drawingml/2006/main" noGrp="1"/>
          </p:cNvSpPr>
          <p:nvPr/>
        </p:nvSpPr>
        <p:spPr>
          <a:xfrm xmlns:a="http://schemas.openxmlformats.org/drawingml/2006/main">
            <a:off x="6600825" y="142875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59E0B"/>
                </a:solidFill>
                <a:latin typeface="Arial"/>
                <a:ea typeface="Arial"/>
                <a:cs typeface="Arial"/>
              </a:defRPr>
            </a:pPr>
            <a:r>
              <a:rPr sz="1500" b="1">
                <a:solidFill>
                  <a:srgbClr val="F59E0B"/>
                </a:solidFill>
                <a:latin typeface="Arial"/>
                <a:ea typeface="Arial"/>
                <a:cs typeface="Arial"/>
              </a:rPr>
              <a:t>GIAI ĐOẠN KIỂM TRA</a:t>
            </a:r>
          </a:p>
        </p:txBody>
      </p:sp>
      <p:sp>
        <p:nvSpPr>
          <p:cNvPr id="17" name="">
            <a:extLst xmlns:a="http://schemas.openxmlformats.org/drawingml/2006/main">
              <a:ext uri="{FF2B5EF4-FFF2-40B4-BE49-F238E27FC236}">
                <a16:creationId xmlns:a16="http://schemas.microsoft.com/office/drawing/2014/main" id="{EFDF4CD0-E753-43EA-B236-94A970A5292F}"/>
              </a:ext>
            </a:extLst>
          </p:cNvPr>
          <p:cNvSpPr>
            <a:spLocks xmlns:a="http://schemas.openxmlformats.org/drawingml/2006/main" noGrp="1"/>
          </p:cNvSpPr>
          <p:nvPr/>
        </p:nvSpPr>
        <p:spPr>
          <a:xfrm xmlns:a="http://schemas.openxmlformats.org/drawingml/2006/main">
            <a:off x="6600825" y="1809750"/>
            <a:ext cx="4667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rmAutofit fontScale="91787"/>
          </a:bodyPr>
          <a:lstStyle xmlns:a="http://schemas.openxmlformats.org/drawingml/2006/main"/>
          <a:p xmlns:a="http://schemas.openxmlformats.org/drawingml/2006/main">
            <a:pPr algn="l">
              <a:defRPr sz="1725" b="0">
                <a:solidFill>
                  <a:srgbClr val="0B1F33"/>
                </a:solidFill>
                <a:latin typeface="Arial"/>
                <a:ea typeface="Arial"/>
                <a:cs typeface="Arial"/>
              </a:defRPr>
            </a:pPr>
            <a:r>
              <a:rPr sz="1725" b="0">
                <a:solidFill>
                  <a:srgbClr val="0B1F33"/>
                </a:solidFill>
                <a:latin typeface="Arial"/>
                <a:ea typeface="Arial"/>
                <a:cs typeface="Arial"/>
              </a:rPr>
              <a:t>Video mới chứa cả frame bình thường và bất thường. Frame khác nhiều so với quy luật đã học sẽ nhận anomaly score cao.</a:t>
            </a:r>
          </a:p>
        </p:txBody>
      </p:sp>
      <p:sp>
        <p:nvSpPr>
          <p:cNvPr id="18" name="">
            <a:extLst xmlns:a="http://schemas.openxmlformats.org/drawingml/2006/main">
              <a:ext uri="{FF2B5EF4-FFF2-40B4-BE49-F238E27FC236}">
                <a16:creationId xmlns:a16="http://schemas.microsoft.com/office/drawing/2014/main" id="{484C84CC-9969-4C7B-BF1A-AC8CB3DC5BC4}"/>
              </a:ext>
            </a:extLst>
          </p:cNvPr>
          <p:cNvSpPr>
            <a:spLocks xmlns:a="http://schemas.openxmlformats.org/drawingml/2006/main" noGrp="1"/>
          </p:cNvSpPr>
          <p:nvPr/>
        </p:nvSpPr>
        <p:spPr>
          <a:xfrm xmlns:a="http://schemas.openxmlformats.org/drawingml/2006/main">
            <a:off x="6667500" y="2857500"/>
            <a:ext cx="1143000" cy="1000125"/>
          </a:xfrm>
          <a:prstGeom xmlns:a="http://schemas.openxmlformats.org/drawingml/2006/main" prst="roundRect">
            <a:avLst>
              <a:gd name="adj" fmla="val 9524"/>
            </a:avLst>
          </a:prstGeom>
          <a:solidFill xmlns:a="http://schemas.openxmlformats.org/drawingml/2006/main">
            <a:srgbClr val="FFF1D4"/>
          </a:solidFill>
          <a:ln xmlns:a="http://schemas.openxmlformats.org/drawingml/2006/main" w="14288">
            <a:solidFill>
              <a:srgbClr val="F59E0B"/>
            </a:solidFill>
            <a:prstDash val="solid"/>
          </a:ln>
        </p:spPr>
      </p:sp>
      <p:sp>
        <p:nvSpPr>
          <p:cNvPr id="19" name="">
            <a:extLst xmlns:a="http://schemas.openxmlformats.org/drawingml/2006/main">
              <a:ext uri="{FF2B5EF4-FFF2-40B4-BE49-F238E27FC236}">
                <a16:creationId xmlns:a16="http://schemas.microsoft.com/office/drawing/2014/main" id="{E3C7B680-6713-4EED-B0F6-AAC9DBB1A30F}"/>
              </a:ext>
            </a:extLst>
          </p:cNvPr>
          <p:cNvSpPr>
            <a:spLocks xmlns:a="http://schemas.openxmlformats.org/drawingml/2006/main" noGrp="1"/>
          </p:cNvSpPr>
          <p:nvPr/>
        </p:nvSpPr>
        <p:spPr>
          <a:xfrm xmlns:a="http://schemas.openxmlformats.org/drawingml/2006/main">
            <a:off x="6772275" y="3105150"/>
            <a:ext cx="933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defRPr sz="1350" b="1">
                <a:solidFill>
                  <a:srgbClr val="F59E0B"/>
                </a:solidFill>
                <a:latin typeface="Arial"/>
                <a:ea typeface="Arial"/>
                <a:cs typeface="Arial"/>
              </a:defRPr>
            </a:pPr>
            <a:r>
              <a:rPr sz="1350" b="1">
                <a:solidFill>
                  <a:srgbClr val="F59E0B"/>
                </a:solidFill>
                <a:latin typeface="Arial"/>
                <a:ea typeface="Arial"/>
                <a:cs typeface="Arial"/>
              </a:rPr>
              <a:t>FRAME</a:t>
            </a:r>
          </a:p>
          <a:p xmlns:a="http://schemas.openxmlformats.org/drawingml/2006/main">
            <a:pPr algn="ctr">
              <a:defRPr sz="1350" b="1">
                <a:solidFill>
                  <a:srgbClr val="F59E0B"/>
                </a:solidFill>
                <a:latin typeface="Arial"/>
                <a:ea typeface="Arial"/>
                <a:cs typeface="Arial"/>
              </a:defRPr>
            </a:pPr>
            <a:r>
              <a:rPr sz="1350" b="1">
                <a:solidFill>
                  <a:srgbClr val="F59E0B"/>
                </a:solidFill>
                <a:latin typeface="Arial"/>
                <a:ea typeface="Arial"/>
                <a:cs typeface="Arial"/>
              </a:rPr>
              <a:t>MỚI</a:t>
            </a:r>
          </a:p>
        </p:txBody>
      </p:sp>
      <p:sp>
        <p:nvSpPr>
          <p:cNvPr id="20" name="">
            <a:extLst xmlns:a="http://schemas.openxmlformats.org/drawingml/2006/main">
              <a:ext uri="{FF2B5EF4-FFF2-40B4-BE49-F238E27FC236}">
                <a16:creationId xmlns:a16="http://schemas.microsoft.com/office/drawing/2014/main" id="{0B4AD992-0FB8-4327-B590-AF660B745E76}"/>
              </a:ext>
            </a:extLst>
          </p:cNvPr>
          <p:cNvSpPr>
            <a:spLocks xmlns:a="http://schemas.openxmlformats.org/drawingml/2006/main" noGrp="1"/>
          </p:cNvSpPr>
          <p:nvPr/>
        </p:nvSpPr>
        <p:spPr>
          <a:xfrm xmlns:a="http://schemas.openxmlformats.org/drawingml/2006/main">
            <a:off x="8410575" y="2857500"/>
            <a:ext cx="1143000" cy="1000125"/>
          </a:xfrm>
          <a:prstGeom xmlns:a="http://schemas.openxmlformats.org/drawingml/2006/main" prst="roundRect">
            <a:avLst>
              <a:gd name="adj" fmla="val 9524"/>
            </a:avLst>
          </a:prstGeom>
          <a:solidFill xmlns:a="http://schemas.openxmlformats.org/drawingml/2006/main">
            <a:srgbClr val="0B1F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5BF85D1-7452-4BF1-8EC6-1444A7FA40AE}"/>
              </a:ext>
            </a:extLst>
          </p:cNvPr>
          <p:cNvSpPr>
            <a:spLocks xmlns:a="http://schemas.openxmlformats.org/drawingml/2006/main" noGrp="1"/>
          </p:cNvSpPr>
          <p:nvPr/>
        </p:nvSpPr>
        <p:spPr>
          <a:xfrm xmlns:a="http://schemas.openxmlformats.org/drawingml/2006/main">
            <a:off x="8524875" y="31813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MODEL</a:t>
            </a:r>
          </a:p>
        </p:txBody>
      </p:sp>
      <p:sp>
        <p:nvSpPr>
          <p:cNvPr id="22" name="">
            <a:extLst xmlns:a="http://schemas.openxmlformats.org/drawingml/2006/main">
              <a:ext uri="{FF2B5EF4-FFF2-40B4-BE49-F238E27FC236}">
                <a16:creationId xmlns:a16="http://schemas.microsoft.com/office/drawing/2014/main" id="{8E648C49-0701-4A9D-8141-0B5E23AC613D}"/>
              </a:ext>
            </a:extLst>
          </p:cNvPr>
          <p:cNvSpPr>
            <a:spLocks xmlns:a="http://schemas.openxmlformats.org/drawingml/2006/main" noGrp="1"/>
          </p:cNvSpPr>
          <p:nvPr/>
        </p:nvSpPr>
        <p:spPr>
          <a:xfrm xmlns:a="http://schemas.openxmlformats.org/drawingml/2006/main">
            <a:off x="10144125" y="2857500"/>
            <a:ext cx="1143000" cy="1000125"/>
          </a:xfrm>
          <a:prstGeom xmlns:a="http://schemas.openxmlformats.org/drawingml/2006/main" prst="roundRect">
            <a:avLst>
              <a:gd name="adj" fmla="val 9524"/>
            </a:avLst>
          </a:prstGeom>
          <a:solidFill xmlns:a="http://schemas.openxmlformats.org/drawingml/2006/main">
            <a:srgbClr val="FFF1D4"/>
          </a:solidFill>
          <a:ln xmlns:a="http://schemas.openxmlformats.org/drawingml/2006/main" w="14288">
            <a:solidFill>
              <a:srgbClr val="F59E0B"/>
            </a:solidFill>
            <a:prstDash val="solid"/>
          </a:ln>
        </p:spPr>
      </p:sp>
      <p:sp>
        <p:nvSpPr>
          <p:cNvPr id="23" name="">
            <a:extLst xmlns:a="http://schemas.openxmlformats.org/drawingml/2006/main">
              <a:ext uri="{FF2B5EF4-FFF2-40B4-BE49-F238E27FC236}">
                <a16:creationId xmlns:a16="http://schemas.microsoft.com/office/drawing/2014/main" id="{D29B9C4B-5C54-4B4D-AC39-85868BAF48FB}"/>
              </a:ext>
            </a:extLst>
          </p:cNvPr>
          <p:cNvSpPr>
            <a:spLocks xmlns:a="http://schemas.openxmlformats.org/drawingml/2006/main" noGrp="1"/>
          </p:cNvSpPr>
          <p:nvPr/>
        </p:nvSpPr>
        <p:spPr>
          <a:xfrm xmlns:a="http://schemas.openxmlformats.org/drawingml/2006/main">
            <a:off x="10248900" y="3095625"/>
            <a:ext cx="933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7503"/>
          </a:bodyPr>
          <a:lstStyle xmlns:a="http://schemas.openxmlformats.org/drawingml/2006/main"/>
          <a:p xmlns:a="http://schemas.openxmlformats.org/drawingml/2006/main">
            <a:pPr algn="ctr">
              <a:defRPr sz="1275" b="1">
                <a:solidFill>
                  <a:srgbClr val="F59E0B"/>
                </a:solidFill>
                <a:latin typeface="Arial"/>
                <a:ea typeface="Arial"/>
                <a:cs typeface="Arial"/>
              </a:defRPr>
            </a:pPr>
            <a:r>
              <a:rPr sz="1275" b="1">
                <a:solidFill>
                  <a:srgbClr val="F59E0B"/>
                </a:solidFill>
                <a:latin typeface="Arial"/>
                <a:ea typeface="Arial"/>
                <a:cs typeface="Arial"/>
              </a:rPr>
              <a:t>ANOMALY</a:t>
            </a:r>
          </a:p>
          <a:p xmlns:a="http://schemas.openxmlformats.org/drawingml/2006/main">
            <a:pPr algn="ctr">
              <a:defRPr sz="1275" b="1">
                <a:solidFill>
                  <a:srgbClr val="F59E0B"/>
                </a:solidFill>
                <a:latin typeface="Arial"/>
                <a:ea typeface="Arial"/>
                <a:cs typeface="Arial"/>
              </a:defRPr>
            </a:pPr>
            <a:r>
              <a:rPr sz="1275" b="1">
                <a:solidFill>
                  <a:srgbClr val="F59E0B"/>
                </a:solidFill>
                <a:latin typeface="Arial"/>
                <a:ea typeface="Arial"/>
                <a:cs typeface="Arial"/>
              </a:rPr>
              <a:t>SCORE CAO</a:t>
            </a:r>
          </a:p>
        </p:txBody>
      </p:sp>
      <p:cxnSp>
        <p:nvCxnSpPr>
          <p:cNvPr id="52" name=""/>
          <p:cNvCxnSpPr>
            <a:stCxn xmlns:a="http://schemas.openxmlformats.org/drawingml/2006/main" id="18" idx="3"/>
            <a:endCxn xmlns:a="http://schemas.openxmlformats.org/drawingml/2006/main" id="20" idx="1"/>
          </p:cNvCxnSpPr>
          <p:nvPr/>
        </p:nvCxnSpPr>
        <p:spPr>
          <a:xfrm xmlns:a="http://schemas.openxmlformats.org/drawingml/2006/main">
            <a:off x="7810500" y="3357563"/>
            <a:ext cx="600075" cy="0"/>
          </a:xfrm>
          <a:prstGeom xmlns:a="http://schemas.openxmlformats.org/drawingml/2006/main" prst="straightConnector1">
            <a:avLst/>
          </a:prstGeom>
          <a:ln xmlns:a="http://schemas.openxmlformats.org/drawingml/2006/main" w="23813">
            <a:solidFill>
              <a:srgbClr val="F59E0B"/>
            </a:solidFill>
            <a:prstDash val="solid"/>
            <a:headEnd type="none" w="med" len="med"/>
            <a:tailEnd type="triangle" w="sm" len="sm"/>
          </a:ln>
        </p:spPr>
      </p:cxnSp>
      <p:cxnSp>
        <p:nvCxnSpPr>
          <p:cNvPr id="53" name=""/>
          <p:cNvCxnSpPr>
            <a:stCxn xmlns:a="http://schemas.openxmlformats.org/drawingml/2006/main" id="20" idx="3"/>
            <a:endCxn xmlns:a="http://schemas.openxmlformats.org/drawingml/2006/main" id="22" idx="1"/>
          </p:cNvCxnSpPr>
          <p:nvPr/>
        </p:nvCxnSpPr>
        <p:spPr>
          <a:xfrm xmlns:a="http://schemas.openxmlformats.org/drawingml/2006/main">
            <a:off x="9553575" y="3357563"/>
            <a:ext cx="590550" cy="0"/>
          </a:xfrm>
          <a:prstGeom xmlns:a="http://schemas.openxmlformats.org/drawingml/2006/main" prst="straightConnector1">
            <a:avLst/>
          </a:prstGeom>
          <a:ln xmlns:a="http://schemas.openxmlformats.org/drawingml/2006/main" w="23813">
            <a:solidFill>
              <a:srgbClr val="F59E0B"/>
            </a:solidFill>
            <a:prstDash val="solid"/>
            <a:headEnd type="none" w="med" len="med"/>
            <a:tailEnd type="triangle" w="sm" len="sm"/>
          </a:ln>
        </p:spPr>
      </p:cxnSp>
      <p:sp>
        <p:nvSpPr>
          <p:cNvPr id="26" name="">
            <a:extLst xmlns:a="http://schemas.openxmlformats.org/drawingml/2006/main">
              <a:ext uri="{FF2B5EF4-FFF2-40B4-BE49-F238E27FC236}">
                <a16:creationId xmlns:a16="http://schemas.microsoft.com/office/drawing/2014/main" id="{E5B70E8D-9F93-43A1-AB85-85833008E43B}"/>
              </a:ext>
            </a:extLst>
          </p:cNvPr>
          <p:cNvSpPr>
            <a:spLocks xmlns:a="http://schemas.openxmlformats.org/drawingml/2006/main" noGrp="1"/>
          </p:cNvSpPr>
          <p:nvPr/>
        </p:nvSpPr>
        <p:spPr>
          <a:xfrm xmlns:a="http://schemas.openxmlformats.org/drawingml/2006/main">
            <a:off x="876300" y="5600700"/>
            <a:ext cx="10439400" cy="714375"/>
          </a:xfrm>
          <a:prstGeom xmlns:a="http://schemas.openxmlformats.org/drawingml/2006/main" prst="roundRect">
            <a:avLst>
              <a:gd name="adj" fmla="val 16000"/>
            </a:avLst>
          </a:prstGeom>
          <a:solidFill xmlns:a="http://schemas.openxmlformats.org/drawingml/2006/main">
            <a:srgbClr val="0B1F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6BE7D80-2B1F-412F-A9F7-EBB9B93D2A64}"/>
              </a:ext>
            </a:extLst>
          </p:cNvPr>
          <p:cNvSpPr>
            <a:spLocks xmlns:a="http://schemas.openxmlformats.org/drawingml/2006/main" noGrp="1"/>
          </p:cNvSpPr>
          <p:nvPr/>
        </p:nvSpPr>
        <p:spPr>
          <a:xfrm xmlns:a="http://schemas.openxmlformats.org/drawingml/2006/main">
            <a:off x="1066800" y="5743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425" b="1">
                <a:solidFill>
                  <a:srgbClr val="79CFCC"/>
                </a:solidFill>
                <a:latin typeface="Arial"/>
                <a:ea typeface="Arial"/>
                <a:cs typeface="Arial"/>
              </a:defRPr>
            </a:pPr>
            <a:r>
              <a:rPr sz="1425" b="1">
                <a:solidFill>
                  <a:srgbClr val="79CFCC"/>
                </a:solidFill>
                <a:latin typeface="Arial"/>
                <a:ea typeface="Arial"/>
                <a:cs typeface="Arial"/>
              </a:rPr>
              <a:t>VAI TRÒ CỦA NHÃN</a:t>
            </a:r>
          </a:p>
        </p:txBody>
      </p:sp>
      <p:sp>
        <p:nvSpPr>
          <p:cNvPr id="28" name="">
            <a:extLst xmlns:a="http://schemas.openxmlformats.org/drawingml/2006/main">
              <a:ext uri="{FF2B5EF4-FFF2-40B4-BE49-F238E27FC236}">
                <a16:creationId xmlns:a16="http://schemas.microsoft.com/office/drawing/2014/main" id="{7CF57C78-6BD8-4759-B1FD-93D9110BFC01}"/>
              </a:ext>
            </a:extLst>
          </p:cNvPr>
          <p:cNvSpPr>
            <a:spLocks xmlns:a="http://schemas.openxmlformats.org/drawingml/2006/main" noGrp="1"/>
          </p:cNvSpPr>
          <p:nvPr/>
        </p:nvSpPr>
        <p:spPr>
          <a:xfrm xmlns:a="http://schemas.openxmlformats.org/drawingml/2006/main">
            <a:off x="3333750" y="5705475"/>
            <a:ext cx="7734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7798"/>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Nhãn bất thường không tham gia huấn luyện. Nhãn chỉ dùng để đánh giá kết quả trên tập test.</a:t>
            </a:r>
          </a:p>
        </p:txBody>
      </p:sp>
    </p:spTree>
    <p:extLst>
      <p:ext uri="{BB962C8B-B14F-4D97-AF65-F5344CB8AC3E}">
        <p14:creationId xmlns:p14="http://schemas.microsoft.com/office/powerpoint/2010/main" val="1133256653"/>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26EAE4-24F0-48DA-AEA0-3AA252E24BE1}"/>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UCSD Ped2</a:t>
            </a:r>
          </a:p>
        </p:txBody>
      </p:sp>
      <p:sp>
        <p:nvSpPr>
          <p:cNvPr id="2" name="">
            <a:extLst xmlns:a="http://schemas.openxmlformats.org/drawingml/2006/main">
              <a:ext uri="{FF2B5EF4-FFF2-40B4-BE49-F238E27FC236}">
                <a16:creationId xmlns:a16="http://schemas.microsoft.com/office/drawing/2014/main" id="{C465A4EE-EB70-481C-9FDC-775DFCECC1AD}"/>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845977D5-D345-4944-AC1B-D7EEA065300C}"/>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05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ad2733d525c4f9d"/>
          <a:srcRect xmlns:a="http://schemas.openxmlformats.org/drawingml/2006/main" l="0" t="0" r="0" b="0"/>
          <a:stretch xmlns:a="http://schemas.openxmlformats.org/drawingml/2006/main">
            <a:fillRect l="0" t="0" r="0" b="0"/>
          </a:stretch>
        </p:blipFill>
        <p:spPr>
          <a:xfrm xmlns:a="http://schemas.openxmlformats.org/drawingml/2006/main">
            <a:off x="590550" y="1381125"/>
            <a:ext cx="4714875" cy="3143250"/>
          </a:xfrm>
          <a:prstGeom xmlns:a="http://schemas.openxmlformats.org/drawingml/2006/main" prst="roundRect">
            <a:avLst>
              <a:gd name="adj" fmla="val 4242"/>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871290772db49d2"/>
          <a:srcRect xmlns:a="http://schemas.openxmlformats.org/drawingml/2006/main" l="100" t="0" r="100" b="0"/>
          <a:stretch xmlns:a="http://schemas.openxmlformats.org/drawingml/2006/main">
            <a:fillRect l="0" t="0" r="0" b="0"/>
          </a:stretch>
        </p:blipFill>
        <p:spPr>
          <a:xfrm xmlns:a="http://schemas.openxmlformats.org/drawingml/2006/main">
            <a:off x="876300" y="4095750"/>
            <a:ext cx="2381250" cy="1590675"/>
          </a:xfrm>
          <a:prstGeom xmlns:a="http://schemas.openxmlformats.org/drawingml/2006/main" prst="roundRect">
            <a:avLst>
              <a:gd name="adj" fmla="val 7186"/>
            </a:avLst>
          </a:prstGeom>
        </p:spPr>
      </p:pic>
      <p:sp>
        <p:nvSpPr>
          <p:cNvPr id="6" name="">
            <a:extLst xmlns:a="http://schemas.openxmlformats.org/drawingml/2006/main">
              <a:ext uri="{FF2B5EF4-FFF2-40B4-BE49-F238E27FC236}">
                <a16:creationId xmlns:a16="http://schemas.microsoft.com/office/drawing/2014/main" id="{F30F2C5B-2899-4DA9-8A4E-D304F04379B4}"/>
              </a:ext>
            </a:extLst>
          </p:cNvPr>
          <p:cNvSpPr>
            <a:spLocks xmlns:a="http://schemas.openxmlformats.org/drawingml/2006/main" noGrp="1"/>
          </p:cNvSpPr>
          <p:nvPr/>
        </p:nvSpPr>
        <p:spPr>
          <a:xfrm xmlns:a="http://schemas.openxmlformats.org/drawingml/2006/main">
            <a:off x="685800" y="5781675"/>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1275" b="0">
                <a:solidFill>
                  <a:srgbClr val="5F7180"/>
                </a:solidFill>
                <a:latin typeface="Arial"/>
                <a:ea typeface="Arial"/>
                <a:cs typeface="Arial"/>
              </a:defRPr>
            </a:pPr>
            <a:r>
              <a:rPr sz="1275" b="0">
                <a:solidFill>
                  <a:srgbClr val="5F7180"/>
                </a:solidFill>
                <a:latin typeface="Arial"/>
                <a:ea typeface="Arial"/>
                <a:cs typeface="Arial"/>
              </a:rPr>
              <a:t>Ảnh minh họa từ dataset</a:t>
            </a:r>
          </a:p>
        </p:txBody>
      </p:sp>
      <p:sp>
        <p:nvSpPr>
          <p:cNvPr id="7" name="">
            <a:extLst xmlns:a="http://schemas.openxmlformats.org/drawingml/2006/main">
              <a:ext uri="{FF2B5EF4-FFF2-40B4-BE49-F238E27FC236}">
                <a16:creationId xmlns:a16="http://schemas.microsoft.com/office/drawing/2014/main" id="{0EBDD6F7-6AD6-4EFC-80FD-1B80E358C69E}"/>
              </a:ext>
            </a:extLst>
          </p:cNvPr>
          <p:cNvSpPr>
            <a:spLocks xmlns:a="http://schemas.openxmlformats.org/drawingml/2006/main" noGrp="1"/>
          </p:cNvSpPr>
          <p:nvPr/>
        </p:nvSpPr>
        <p:spPr>
          <a:xfrm xmlns:a="http://schemas.openxmlformats.org/drawingml/2006/main">
            <a:off x="5810250" y="1352550"/>
            <a:ext cx="561975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600"/>
              </a:spcAft>
              <a:buChar char="•"/>
              <a:defRPr sz="1725">
                <a:solidFill>
                  <a:srgbClr val="132B3F"/>
                </a:solidFill>
                <a:latin typeface="Arial"/>
                <a:ea typeface="Arial"/>
                <a:cs typeface="Arial"/>
              </a:defRPr>
            </a:pPr>
            <a:r>
              <a:t>Bối cảnh: lối đi bộ, camera cố định đặt ở vị trí cao.</a:t>
            </a:r>
          </a:p>
          <a:p xmlns:a="http://schemas.openxmlformats.org/drawingml/2006/main">
            <a:pPr marL="228600" indent="-114300">
              <a:spcAft>
                <a:spcPts val="600"/>
              </a:spcAft>
              <a:buChar char="•"/>
              <a:defRPr sz="1725">
                <a:solidFill>
                  <a:srgbClr val="132B3F"/>
                </a:solidFill>
                <a:latin typeface="Arial"/>
                <a:ea typeface="Arial"/>
                <a:cs typeface="Arial"/>
              </a:defRPr>
            </a:pPr>
            <a:r>
              <a:t>Kích thước ảnh: khoảng 360 × 240 pixel.</a:t>
            </a:r>
          </a:p>
          <a:p xmlns:a="http://schemas.openxmlformats.org/drawingml/2006/main">
            <a:pPr marL="228600" indent="-114300">
              <a:spcAft>
                <a:spcPts val="600"/>
              </a:spcAft>
              <a:buChar char="•"/>
              <a:defRPr sz="1725">
                <a:solidFill>
                  <a:srgbClr val="132B3F"/>
                </a:solidFill>
                <a:latin typeface="Arial"/>
                <a:ea typeface="Arial"/>
                <a:cs typeface="Arial"/>
              </a:defRPr>
            </a:pPr>
            <a:r>
              <a:t>Training: 16 clip chỉ chứa hoạt động bình thường.</a:t>
            </a:r>
          </a:p>
          <a:p xmlns:a="http://schemas.openxmlformats.org/drawingml/2006/main">
            <a:pPr marL="228600" indent="-114300">
              <a:spcAft>
                <a:spcPts val="600"/>
              </a:spcAft>
              <a:buChar char="•"/>
              <a:defRPr sz="1725">
                <a:solidFill>
                  <a:srgbClr val="132B3F"/>
                </a:solidFill>
                <a:latin typeface="Arial"/>
                <a:ea typeface="Arial"/>
                <a:cs typeface="Arial"/>
              </a:defRPr>
            </a:pPr>
            <a:r>
              <a:t>Testing: 12 clip chứa cả bình thường và bất thường.</a:t>
            </a:r>
          </a:p>
          <a:p xmlns:a="http://schemas.openxmlformats.org/drawingml/2006/main">
            <a:pPr marL="228600" indent="-114300">
              <a:spcAft>
                <a:spcPts val="600"/>
              </a:spcAft>
              <a:buChar char="•"/>
              <a:defRPr sz="1725">
                <a:solidFill>
                  <a:srgbClr val="132B3F"/>
                </a:solidFill>
                <a:latin typeface="Arial"/>
                <a:ea typeface="Arial"/>
                <a:cs typeface="Arial"/>
              </a:defRPr>
            </a:pPr>
            <a:r>
              <a:t>Bất thường thường gặp: xe đạp, skateboard, xe nhỏ và chuyển động khác quy luật.</a:t>
            </a:r>
          </a:p>
        </p:txBody>
      </p:sp>
      <p:sp>
        <p:nvSpPr>
          <p:cNvPr id="8" name="">
            <a:extLst xmlns:a="http://schemas.openxmlformats.org/drawingml/2006/main">
              <a:ext uri="{FF2B5EF4-FFF2-40B4-BE49-F238E27FC236}">
                <a16:creationId xmlns:a16="http://schemas.microsoft.com/office/drawing/2014/main" id="{89455400-3BCF-4210-BB33-A80ED9B933C3}"/>
              </a:ext>
            </a:extLst>
          </p:cNvPr>
          <p:cNvSpPr>
            <a:spLocks xmlns:a="http://schemas.openxmlformats.org/drawingml/2006/main" noGrp="1"/>
          </p:cNvSpPr>
          <p:nvPr/>
        </p:nvSpPr>
        <p:spPr>
          <a:xfrm xmlns:a="http://schemas.openxmlformats.org/drawingml/2006/main">
            <a:off x="5810250" y="4476750"/>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VAI TRÒ TRONG DỰ ÁN</a:t>
            </a:r>
          </a:p>
        </p:txBody>
      </p:sp>
      <p:sp>
        <p:nvSpPr>
          <p:cNvPr id="9" name="">
            <a:extLst xmlns:a="http://schemas.openxmlformats.org/drawingml/2006/main">
              <a:ext uri="{FF2B5EF4-FFF2-40B4-BE49-F238E27FC236}">
                <a16:creationId xmlns:a16="http://schemas.microsoft.com/office/drawing/2014/main" id="{43CC4EC4-8CA0-490F-A320-0CB62C9DF369}"/>
              </a:ext>
            </a:extLst>
          </p:cNvPr>
          <p:cNvSpPr>
            <a:spLocks xmlns:a="http://schemas.openxmlformats.org/drawingml/2006/main" noGrp="1"/>
          </p:cNvSpPr>
          <p:nvPr/>
        </p:nvSpPr>
        <p:spPr>
          <a:xfrm xmlns:a="http://schemas.openxmlformats.org/drawingml/2006/main">
            <a:off x="5810250" y="4838700"/>
            <a:ext cx="5572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rmAutofit fontScale="94203"/>
          </a:bodyPr>
          <a:lstStyle xmlns:a="http://schemas.openxmlformats.org/drawingml/2006/main"/>
          <a:p xmlns:a="http://schemas.openxmlformats.org/drawingml/2006/main">
            <a:pPr algn="l">
              <a:defRPr sz="1725" b="1">
                <a:solidFill>
                  <a:srgbClr val="0B1F33"/>
                </a:solidFill>
                <a:latin typeface="Arial"/>
                <a:ea typeface="Arial"/>
                <a:cs typeface="Arial"/>
              </a:defRPr>
            </a:pPr>
            <a:r>
              <a:rPr sz="1725" b="1">
                <a:solidFill>
                  <a:srgbClr val="0B1F33"/>
                </a:solidFill>
                <a:latin typeface="Arial"/>
                <a:ea typeface="Arial"/>
                <a:cs typeface="Arial"/>
              </a:rPr>
              <a:t>Dataset phát triển chính vì dung lượng nhỏ, ground truth rõ ràng và phù hợp huấn luyện trên Colab hoặc Kaggle.</a:t>
            </a:r>
          </a:p>
        </p:txBody>
      </p:sp>
      <p:sp>
        <p:nvSpPr>
          <p:cNvPr id="10" name="">
            <a:extLst xmlns:a="http://schemas.openxmlformats.org/drawingml/2006/main">
              <a:ext uri="{FF2B5EF4-FFF2-40B4-BE49-F238E27FC236}">
                <a16:creationId xmlns:a16="http://schemas.microsoft.com/office/drawing/2014/main" id="{FD8E8A7B-0383-48AB-86EA-94DFCF53DB06}"/>
              </a:ext>
            </a:extLst>
          </p:cNvPr>
          <p:cNvSpPr>
            <a:spLocks xmlns:a="http://schemas.openxmlformats.org/drawingml/2006/main" noGrp="1"/>
          </p:cNvSpPr>
          <p:nvPr/>
        </p:nvSpPr>
        <p:spPr>
          <a:xfrm xmlns:a="http://schemas.openxmlformats.org/drawingml/2006/main">
            <a:off x="5810250" y="5857875"/>
            <a:ext cx="5572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275" b="0">
                <a:solidFill>
                  <a:srgbClr val="5F7180"/>
                </a:solidFill>
                <a:latin typeface="Arial"/>
                <a:ea typeface="Arial"/>
                <a:cs typeface="Arial"/>
              </a:defRPr>
            </a:pPr>
            <a:r>
              <a:rPr sz="1275" b="0">
                <a:solidFill>
                  <a:srgbClr val="5F7180"/>
                </a:solidFill>
                <a:latin typeface="Arial"/>
                <a:ea typeface="Arial"/>
                <a:cs typeface="Arial"/>
              </a:rPr>
              <a:t>Nguồn: UCSD Statistical Visual Computing Lab.</a:t>
            </a:r>
          </a:p>
        </p:txBody>
      </p:sp>
    </p:spTree>
    <p:extLst>
      <p:ext uri="{BB962C8B-B14F-4D97-AF65-F5344CB8AC3E}">
        <p14:creationId xmlns:p14="http://schemas.microsoft.com/office/powerpoint/2010/main" val="1120721789"/>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EDEA1E3-D7F9-41DA-A445-E50B7083ED93}"/>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CUHK Avenue</a:t>
            </a:r>
          </a:p>
        </p:txBody>
      </p:sp>
      <p:sp>
        <p:nvSpPr>
          <p:cNvPr id="2" name="">
            <a:extLst xmlns:a="http://schemas.openxmlformats.org/drawingml/2006/main">
              <a:ext uri="{FF2B5EF4-FFF2-40B4-BE49-F238E27FC236}">
                <a16:creationId xmlns:a16="http://schemas.microsoft.com/office/drawing/2014/main" id="{7955088A-0D7F-4E2D-B7DC-047143006F1B}"/>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876B3F61-2836-4DE8-84C6-5F3A085E9A91}"/>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E1DABF61-6111-4296-98E0-D123CC12351F}"/>
              </a:ext>
            </a:extLst>
          </p:cNvPr>
          <p:cNvSpPr>
            <a:spLocks xmlns:a="http://schemas.openxmlformats.org/drawingml/2006/main" noGrp="1"/>
          </p:cNvSpPr>
          <p:nvPr/>
        </p:nvSpPr>
        <p:spPr>
          <a:xfrm xmlns:a="http://schemas.openxmlformats.org/drawingml/2006/main">
            <a:off x="590550" y="1381125"/>
            <a:ext cx="52387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600"/>
              </a:spcAft>
              <a:buChar char="•"/>
              <a:defRPr sz="1725">
                <a:solidFill>
                  <a:srgbClr val="132B3F"/>
                </a:solidFill>
                <a:latin typeface="Arial"/>
                <a:ea typeface="Arial"/>
                <a:cs typeface="Arial"/>
              </a:defRPr>
            </a:pPr>
            <a:r>
              <a:t>Bối cảnh: lối đi trong khuôn viên trường, video màu.</a:t>
            </a:r>
          </a:p>
          <a:p xmlns:a="http://schemas.openxmlformats.org/drawingml/2006/main">
            <a:pPr marL="228600" indent="-114300">
              <a:spcAft>
                <a:spcPts val="600"/>
              </a:spcAft>
              <a:buChar char="•"/>
              <a:defRPr sz="1725">
                <a:solidFill>
                  <a:srgbClr val="132B3F"/>
                </a:solidFill>
                <a:latin typeface="Arial"/>
                <a:ea typeface="Arial"/>
                <a:cs typeface="Arial"/>
              </a:defRPr>
            </a:pPr>
            <a:r>
              <a:t>Tổng số: 30.652 frame.</a:t>
            </a:r>
          </a:p>
          <a:p xmlns:a="http://schemas.openxmlformats.org/drawingml/2006/main">
            <a:pPr marL="228600" indent="-114300">
              <a:spcAft>
                <a:spcPts val="600"/>
              </a:spcAft>
              <a:buChar char="•"/>
              <a:defRPr sz="1725">
                <a:solidFill>
                  <a:srgbClr val="132B3F"/>
                </a:solidFill>
                <a:latin typeface="Arial"/>
                <a:ea typeface="Arial"/>
                <a:cs typeface="Arial"/>
              </a:defRPr>
            </a:pPr>
            <a:r>
              <a:t>Training: 16 video chứa tình huống bình thường.</a:t>
            </a:r>
          </a:p>
          <a:p xmlns:a="http://schemas.openxmlformats.org/drawingml/2006/main">
            <a:pPr marL="228600" indent="-114300">
              <a:spcAft>
                <a:spcPts val="600"/>
              </a:spcAft>
              <a:buChar char="•"/>
              <a:defRPr sz="1725">
                <a:solidFill>
                  <a:srgbClr val="132B3F"/>
                </a:solidFill>
                <a:latin typeface="Arial"/>
                <a:ea typeface="Arial"/>
                <a:cs typeface="Arial"/>
              </a:defRPr>
            </a:pPr>
            <a:r>
              <a:t>Testing: 21 video chứa cả bình thường và bất thường.</a:t>
            </a:r>
          </a:p>
          <a:p xmlns:a="http://schemas.openxmlformats.org/drawingml/2006/main">
            <a:pPr marL="228600" indent="-114300">
              <a:spcAft>
                <a:spcPts val="600"/>
              </a:spcAft>
              <a:buChar char="•"/>
              <a:defRPr sz="1725">
                <a:solidFill>
                  <a:srgbClr val="132B3F"/>
                </a:solidFill>
                <a:latin typeface="Arial"/>
                <a:ea typeface="Arial"/>
                <a:cs typeface="Arial"/>
              </a:defRPr>
            </a:pPr>
            <a:r>
              <a:t>Ground truth gồm thời gian và vùng xảy ra sự kiện.</a:t>
            </a:r>
          </a:p>
        </p:txBody>
      </p:sp>
      <p:sp>
        <p:nvSpPr>
          <p:cNvPr id="5" name="">
            <a:extLst xmlns:a="http://schemas.openxmlformats.org/drawingml/2006/main">
              <a:ext uri="{FF2B5EF4-FFF2-40B4-BE49-F238E27FC236}">
                <a16:creationId xmlns:a16="http://schemas.microsoft.com/office/drawing/2014/main" id="{E6F40F41-B00E-4FE9-9414-CABB8EE251F2}"/>
              </a:ext>
            </a:extLst>
          </p:cNvPr>
          <p:cNvSpPr>
            <a:spLocks xmlns:a="http://schemas.openxmlformats.org/drawingml/2006/main" noGrp="1"/>
          </p:cNvSpPr>
          <p:nvPr/>
        </p:nvSpPr>
        <p:spPr>
          <a:xfrm xmlns:a="http://schemas.openxmlformats.org/drawingml/2006/main">
            <a:off x="742950" y="4048125"/>
            <a:ext cx="109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3900" b="1">
                <a:solidFill>
                  <a:srgbClr val="159E9C"/>
                </a:solidFill>
                <a:latin typeface="Arial"/>
                <a:ea typeface="Arial"/>
                <a:cs typeface="Arial"/>
              </a:defRPr>
            </a:pPr>
            <a:r>
              <a:rPr sz="3900" b="1">
                <a:solidFill>
                  <a:srgbClr val="159E9C"/>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E1222587-3855-4B8C-964B-878AB7D45529}"/>
              </a:ext>
            </a:extLst>
          </p:cNvPr>
          <p:cNvSpPr>
            <a:spLocks xmlns:a="http://schemas.openxmlformats.org/drawingml/2006/main" noGrp="1"/>
          </p:cNvSpPr>
          <p:nvPr/>
        </p:nvSpPr>
        <p:spPr>
          <a:xfrm xmlns:a="http://schemas.openxmlformats.org/drawingml/2006/main">
            <a:off x="742950" y="4714875"/>
            <a:ext cx="109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1350" b="0">
                <a:solidFill>
                  <a:srgbClr val="5F7180"/>
                </a:solidFill>
                <a:latin typeface="Arial"/>
                <a:ea typeface="Arial"/>
                <a:cs typeface="Arial"/>
              </a:defRPr>
            </a:pPr>
            <a:r>
              <a:rPr sz="1350" b="0">
                <a:solidFill>
                  <a:srgbClr val="5F7180"/>
                </a:solidFill>
                <a:latin typeface="Arial"/>
                <a:ea typeface="Arial"/>
                <a:cs typeface="Arial"/>
              </a:rPr>
              <a:t>video training</a:t>
            </a:r>
          </a:p>
        </p:txBody>
      </p:sp>
      <p:sp>
        <p:nvSpPr>
          <p:cNvPr id="7" name="">
            <a:extLst xmlns:a="http://schemas.openxmlformats.org/drawingml/2006/main">
              <a:ext uri="{FF2B5EF4-FFF2-40B4-BE49-F238E27FC236}">
                <a16:creationId xmlns:a16="http://schemas.microsoft.com/office/drawing/2014/main" id="{78CEC284-6138-45A4-AF5F-01C2C0F85B36}"/>
              </a:ext>
            </a:extLst>
          </p:cNvPr>
          <p:cNvSpPr>
            <a:spLocks xmlns:a="http://schemas.openxmlformats.org/drawingml/2006/main" noGrp="1"/>
          </p:cNvSpPr>
          <p:nvPr/>
        </p:nvSpPr>
        <p:spPr>
          <a:xfrm xmlns:a="http://schemas.openxmlformats.org/drawingml/2006/main">
            <a:off x="2095500" y="4048125"/>
            <a:ext cx="1095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3900" b="1">
                <a:solidFill>
                  <a:srgbClr val="F59E0B"/>
                </a:solidFill>
                <a:latin typeface="Arial"/>
                <a:ea typeface="Arial"/>
                <a:cs typeface="Arial"/>
              </a:defRPr>
            </a:pPr>
            <a:r>
              <a:rPr sz="3900" b="1">
                <a:solidFill>
                  <a:srgbClr val="F59E0B"/>
                </a:solidFill>
                <a:latin typeface="Arial"/>
                <a:ea typeface="Arial"/>
                <a:cs typeface="Arial"/>
              </a:rPr>
              <a:t>21</a:t>
            </a:r>
          </a:p>
        </p:txBody>
      </p:sp>
      <p:sp>
        <p:nvSpPr>
          <p:cNvPr id="8" name="">
            <a:extLst xmlns:a="http://schemas.openxmlformats.org/drawingml/2006/main">
              <a:ext uri="{FF2B5EF4-FFF2-40B4-BE49-F238E27FC236}">
                <a16:creationId xmlns:a16="http://schemas.microsoft.com/office/drawing/2014/main" id="{31B27263-B556-42C0-89DF-709B5CE4B98B}"/>
              </a:ext>
            </a:extLst>
          </p:cNvPr>
          <p:cNvSpPr>
            <a:spLocks xmlns:a="http://schemas.openxmlformats.org/drawingml/2006/main" noGrp="1"/>
          </p:cNvSpPr>
          <p:nvPr/>
        </p:nvSpPr>
        <p:spPr>
          <a:xfrm xmlns:a="http://schemas.openxmlformats.org/drawingml/2006/main">
            <a:off x="2095500" y="4714875"/>
            <a:ext cx="1095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1350" b="0">
                <a:solidFill>
                  <a:srgbClr val="5F7180"/>
                </a:solidFill>
                <a:latin typeface="Arial"/>
                <a:ea typeface="Arial"/>
                <a:cs typeface="Arial"/>
              </a:defRPr>
            </a:pPr>
            <a:r>
              <a:rPr sz="1350" b="0">
                <a:solidFill>
                  <a:srgbClr val="5F7180"/>
                </a:solidFill>
                <a:latin typeface="Arial"/>
                <a:ea typeface="Arial"/>
                <a:cs typeface="Arial"/>
              </a:rPr>
              <a:t>video testing</a:t>
            </a:r>
          </a:p>
        </p:txBody>
      </p:sp>
      <p:sp>
        <p:nvSpPr>
          <p:cNvPr id="9" name="">
            <a:extLst xmlns:a="http://schemas.openxmlformats.org/drawingml/2006/main">
              <a:ext uri="{FF2B5EF4-FFF2-40B4-BE49-F238E27FC236}">
                <a16:creationId xmlns:a16="http://schemas.microsoft.com/office/drawing/2014/main" id="{947EAA47-CB10-4D59-B26C-B78AA99E4BC1}"/>
              </a:ext>
            </a:extLst>
          </p:cNvPr>
          <p:cNvSpPr>
            <a:spLocks xmlns:a="http://schemas.openxmlformats.org/drawingml/2006/main" noGrp="1"/>
          </p:cNvSpPr>
          <p:nvPr/>
        </p:nvSpPr>
        <p:spPr>
          <a:xfrm xmlns:a="http://schemas.openxmlformats.org/drawingml/2006/main">
            <a:off x="3619500" y="41910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F59E0B"/>
                </a:solidFill>
                <a:latin typeface="Arial"/>
                <a:ea typeface="Arial"/>
                <a:cs typeface="Arial"/>
              </a:defRPr>
            </a:pPr>
            <a:r>
              <a:rPr sz="1425" b="1">
                <a:solidFill>
                  <a:srgbClr val="F59E0B"/>
                </a:solidFill>
                <a:latin typeface="Arial"/>
                <a:ea typeface="Arial"/>
                <a:cs typeface="Arial"/>
              </a:rPr>
              <a:t>THÁCH THỨC</a:t>
            </a:r>
          </a:p>
        </p:txBody>
      </p:sp>
      <p:sp>
        <p:nvSpPr>
          <p:cNvPr id="10" name="">
            <a:extLst xmlns:a="http://schemas.openxmlformats.org/drawingml/2006/main">
              <a:ext uri="{FF2B5EF4-FFF2-40B4-BE49-F238E27FC236}">
                <a16:creationId xmlns:a16="http://schemas.microsoft.com/office/drawing/2014/main" id="{31DD9588-4C72-4324-BAED-BD17812E4253}"/>
              </a:ext>
            </a:extLst>
          </p:cNvPr>
          <p:cNvSpPr>
            <a:spLocks xmlns:a="http://schemas.openxmlformats.org/drawingml/2006/main" noGrp="1"/>
          </p:cNvSpPr>
          <p:nvPr/>
        </p:nvSpPr>
        <p:spPr>
          <a:xfrm xmlns:a="http://schemas.openxmlformats.org/drawingml/2006/main">
            <a:off x="3619500" y="4552950"/>
            <a:ext cx="2143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rmAutofit fontScale="93750"/>
          </a:bodyPr>
          <a:lstStyle xmlns:a="http://schemas.openxmlformats.org/drawingml/2006/main"/>
          <a:p xmlns:a="http://schemas.openxmlformats.org/drawingml/2006/main">
            <a:pPr algn="l">
              <a:defRPr sz="1500" b="0">
                <a:solidFill>
                  <a:srgbClr val="0B1F33"/>
                </a:solidFill>
                <a:latin typeface="Arial"/>
                <a:ea typeface="Arial"/>
                <a:cs typeface="Arial"/>
              </a:defRPr>
            </a:pPr>
            <a:r>
              <a:rPr sz="1500" b="0">
                <a:solidFill>
                  <a:srgbClr val="0B1F33"/>
                </a:solidFill>
                <a:latin typeface="Arial"/>
                <a:ea typeface="Arial"/>
                <a:cs typeface="Arial"/>
              </a:rPr>
              <a:t>Dataset có rung camera, một số outlier trong tập train và các mẫu bình thường xuất hiện ít.</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063c63b88dd4951"/>
          <a:srcRect xmlns:a="http://schemas.openxmlformats.org/drawingml/2006/main" l="11800" t="0" r="11800" b="0"/>
          <a:stretch xmlns:a="http://schemas.openxmlformats.org/drawingml/2006/main">
            <a:fillRect l="0" t="0" r="0" b="0"/>
          </a:stretch>
        </p:blipFill>
        <p:spPr>
          <a:xfrm xmlns:a="http://schemas.openxmlformats.org/drawingml/2006/main">
            <a:off x="6238875" y="1381125"/>
            <a:ext cx="5362575" cy="3943350"/>
          </a:xfrm>
          <a:prstGeom xmlns:a="http://schemas.openxmlformats.org/drawingml/2006/main" prst="roundRect">
            <a:avLst>
              <a:gd name="adj" fmla="val 3865"/>
            </a:avLst>
          </a:prstGeom>
        </p:spPr>
      </p:pic>
      <p:sp>
        <p:nvSpPr>
          <p:cNvPr id="12" name="">
            <a:extLst xmlns:a="http://schemas.openxmlformats.org/drawingml/2006/main">
              <a:ext uri="{FF2B5EF4-FFF2-40B4-BE49-F238E27FC236}">
                <a16:creationId xmlns:a16="http://schemas.microsoft.com/office/drawing/2014/main" id="{54FA237B-F81B-4D84-AA41-6843E4596C51}"/>
              </a:ext>
            </a:extLst>
          </p:cNvPr>
          <p:cNvSpPr>
            <a:spLocks xmlns:a="http://schemas.openxmlformats.org/drawingml/2006/main" noGrp="1"/>
          </p:cNvSpPr>
          <p:nvPr/>
        </p:nvSpPr>
        <p:spPr>
          <a:xfrm xmlns:a="http://schemas.openxmlformats.org/drawingml/2006/main">
            <a:off x="6238875" y="5429250"/>
            <a:ext cx="53625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1275" b="0">
                <a:solidFill>
                  <a:srgbClr val="5F7180"/>
                </a:solidFill>
                <a:latin typeface="Arial"/>
                <a:ea typeface="Arial"/>
                <a:cs typeface="Arial"/>
              </a:defRPr>
            </a:pPr>
            <a:r>
              <a:rPr sz="1275" b="0">
                <a:solidFill>
                  <a:srgbClr val="5F7180"/>
                </a:solidFill>
                <a:latin typeface="Arial"/>
                <a:ea typeface="Arial"/>
                <a:cs typeface="Arial"/>
              </a:rPr>
              <a:t>Ảnh minh họa từ dataset</a:t>
            </a:r>
          </a:p>
        </p:txBody>
      </p:sp>
      <p:sp>
        <p:nvSpPr>
          <p:cNvPr id="13" name="">
            <a:extLst xmlns:a="http://schemas.openxmlformats.org/drawingml/2006/main">
              <a:ext uri="{FF2B5EF4-FFF2-40B4-BE49-F238E27FC236}">
                <a16:creationId xmlns:a16="http://schemas.microsoft.com/office/drawing/2014/main" id="{3F8A47B2-2041-4508-8B33-88E842F8B6A1}"/>
              </a:ext>
            </a:extLst>
          </p:cNvPr>
          <p:cNvSpPr>
            <a:spLocks xmlns:a="http://schemas.openxmlformats.org/drawingml/2006/main" noGrp="1"/>
          </p:cNvSpPr>
          <p:nvPr/>
        </p:nvSpPr>
        <p:spPr>
          <a:xfrm xmlns:a="http://schemas.openxmlformats.org/drawingml/2006/main">
            <a:off x="6238875" y="5876925"/>
            <a:ext cx="53625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275" b="0">
                <a:solidFill>
                  <a:srgbClr val="5F7180"/>
                </a:solidFill>
                <a:latin typeface="Arial"/>
                <a:ea typeface="Arial"/>
                <a:cs typeface="Arial"/>
              </a:defRPr>
            </a:pPr>
            <a:r>
              <a:rPr sz="1275" b="0">
                <a:solidFill>
                  <a:srgbClr val="5F7180"/>
                </a:solidFill>
                <a:latin typeface="Arial"/>
                <a:ea typeface="Arial"/>
                <a:cs typeface="Arial"/>
              </a:rPr>
              <a:t>Nguồn: CUHK Avenue Dataset.</a:t>
            </a:r>
          </a:p>
        </p:txBody>
      </p:sp>
    </p:spTree>
    <p:extLst>
      <p:ext uri="{BB962C8B-B14F-4D97-AF65-F5344CB8AC3E}">
        <p14:creationId xmlns:p14="http://schemas.microsoft.com/office/powerpoint/2010/main" val="1661183427"/>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9A5AF9-1019-4E6D-83B0-5D61928A6B2B}"/>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Chiến lược sử dụng hai dataset</a:t>
            </a:r>
          </a:p>
        </p:txBody>
      </p:sp>
      <p:sp>
        <p:nvSpPr>
          <p:cNvPr id="2" name="">
            <a:extLst xmlns:a="http://schemas.openxmlformats.org/drawingml/2006/main">
              <a:ext uri="{FF2B5EF4-FFF2-40B4-BE49-F238E27FC236}">
                <a16:creationId xmlns:a16="http://schemas.microsoft.com/office/drawing/2014/main" id="{86AAF695-92A4-4C53-ACCB-6EBA1AEE0B5D}"/>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ED5345A1-1273-42A4-9C3E-390527A28FA8}"/>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48D43C5E-F338-47B7-954A-8867E690B01F}"/>
              </a:ext>
            </a:extLst>
          </p:cNvPr>
          <p:cNvSpPr>
            <a:spLocks xmlns:a="http://schemas.openxmlformats.org/drawingml/2006/main" noGrp="1"/>
          </p:cNvSpPr>
          <p:nvPr/>
        </p:nvSpPr>
        <p:spPr>
          <a:xfrm xmlns:a="http://schemas.openxmlformats.org/drawingml/2006/main">
            <a:off x="619125" y="11620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CHIẾN LƯỢC THỰC NGHIỆM ĐỀ XUẤT</a:t>
            </a:r>
          </a:p>
        </p:txBody>
      </p:sp>
      <p:graphicFrame>
        <p:nvGraphicFramePr>
          <p:cNvPr id="13" name=""/>
          <p:cNvGraphicFramePr/>
          <p:nvPr/>
        </p:nvGraphicFramePr>
        <p:xfrm>
          <a:off xmlns:a="http://schemas.openxmlformats.org/drawingml/2006/main" x="619125" y="1571625"/>
          <a:ext xmlns:a="http://schemas.openxmlformats.org/drawingml/2006/main" cx="10953750" cy="3143250"/>
        </p:xfrm>
        <a:graphic xmlns:a="http://schemas.openxmlformats.org/drawingml/2006/main">
          <a:graphicData uri="http://schemas.openxmlformats.org/drawingml/2006/table">
            <a:tbl>
              <a:tblPr/>
              <a:tblGrid>
                <a:gridCol w="2381250"/>
                <a:gridCol w="2381250"/>
                <a:gridCol w="2286000"/>
                <a:gridCol w="3905250"/>
              </a:tblGrid>
              <a:tr h="628650">
                <a:tc>
                  <a:txBody>
                    <a:bodyPr/>
                    <a:lstStyle/>
                    <a:p>
                      <a:r>
                        <a:rPr sz="1425" b="1">
                          <a:solidFill>
                            <a:srgbClr val="FFFFFF"/>
                          </a:solidFill>
                          <a:latin typeface="Arial"/>
                          <a:ea typeface="Arial"/>
                          <a:cs typeface="Arial"/>
                        </a:rPr>
                        <a:t>Thí nghiệm</a:t>
                      </a:r>
                    </a:p>
                  </a:txBody>
                  <a:tcPr marL="66675" marR="66675" marT="57150" marB="57150" anchor="ctr">
                    <a:solidFill>
                      <a:srgbClr val="0B1F33"/>
                    </a:solidFill>
                  </a:tcPr>
                </a:tc>
                <a:tc>
                  <a:txBody>
                    <a:bodyPr/>
                    <a:lstStyle/>
                    <a:p>
                      <a:r>
                        <a:rPr sz="1425" b="1">
                          <a:solidFill>
                            <a:srgbClr val="FFFFFF"/>
                          </a:solidFill>
                          <a:latin typeface="Arial"/>
                          <a:ea typeface="Arial"/>
                          <a:cs typeface="Arial"/>
                        </a:rPr>
                        <a:t>Dữ liệu huấn luyện</a:t>
                      </a:r>
                    </a:p>
                  </a:txBody>
                  <a:tcPr marL="66675" marR="66675" marT="57150" marB="57150" anchor="ctr">
                    <a:solidFill>
                      <a:srgbClr val="0B1F33"/>
                    </a:solidFill>
                  </a:tcPr>
                </a:tc>
                <a:tc>
                  <a:txBody>
                    <a:bodyPr/>
                    <a:lstStyle/>
                    <a:p>
                      <a:r>
                        <a:rPr sz="1425" b="1">
                          <a:solidFill>
                            <a:srgbClr val="FFFFFF"/>
                          </a:solidFill>
                          <a:latin typeface="Arial"/>
                          <a:ea typeface="Arial"/>
                          <a:cs typeface="Arial"/>
                        </a:rPr>
                        <a:t>Dữ liệu kiểm tra</a:t>
                      </a:r>
                    </a:p>
                  </a:txBody>
                  <a:tcPr marL="66675" marR="66675" marT="57150" marB="57150" anchor="ctr">
                    <a:solidFill>
                      <a:srgbClr val="0B1F33"/>
                    </a:solidFill>
                  </a:tcPr>
                </a:tc>
                <a:tc>
                  <a:txBody>
                    <a:bodyPr/>
                    <a:lstStyle/>
                    <a:p>
                      <a:r>
                        <a:rPr sz="1425" b="1">
                          <a:solidFill>
                            <a:srgbClr val="FFFFFF"/>
                          </a:solidFill>
                          <a:latin typeface="Arial"/>
                          <a:ea typeface="Arial"/>
                          <a:cs typeface="Arial"/>
                        </a:rPr>
                        <a:t>Mục đích</a:t>
                      </a:r>
                    </a:p>
                  </a:txBody>
                  <a:tcPr marL="66675" marR="66675" marT="57150" marB="57150" anchor="ctr">
                    <a:solidFill>
                      <a:srgbClr val="0B1F33"/>
                    </a:solidFill>
                  </a:tcPr>
                </a:tc>
              </a:tr>
              <a:tr h="809625">
                <a:tc>
                  <a:txBody>
                    <a:bodyPr/>
                    <a:lstStyle/>
                    <a:p>
                      <a:r>
                        <a:rPr sz="1425">
                          <a:solidFill>
                            <a:srgbClr val="132B3F"/>
                          </a:solidFill>
                          <a:latin typeface="Arial"/>
                          <a:ea typeface="Arial"/>
                          <a:cs typeface="Arial"/>
                        </a:rPr>
                        <a:t>Thí nghiệm chính</a:t>
                      </a:r>
                    </a:p>
                  </a:txBody>
                  <a:tcPr marL="66675" marR="66675" marT="47625" marB="47625" anchor="ctr">
                    <a:solidFill>
                      <a:srgbClr val="DDF3F2"/>
                    </a:solidFill>
                  </a:tcPr>
                </a:tc>
                <a:tc>
                  <a:txBody>
                    <a:bodyPr/>
                    <a:lstStyle/>
                    <a:p>
                      <a:r>
                        <a:rPr sz="1425">
                          <a:solidFill>
                            <a:srgbClr val="132B3F"/>
                          </a:solidFill>
                          <a:latin typeface="Arial"/>
                          <a:ea typeface="Arial"/>
                          <a:cs typeface="Arial"/>
                        </a:rPr>
                        <a:t>Ped2 Train</a:t>
                      </a:r>
                    </a:p>
                  </a:txBody>
                  <a:tcPr marL="66675" marR="66675" marT="47625" marB="47625" anchor="ctr">
                    <a:solidFill>
                      <a:srgbClr val="DDF3F2"/>
                    </a:solidFill>
                  </a:tcPr>
                </a:tc>
                <a:tc>
                  <a:txBody>
                    <a:bodyPr/>
                    <a:lstStyle/>
                    <a:p>
                      <a:r>
                        <a:rPr sz="1425">
                          <a:solidFill>
                            <a:srgbClr val="132B3F"/>
                          </a:solidFill>
                          <a:latin typeface="Arial"/>
                          <a:ea typeface="Arial"/>
                          <a:cs typeface="Arial"/>
                        </a:rPr>
                        <a:t>Ped2 Test</a:t>
                      </a:r>
                    </a:p>
                  </a:txBody>
                  <a:tcPr marL="66675" marR="66675" marT="47625" marB="47625" anchor="ctr">
                    <a:solidFill>
                      <a:srgbClr val="DDF3F2"/>
                    </a:solidFill>
                  </a:tcPr>
                </a:tc>
                <a:tc>
                  <a:txBody>
                    <a:bodyPr/>
                    <a:lstStyle/>
                    <a:p>
                      <a:r>
                        <a:rPr sz="1425">
                          <a:solidFill>
                            <a:srgbClr val="132B3F"/>
                          </a:solidFill>
                          <a:latin typeface="Arial"/>
                          <a:ea typeface="Arial"/>
                          <a:cs typeface="Arial"/>
                        </a:rPr>
                        <a:t>Phát triển và kiểm tra mô hình</a:t>
                      </a:r>
                    </a:p>
                  </a:txBody>
                  <a:tcPr marL="66675" marR="66675" marT="47625" marB="47625" anchor="ctr">
                    <a:solidFill>
                      <a:srgbClr val="DDF3F2"/>
                    </a:solidFill>
                  </a:tcPr>
                </a:tc>
              </a:tr>
              <a:tr h="809625">
                <a:tc>
                  <a:txBody>
                    <a:bodyPr/>
                    <a:lstStyle/>
                    <a:p>
                      <a:r>
                        <a:rPr sz="1425">
                          <a:solidFill>
                            <a:srgbClr val="132B3F"/>
                          </a:solidFill>
                          <a:latin typeface="Arial"/>
                          <a:ea typeface="Arial"/>
                          <a:cs typeface="Arial"/>
                        </a:rPr>
                        <a:t>Xác nhận dataset thứ hai</a:t>
                      </a:r>
                    </a:p>
                  </a:txBody>
                  <a:tcPr marL="66675" marR="66675" marT="47625" marB="47625" anchor="ctr">
                    <a:solidFill>
                      <a:srgbClr val="FFFFFF"/>
                    </a:solidFill>
                  </a:tcPr>
                </a:tc>
                <a:tc>
                  <a:txBody>
                    <a:bodyPr/>
                    <a:lstStyle/>
                    <a:p>
                      <a:r>
                        <a:rPr sz="1425">
                          <a:solidFill>
                            <a:srgbClr val="132B3F"/>
                          </a:solidFill>
                          <a:latin typeface="Arial"/>
                          <a:ea typeface="Arial"/>
                          <a:cs typeface="Arial"/>
                        </a:rPr>
                        <a:t>Avenue Train</a:t>
                      </a:r>
                    </a:p>
                  </a:txBody>
                  <a:tcPr marL="66675" marR="66675" marT="47625" marB="47625" anchor="ctr">
                    <a:solidFill>
                      <a:srgbClr val="FFFFFF"/>
                    </a:solidFill>
                  </a:tcPr>
                </a:tc>
                <a:tc>
                  <a:txBody>
                    <a:bodyPr/>
                    <a:lstStyle/>
                    <a:p>
                      <a:r>
                        <a:rPr sz="1425">
                          <a:solidFill>
                            <a:srgbClr val="132B3F"/>
                          </a:solidFill>
                          <a:latin typeface="Arial"/>
                          <a:ea typeface="Arial"/>
                          <a:cs typeface="Arial"/>
                        </a:rPr>
                        <a:t>Avenue Test</a:t>
                      </a:r>
                    </a:p>
                  </a:txBody>
                  <a:tcPr marL="66675" marR="66675" marT="47625" marB="47625" anchor="ctr">
                    <a:solidFill>
                      <a:srgbClr val="FFFFFF"/>
                    </a:solidFill>
                  </a:tcPr>
                </a:tc>
                <a:tc>
                  <a:txBody>
                    <a:bodyPr/>
                    <a:lstStyle/>
                    <a:p>
                      <a:r>
                        <a:rPr sz="1425">
                          <a:solidFill>
                            <a:srgbClr val="132B3F"/>
                          </a:solidFill>
                          <a:latin typeface="Arial"/>
                          <a:ea typeface="Arial"/>
                          <a:cs typeface="Arial"/>
                        </a:rPr>
                        <a:t>Kiểm tra tính ổn định của phương pháp</a:t>
                      </a:r>
                    </a:p>
                  </a:txBody>
                  <a:tcPr marL="66675" marR="66675" marT="47625" marB="47625" anchor="ctr">
                    <a:solidFill>
                      <a:srgbClr val="FFFFFF"/>
                    </a:solidFill>
                  </a:tcPr>
                </a:tc>
              </a:tr>
              <a:tr h="895350">
                <a:tc>
                  <a:txBody>
                    <a:bodyPr/>
                    <a:lstStyle/>
                    <a:p>
                      <a:r>
                        <a:rPr sz="1425">
                          <a:solidFill>
                            <a:srgbClr val="132B3F"/>
                          </a:solidFill>
                          <a:latin typeface="Arial"/>
                          <a:ea typeface="Arial"/>
                          <a:cs typeface="Arial"/>
                        </a:rPr>
                        <a:t>Thí nghiệm nâng cao</a:t>
                      </a:r>
                    </a:p>
                  </a:txBody>
                  <a:tcPr marL="66675" marR="66675" marT="47625" marB="47625" anchor="ctr">
                    <a:solidFill>
                      <a:srgbClr val="FFF1D4"/>
                    </a:solidFill>
                  </a:tcPr>
                </a:tc>
                <a:tc>
                  <a:txBody>
                    <a:bodyPr/>
                    <a:lstStyle/>
                    <a:p>
                      <a:r>
                        <a:rPr sz="1425">
                          <a:solidFill>
                            <a:srgbClr val="132B3F"/>
                          </a:solidFill>
                          <a:latin typeface="Arial"/>
                          <a:ea typeface="Arial"/>
                          <a:cs typeface="Arial"/>
                        </a:rPr>
                        <a:t>Ped2 Train</a:t>
                      </a:r>
                    </a:p>
                  </a:txBody>
                  <a:tcPr marL="66675" marR="66675" marT="47625" marB="47625" anchor="ctr">
                    <a:solidFill>
                      <a:srgbClr val="FFF1D4"/>
                    </a:solidFill>
                  </a:tcPr>
                </a:tc>
                <a:tc>
                  <a:txBody>
                    <a:bodyPr/>
                    <a:lstStyle/>
                    <a:p>
                      <a:r>
                        <a:rPr sz="1425">
                          <a:solidFill>
                            <a:srgbClr val="132B3F"/>
                          </a:solidFill>
                          <a:latin typeface="Arial"/>
                          <a:ea typeface="Arial"/>
                          <a:cs typeface="Arial"/>
                        </a:rPr>
                        <a:t>Avenue Test</a:t>
                      </a:r>
                    </a:p>
                  </a:txBody>
                  <a:tcPr marL="66675" marR="66675" marT="47625" marB="47625" anchor="ctr">
                    <a:solidFill>
                      <a:srgbClr val="FFF1D4"/>
                    </a:solidFill>
                  </a:tcPr>
                </a:tc>
                <a:tc>
                  <a:txBody>
                    <a:bodyPr/>
                    <a:lstStyle/>
                    <a:p>
                      <a:r>
                        <a:rPr sz="1425">
                          <a:solidFill>
                            <a:srgbClr val="132B3F"/>
                          </a:solidFill>
                          <a:latin typeface="Arial"/>
                          <a:ea typeface="Arial"/>
                          <a:cs typeface="Arial"/>
                        </a:rPr>
                        <a:t>Đánh giá khả năng tổng quát hóa chéo miền</a:t>
                      </a:r>
                    </a:p>
                  </a:txBody>
                  <a:tcPr marL="66675" marR="66675" marT="47625" marB="47625" anchor="ctr">
                    <a:solidFill>
                      <a:srgbClr val="FFF1D4"/>
                    </a:solidFill>
                  </a:tcPr>
                </a:tc>
              </a:tr>
            </a:tbl>
          </a:graphicData>
        </a:graphic>
      </p:graphicFrame>
      <p:sp>
        <p:nvSpPr>
          <p:cNvPr id="6" name="">
            <a:extLst xmlns:a="http://schemas.openxmlformats.org/drawingml/2006/main">
              <a:ext uri="{FF2B5EF4-FFF2-40B4-BE49-F238E27FC236}">
                <a16:creationId xmlns:a16="http://schemas.microsoft.com/office/drawing/2014/main" id="{1F58904F-EA90-4D63-A4D0-2ADBEEC4046B}"/>
              </a:ext>
            </a:extLst>
          </p:cNvPr>
          <p:cNvSpPr>
            <a:spLocks xmlns:a="http://schemas.openxmlformats.org/drawingml/2006/main" noGrp="1"/>
          </p:cNvSpPr>
          <p:nvPr/>
        </p:nvSpPr>
        <p:spPr>
          <a:xfrm xmlns:a="http://schemas.openxmlformats.org/drawingml/2006/main">
            <a:off x="619125" y="5143500"/>
            <a:ext cx="10953750" cy="981075"/>
          </a:xfrm>
          <a:prstGeom xmlns:a="http://schemas.openxmlformats.org/drawingml/2006/main" prst="roundRect">
            <a:avLst>
              <a:gd name="adj" fmla="val 11650"/>
            </a:avLst>
          </a:prstGeom>
          <a:solidFill xmlns:a="http://schemas.openxmlformats.org/drawingml/2006/main">
            <a:srgbClr val="FFF1D4"/>
          </a:solidFill>
          <a:ln xmlns:a="http://schemas.openxmlformats.org/drawingml/2006/main" w="14288">
            <a:solidFill>
              <a:srgbClr val="F59E0B"/>
            </a:solidFill>
            <a:prstDash val="solid"/>
          </a:ln>
        </p:spPr>
      </p:sp>
      <p:sp>
        <p:nvSpPr>
          <p:cNvPr id="7" name="">
            <a:extLst xmlns:a="http://schemas.openxmlformats.org/drawingml/2006/main">
              <a:ext uri="{FF2B5EF4-FFF2-40B4-BE49-F238E27FC236}">
                <a16:creationId xmlns:a16="http://schemas.microsoft.com/office/drawing/2014/main" id="{CDDDC6C3-BECE-4CB5-A235-C0B394A023DB}"/>
              </a:ext>
            </a:extLst>
          </p:cNvPr>
          <p:cNvSpPr>
            <a:spLocks xmlns:a="http://schemas.openxmlformats.org/drawingml/2006/main" noGrp="1"/>
          </p:cNvSpPr>
          <p:nvPr/>
        </p:nvSpPr>
        <p:spPr>
          <a:xfrm xmlns:a="http://schemas.openxmlformats.org/drawingml/2006/main">
            <a:off x="838200" y="52768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425" b="1">
                <a:solidFill>
                  <a:srgbClr val="A25D00"/>
                </a:solidFill>
                <a:latin typeface="Arial"/>
                <a:ea typeface="Arial"/>
                <a:cs typeface="Arial"/>
              </a:defRPr>
            </a:pPr>
            <a:r>
              <a:rPr sz="1425" b="1">
                <a:solidFill>
                  <a:srgbClr val="A25D00"/>
                </a:solidFill>
                <a:latin typeface="Arial"/>
                <a:ea typeface="Arial"/>
                <a:cs typeface="Arial"/>
              </a:rPr>
              <a:t>RỦI RO CROSS-DOMAIN</a:t>
            </a:r>
          </a:p>
        </p:txBody>
      </p:sp>
      <p:sp>
        <p:nvSpPr>
          <p:cNvPr id="8" name="">
            <a:extLst xmlns:a="http://schemas.openxmlformats.org/drawingml/2006/main">
              <a:ext uri="{FF2B5EF4-FFF2-40B4-BE49-F238E27FC236}">
                <a16:creationId xmlns:a16="http://schemas.microsoft.com/office/drawing/2014/main" id="{CAE3F394-76AF-4F37-AD3C-81ED0A566F0F}"/>
              </a:ext>
            </a:extLst>
          </p:cNvPr>
          <p:cNvSpPr>
            <a:spLocks xmlns:a="http://schemas.openxmlformats.org/drawingml/2006/main" noGrp="1"/>
          </p:cNvSpPr>
          <p:nvPr/>
        </p:nvSpPr>
        <p:spPr>
          <a:xfrm xmlns:a="http://schemas.openxmlformats.org/drawingml/2006/main">
            <a:off x="838200" y="5572125"/>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defRPr sz="1650" b="1">
                <a:solidFill>
                  <a:srgbClr val="0B1F33"/>
                </a:solidFill>
                <a:latin typeface="Arial"/>
                <a:ea typeface="Arial"/>
                <a:cs typeface="Arial"/>
              </a:defRPr>
            </a:pPr>
            <a:r>
              <a:rPr sz="1650" b="1">
                <a:solidFill>
                  <a:srgbClr val="0B1F33"/>
                </a:solidFill>
                <a:latin typeface="Arial"/>
                <a:ea typeface="Arial"/>
                <a:cs typeface="Arial"/>
              </a:rPr>
              <a:t>Khác biệt camera và bối cảnh có thể tạo anomaly score cao ngay cả khi hành vi vẫn bình thường.</a:t>
            </a:r>
          </a:p>
        </p:txBody>
      </p:sp>
    </p:spTree>
    <p:extLst>
      <p:ext uri="{BB962C8B-B14F-4D97-AF65-F5344CB8AC3E}">
        <p14:creationId xmlns:p14="http://schemas.microsoft.com/office/powerpoint/2010/main" val="1568814839"/>
      </p:ext>
    </p:extLst>
  </p:cSld>
</p:sld>
</file>

<file path=ppt/slides/slide8.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2473F48F-3129-4AB1-8603-56FAEAF62B35}"/>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Conv-Autoencoder</a:t>
            </a:r>
          </a:p>
        </p:txBody>
      </p:sp>
      <p:sp>
        <p:nvSpPr>
          <p:cNvPr id="2" name="">
            <a:extLst xmlns:a="http://schemas.openxmlformats.org/drawingml/2006/main">
              <a:ext uri="{FF2B5EF4-FFF2-40B4-BE49-F238E27FC236}">
                <a16:creationId xmlns:a16="http://schemas.microsoft.com/office/drawing/2014/main" id="{1A2D32E9-4BA9-4107-A07B-7AECF04F1E3C}"/>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AC82FDC9-B567-44D7-8B22-AE5C3E035907}"/>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4A16F207-A336-439D-8F5A-B0EB13492DCF}"/>
              </a:ext>
            </a:extLst>
          </p:cNvPr>
          <p:cNvSpPr>
            <a:spLocks xmlns:a="http://schemas.openxmlformats.org/drawingml/2006/main" noGrp="1"/>
          </p:cNvSpPr>
          <p:nvPr/>
        </p:nvSpPr>
        <p:spPr>
          <a:xfrm xmlns:a="http://schemas.openxmlformats.org/drawingml/2006/main">
            <a:off x="619125" y="1714500"/>
            <a:ext cx="1571625" cy="1428750"/>
          </a:xfrm>
          <a:prstGeom xmlns:a="http://schemas.openxmlformats.org/drawingml/2006/main" prst="roundRect">
            <a:avLst>
              <a:gd name="adj" fmla="val 8000"/>
            </a:avLst>
          </a:prstGeom>
          <a:solidFill xmlns:a="http://schemas.openxmlformats.org/drawingml/2006/main">
            <a:srgbClr val="DDF3F2"/>
          </a:solidFill>
          <a:ln xmlns:a="http://schemas.openxmlformats.org/drawingml/2006/main" w="19050">
            <a:solidFill>
              <a:srgbClr val="159E9C"/>
            </a:solidFill>
            <a:prstDash val="solid"/>
          </a:ln>
        </p:spPr>
      </p:sp>
      <p:sp>
        <p:nvSpPr>
          <p:cNvPr id="5" name="">
            <a:extLst xmlns:a="http://schemas.openxmlformats.org/drawingml/2006/main">
              <a:ext uri="{FF2B5EF4-FFF2-40B4-BE49-F238E27FC236}">
                <a16:creationId xmlns:a16="http://schemas.microsoft.com/office/drawing/2014/main" id="{CB9CDE59-EA06-4D4F-9FBF-B8E241CF20E6}"/>
              </a:ext>
            </a:extLst>
          </p:cNvPr>
          <p:cNvSpPr>
            <a:spLocks xmlns:a="http://schemas.openxmlformats.org/drawingml/2006/main" noGrp="1"/>
          </p:cNvSpPr>
          <p:nvPr/>
        </p:nvSpPr>
        <p:spPr>
          <a:xfrm xmlns:a="http://schemas.openxmlformats.org/drawingml/2006/main">
            <a:off x="733425" y="2171700"/>
            <a:ext cx="13430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defRPr sz="1275" b="1">
                <a:solidFill>
                  <a:srgbClr val="0B1F33"/>
                </a:solidFill>
                <a:latin typeface="Arial"/>
                <a:ea typeface="Arial"/>
                <a:cs typeface="Arial"/>
              </a:defRPr>
            </a:pPr>
            <a:r>
              <a:rPr sz="1275" b="1">
                <a:solidFill>
                  <a:srgbClr val="0B1F33"/>
                </a:solidFill>
                <a:latin typeface="Arial"/>
                <a:ea typeface="Arial"/>
                <a:cs typeface="Arial"/>
              </a:rPr>
              <a:t>FRAME ĐẦU VÀO</a:t>
            </a:r>
          </a:p>
        </p:txBody>
      </p:sp>
      <p:sp>
        <p:nvSpPr>
          <p:cNvPr id="6" name="">
            <a:extLst xmlns:a="http://schemas.openxmlformats.org/drawingml/2006/main">
              <a:ext uri="{FF2B5EF4-FFF2-40B4-BE49-F238E27FC236}">
                <a16:creationId xmlns:a16="http://schemas.microsoft.com/office/drawing/2014/main" id="{90441F71-B493-46FC-BB0E-8A8C66BE4B27}"/>
              </a:ext>
            </a:extLst>
          </p:cNvPr>
          <p:cNvSpPr>
            <a:spLocks xmlns:a="http://schemas.openxmlformats.org/drawingml/2006/main" noGrp="1"/>
          </p:cNvSpPr>
          <p:nvPr/>
        </p:nvSpPr>
        <p:spPr>
          <a:xfrm xmlns:a="http://schemas.openxmlformats.org/drawingml/2006/main">
            <a:off x="2619375" y="1714500"/>
            <a:ext cx="1571625" cy="1428750"/>
          </a:xfrm>
          <a:prstGeom xmlns:a="http://schemas.openxmlformats.org/drawingml/2006/main" prst="roundRect">
            <a:avLst>
              <a:gd name="adj" fmla="val 8000"/>
            </a:avLst>
          </a:prstGeom>
          <a:solidFill xmlns:a="http://schemas.openxmlformats.org/drawingml/2006/main">
            <a:srgbClr val="0B1F33"/>
          </a:solidFill>
          <a:ln xmlns:a="http://schemas.openxmlformats.org/drawingml/2006/main" w="19050">
            <a:solidFill>
              <a:srgbClr val="0B1F33"/>
            </a:solidFill>
            <a:prstDash val="solid"/>
          </a:ln>
        </p:spPr>
      </p:sp>
      <p:sp>
        <p:nvSpPr>
          <p:cNvPr id="7" name="">
            <a:extLst xmlns:a="http://schemas.openxmlformats.org/drawingml/2006/main">
              <a:ext uri="{FF2B5EF4-FFF2-40B4-BE49-F238E27FC236}">
                <a16:creationId xmlns:a16="http://schemas.microsoft.com/office/drawing/2014/main" id="{AE87906B-D858-4C11-A89A-76047B3E37F9}"/>
              </a:ext>
            </a:extLst>
          </p:cNvPr>
          <p:cNvSpPr>
            <a:spLocks xmlns:a="http://schemas.openxmlformats.org/drawingml/2006/main" noGrp="1"/>
          </p:cNvSpPr>
          <p:nvPr/>
        </p:nvSpPr>
        <p:spPr>
          <a:xfrm xmlns:a="http://schemas.openxmlformats.org/drawingml/2006/main">
            <a:off x="2733675" y="2171700"/>
            <a:ext cx="13430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CNN ENCODER</a:t>
            </a:r>
          </a:p>
        </p:txBody>
      </p:sp>
      <p:sp>
        <p:nvSpPr>
          <p:cNvPr id="8" name="">
            <a:extLst xmlns:a="http://schemas.openxmlformats.org/drawingml/2006/main">
              <a:ext uri="{FF2B5EF4-FFF2-40B4-BE49-F238E27FC236}">
                <a16:creationId xmlns:a16="http://schemas.microsoft.com/office/drawing/2014/main" id="{FB8E31D9-A731-4DEA-828A-3A54FC2C28FA}"/>
              </a:ext>
            </a:extLst>
          </p:cNvPr>
          <p:cNvSpPr>
            <a:spLocks xmlns:a="http://schemas.openxmlformats.org/drawingml/2006/main" noGrp="1"/>
          </p:cNvSpPr>
          <p:nvPr/>
        </p:nvSpPr>
        <p:spPr>
          <a:xfrm xmlns:a="http://schemas.openxmlformats.org/drawingml/2006/main">
            <a:off x="4619625" y="1714500"/>
            <a:ext cx="1143000" cy="1428750"/>
          </a:xfrm>
          <a:prstGeom xmlns:a="http://schemas.openxmlformats.org/drawingml/2006/main" prst="roundRect">
            <a:avLst>
              <a:gd name="adj" fmla="val 10000"/>
            </a:avLst>
          </a:prstGeom>
          <a:solidFill xmlns:a="http://schemas.openxmlformats.org/drawingml/2006/main">
            <a:srgbClr val="E8EEF2"/>
          </a:solidFill>
          <a:ln xmlns:a="http://schemas.openxmlformats.org/drawingml/2006/main" w="19050">
            <a:solidFill>
              <a:srgbClr val="CBD6DE"/>
            </a:solidFill>
            <a:prstDash val="solid"/>
          </a:ln>
        </p:spPr>
      </p:sp>
      <p:sp>
        <p:nvSpPr>
          <p:cNvPr id="9" name="">
            <a:extLst xmlns:a="http://schemas.openxmlformats.org/drawingml/2006/main">
              <a:ext uri="{FF2B5EF4-FFF2-40B4-BE49-F238E27FC236}">
                <a16:creationId xmlns:a16="http://schemas.microsoft.com/office/drawing/2014/main" id="{9EE732CA-2917-4364-B8B5-E26E040EA61D}"/>
              </a:ext>
            </a:extLst>
          </p:cNvPr>
          <p:cNvSpPr>
            <a:spLocks xmlns:a="http://schemas.openxmlformats.org/drawingml/2006/main" noGrp="1"/>
          </p:cNvSpPr>
          <p:nvPr/>
        </p:nvSpPr>
        <p:spPr>
          <a:xfrm xmlns:a="http://schemas.openxmlformats.org/drawingml/2006/main">
            <a:off x="4733925" y="2171700"/>
            <a:ext cx="914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defRPr sz="1350" b="1">
                <a:solidFill>
                  <a:srgbClr val="0B1F33"/>
                </a:solidFill>
                <a:latin typeface="Arial"/>
                <a:ea typeface="Arial"/>
                <a:cs typeface="Arial"/>
              </a:defRPr>
            </a:pPr>
            <a:r>
              <a:rPr sz="1350" b="1">
                <a:solidFill>
                  <a:srgbClr val="0B1F33"/>
                </a:solidFill>
                <a:latin typeface="Arial"/>
                <a:ea typeface="Arial"/>
                <a:cs typeface="Arial"/>
              </a:rPr>
              <a:t>FEATURE</a:t>
            </a:r>
          </a:p>
        </p:txBody>
      </p:sp>
      <p:sp>
        <p:nvSpPr>
          <p:cNvPr id="10" name="">
            <a:extLst xmlns:a="http://schemas.openxmlformats.org/drawingml/2006/main">
              <a:ext uri="{FF2B5EF4-FFF2-40B4-BE49-F238E27FC236}">
                <a16:creationId xmlns:a16="http://schemas.microsoft.com/office/drawing/2014/main" id="{D446E070-1CEE-4453-A020-2477C02DC42E}"/>
              </a:ext>
            </a:extLst>
          </p:cNvPr>
          <p:cNvSpPr>
            <a:spLocks xmlns:a="http://schemas.openxmlformats.org/drawingml/2006/main" noGrp="1"/>
          </p:cNvSpPr>
          <p:nvPr/>
        </p:nvSpPr>
        <p:spPr>
          <a:xfrm xmlns:a="http://schemas.openxmlformats.org/drawingml/2006/main">
            <a:off x="4933950" y="1885950"/>
            <a:ext cx="123825" cy="123825"/>
          </a:xfrm>
          <a:prstGeom xmlns:a="http://schemas.openxmlformats.org/drawingml/2006/main" prst="rect">
            <a:avLst/>
          </a:prstGeom>
          <a:solidFill xmlns:a="http://schemas.openxmlformats.org/drawingml/2006/main">
            <a:srgbClr val="FFFFFF"/>
          </a:solidFill>
          <a:ln xmlns:a="http://schemas.openxmlformats.org/drawingml/2006/main" w="7620">
            <a:solidFill>
              <a:srgbClr val="159E9C"/>
            </a:solidFill>
            <a:prstDash val="solid"/>
          </a:ln>
        </p:spPr>
      </p:sp>
      <p:sp>
        <p:nvSpPr>
          <p:cNvPr id="11" name="">
            <a:extLst xmlns:a="http://schemas.openxmlformats.org/drawingml/2006/main">
              <a:ext uri="{FF2B5EF4-FFF2-40B4-BE49-F238E27FC236}">
                <a16:creationId xmlns:a16="http://schemas.microsoft.com/office/drawing/2014/main" id="{18082101-E80A-402E-B03C-2450063E6EBB}"/>
              </a:ext>
            </a:extLst>
          </p:cNvPr>
          <p:cNvSpPr>
            <a:spLocks xmlns:a="http://schemas.openxmlformats.org/drawingml/2006/main" noGrp="1"/>
          </p:cNvSpPr>
          <p:nvPr/>
        </p:nvSpPr>
        <p:spPr>
          <a:xfrm xmlns:a="http://schemas.openxmlformats.org/drawingml/2006/main">
            <a:off x="5105400" y="1885950"/>
            <a:ext cx="123825" cy="123825"/>
          </a:xfrm>
          <a:prstGeom xmlns:a="http://schemas.openxmlformats.org/drawingml/2006/main" prst="rect">
            <a:avLst/>
          </a:prstGeom>
          <a:solidFill xmlns:a="http://schemas.openxmlformats.org/drawingml/2006/main">
            <a:srgbClr val="FFFFFF"/>
          </a:solidFill>
          <a:ln xmlns:a="http://schemas.openxmlformats.org/drawingml/2006/main" w="7620">
            <a:solidFill>
              <a:srgbClr val="159E9C"/>
            </a:solidFill>
            <a:prstDash val="solid"/>
          </a:ln>
        </p:spPr>
      </p:sp>
      <p:sp>
        <p:nvSpPr>
          <p:cNvPr id="12" name="">
            <a:extLst xmlns:a="http://schemas.openxmlformats.org/drawingml/2006/main">
              <a:ext uri="{FF2B5EF4-FFF2-40B4-BE49-F238E27FC236}">
                <a16:creationId xmlns:a16="http://schemas.microsoft.com/office/drawing/2014/main" id="{7AE0EAFF-239A-4799-8A95-3D3535E21179}"/>
              </a:ext>
            </a:extLst>
          </p:cNvPr>
          <p:cNvSpPr>
            <a:spLocks xmlns:a="http://schemas.openxmlformats.org/drawingml/2006/main" noGrp="1"/>
          </p:cNvSpPr>
          <p:nvPr/>
        </p:nvSpPr>
        <p:spPr>
          <a:xfrm xmlns:a="http://schemas.openxmlformats.org/drawingml/2006/main">
            <a:off x="5276850" y="1885950"/>
            <a:ext cx="123825" cy="123825"/>
          </a:xfrm>
          <a:prstGeom xmlns:a="http://schemas.openxmlformats.org/drawingml/2006/main" prst="rect">
            <a:avLst/>
          </a:prstGeom>
          <a:solidFill xmlns:a="http://schemas.openxmlformats.org/drawingml/2006/main">
            <a:srgbClr val="FFFFFF"/>
          </a:solidFill>
          <a:ln xmlns:a="http://schemas.openxmlformats.org/drawingml/2006/main" w="7620">
            <a:solidFill>
              <a:srgbClr val="159E9C"/>
            </a:solidFill>
            <a:prstDash val="solid"/>
          </a:ln>
        </p:spPr>
      </p:sp>
      <p:sp>
        <p:nvSpPr>
          <p:cNvPr id="13" name="">
            <a:extLst xmlns:a="http://schemas.openxmlformats.org/drawingml/2006/main">
              <a:ext uri="{FF2B5EF4-FFF2-40B4-BE49-F238E27FC236}">
                <a16:creationId xmlns:a16="http://schemas.microsoft.com/office/drawing/2014/main" id="{72ADA8AC-8B35-4169-959D-608BC9487974}"/>
              </a:ext>
            </a:extLst>
          </p:cNvPr>
          <p:cNvSpPr>
            <a:spLocks xmlns:a="http://schemas.openxmlformats.org/drawingml/2006/main" noGrp="1"/>
          </p:cNvSpPr>
          <p:nvPr/>
        </p:nvSpPr>
        <p:spPr>
          <a:xfrm xmlns:a="http://schemas.openxmlformats.org/drawingml/2006/main">
            <a:off x="4933950" y="2057400"/>
            <a:ext cx="123825" cy="123825"/>
          </a:xfrm>
          <a:prstGeom xmlns:a="http://schemas.openxmlformats.org/drawingml/2006/main" prst="rect">
            <a:avLst/>
          </a:prstGeom>
          <a:solidFill xmlns:a="http://schemas.openxmlformats.org/drawingml/2006/main">
            <a:srgbClr val="FFFFFF"/>
          </a:solidFill>
          <a:ln xmlns:a="http://schemas.openxmlformats.org/drawingml/2006/main" w="7620">
            <a:solidFill>
              <a:srgbClr val="159E9C"/>
            </a:solidFill>
            <a:prstDash val="solid"/>
          </a:ln>
        </p:spPr>
      </p:sp>
      <p:sp>
        <p:nvSpPr>
          <p:cNvPr id="14" name="">
            <a:extLst xmlns:a="http://schemas.openxmlformats.org/drawingml/2006/main">
              <a:ext uri="{FF2B5EF4-FFF2-40B4-BE49-F238E27FC236}">
                <a16:creationId xmlns:a16="http://schemas.microsoft.com/office/drawing/2014/main" id="{18693F70-C7D8-44C7-AA58-C87D2A178D39}"/>
              </a:ext>
            </a:extLst>
          </p:cNvPr>
          <p:cNvSpPr>
            <a:spLocks xmlns:a="http://schemas.openxmlformats.org/drawingml/2006/main" noGrp="1"/>
          </p:cNvSpPr>
          <p:nvPr/>
        </p:nvSpPr>
        <p:spPr>
          <a:xfrm xmlns:a="http://schemas.openxmlformats.org/drawingml/2006/main">
            <a:off x="5105400" y="2057400"/>
            <a:ext cx="123825" cy="123825"/>
          </a:xfrm>
          <a:prstGeom xmlns:a="http://schemas.openxmlformats.org/drawingml/2006/main" prst="rect">
            <a:avLst/>
          </a:prstGeom>
          <a:solidFill xmlns:a="http://schemas.openxmlformats.org/drawingml/2006/main">
            <a:srgbClr val="159E9C"/>
          </a:solidFill>
          <a:ln xmlns:a="http://schemas.openxmlformats.org/drawingml/2006/main" w="7620">
            <a:solidFill>
              <a:srgbClr val="159E9C"/>
            </a:solidFill>
            <a:prstDash val="solid"/>
          </a:ln>
        </p:spPr>
      </p:sp>
      <p:sp>
        <p:nvSpPr>
          <p:cNvPr id="15" name="">
            <a:extLst xmlns:a="http://schemas.openxmlformats.org/drawingml/2006/main">
              <a:ext uri="{FF2B5EF4-FFF2-40B4-BE49-F238E27FC236}">
                <a16:creationId xmlns:a16="http://schemas.microsoft.com/office/drawing/2014/main" id="{899507B6-F309-483B-B1FD-89717F471DB2}"/>
              </a:ext>
            </a:extLst>
          </p:cNvPr>
          <p:cNvSpPr>
            <a:spLocks xmlns:a="http://schemas.openxmlformats.org/drawingml/2006/main" noGrp="1"/>
          </p:cNvSpPr>
          <p:nvPr/>
        </p:nvSpPr>
        <p:spPr>
          <a:xfrm xmlns:a="http://schemas.openxmlformats.org/drawingml/2006/main">
            <a:off x="5276850" y="2057400"/>
            <a:ext cx="123825" cy="123825"/>
          </a:xfrm>
          <a:prstGeom xmlns:a="http://schemas.openxmlformats.org/drawingml/2006/main" prst="rect">
            <a:avLst/>
          </a:prstGeom>
          <a:solidFill xmlns:a="http://schemas.openxmlformats.org/drawingml/2006/main">
            <a:srgbClr val="FFFFFF"/>
          </a:solidFill>
          <a:ln xmlns:a="http://schemas.openxmlformats.org/drawingml/2006/main" w="7620">
            <a:solidFill>
              <a:srgbClr val="159E9C"/>
            </a:solidFill>
            <a:prstDash val="solid"/>
          </a:ln>
        </p:spPr>
      </p:sp>
      <p:sp>
        <p:nvSpPr>
          <p:cNvPr id="16" name="">
            <a:extLst xmlns:a="http://schemas.openxmlformats.org/drawingml/2006/main">
              <a:ext uri="{FF2B5EF4-FFF2-40B4-BE49-F238E27FC236}">
                <a16:creationId xmlns:a16="http://schemas.microsoft.com/office/drawing/2014/main" id="{4DC8BBF4-7375-4EEB-9BF4-9EC4D2D2437E}"/>
              </a:ext>
            </a:extLst>
          </p:cNvPr>
          <p:cNvSpPr>
            <a:spLocks xmlns:a="http://schemas.openxmlformats.org/drawingml/2006/main" noGrp="1"/>
          </p:cNvSpPr>
          <p:nvPr/>
        </p:nvSpPr>
        <p:spPr>
          <a:xfrm xmlns:a="http://schemas.openxmlformats.org/drawingml/2006/main">
            <a:off x="4933950" y="2228850"/>
            <a:ext cx="123825" cy="123825"/>
          </a:xfrm>
          <a:prstGeom xmlns:a="http://schemas.openxmlformats.org/drawingml/2006/main" prst="rect">
            <a:avLst/>
          </a:prstGeom>
          <a:solidFill xmlns:a="http://schemas.openxmlformats.org/drawingml/2006/main">
            <a:srgbClr val="FFFFFF"/>
          </a:solidFill>
          <a:ln xmlns:a="http://schemas.openxmlformats.org/drawingml/2006/main" w="7620">
            <a:solidFill>
              <a:srgbClr val="159E9C"/>
            </a:solidFill>
            <a:prstDash val="solid"/>
          </a:ln>
        </p:spPr>
      </p:sp>
      <p:sp>
        <p:nvSpPr>
          <p:cNvPr id="17" name="">
            <a:extLst xmlns:a="http://schemas.openxmlformats.org/drawingml/2006/main">
              <a:ext uri="{FF2B5EF4-FFF2-40B4-BE49-F238E27FC236}">
                <a16:creationId xmlns:a16="http://schemas.microsoft.com/office/drawing/2014/main" id="{F0623E45-18DA-4458-99DF-DA2F1654215B}"/>
              </a:ext>
            </a:extLst>
          </p:cNvPr>
          <p:cNvSpPr>
            <a:spLocks xmlns:a="http://schemas.openxmlformats.org/drawingml/2006/main" noGrp="1"/>
          </p:cNvSpPr>
          <p:nvPr/>
        </p:nvSpPr>
        <p:spPr>
          <a:xfrm xmlns:a="http://schemas.openxmlformats.org/drawingml/2006/main">
            <a:off x="5105400" y="2228850"/>
            <a:ext cx="123825" cy="123825"/>
          </a:xfrm>
          <a:prstGeom xmlns:a="http://schemas.openxmlformats.org/drawingml/2006/main" prst="rect">
            <a:avLst/>
          </a:prstGeom>
          <a:solidFill xmlns:a="http://schemas.openxmlformats.org/drawingml/2006/main">
            <a:srgbClr val="FFFFFF"/>
          </a:solidFill>
          <a:ln xmlns:a="http://schemas.openxmlformats.org/drawingml/2006/main" w="7620">
            <a:solidFill>
              <a:srgbClr val="159E9C"/>
            </a:solidFill>
            <a:prstDash val="solid"/>
          </a:ln>
        </p:spPr>
      </p:sp>
      <p:sp>
        <p:nvSpPr>
          <p:cNvPr id="18" name="">
            <a:extLst xmlns:a="http://schemas.openxmlformats.org/drawingml/2006/main">
              <a:ext uri="{FF2B5EF4-FFF2-40B4-BE49-F238E27FC236}">
                <a16:creationId xmlns:a16="http://schemas.microsoft.com/office/drawing/2014/main" id="{793CCF0E-D1DF-4F4D-B711-187BD6E2679E}"/>
              </a:ext>
            </a:extLst>
          </p:cNvPr>
          <p:cNvSpPr>
            <a:spLocks xmlns:a="http://schemas.openxmlformats.org/drawingml/2006/main" noGrp="1"/>
          </p:cNvSpPr>
          <p:nvPr/>
        </p:nvSpPr>
        <p:spPr>
          <a:xfrm xmlns:a="http://schemas.openxmlformats.org/drawingml/2006/main">
            <a:off x="5276850" y="2228850"/>
            <a:ext cx="123825" cy="123825"/>
          </a:xfrm>
          <a:prstGeom xmlns:a="http://schemas.openxmlformats.org/drawingml/2006/main" prst="rect">
            <a:avLst/>
          </a:prstGeom>
          <a:solidFill xmlns:a="http://schemas.openxmlformats.org/drawingml/2006/main">
            <a:srgbClr val="FFFFFF"/>
          </a:solidFill>
          <a:ln xmlns:a="http://schemas.openxmlformats.org/drawingml/2006/main" w="7620">
            <a:solidFill>
              <a:srgbClr val="159E9C"/>
            </a:solidFill>
            <a:prstDash val="solid"/>
          </a:ln>
        </p:spPr>
      </p:sp>
      <p:sp>
        <p:nvSpPr>
          <p:cNvPr id="19" name="">
            <a:extLst xmlns:a="http://schemas.openxmlformats.org/drawingml/2006/main">
              <a:ext uri="{FF2B5EF4-FFF2-40B4-BE49-F238E27FC236}">
                <a16:creationId xmlns:a16="http://schemas.microsoft.com/office/drawing/2014/main" id="{A95587C6-2B4F-45BA-B498-39648E38BD62}"/>
              </a:ext>
            </a:extLst>
          </p:cNvPr>
          <p:cNvSpPr>
            <a:spLocks xmlns:a="http://schemas.openxmlformats.org/drawingml/2006/main" noGrp="1"/>
          </p:cNvSpPr>
          <p:nvPr/>
        </p:nvSpPr>
        <p:spPr>
          <a:xfrm xmlns:a="http://schemas.openxmlformats.org/drawingml/2006/main">
            <a:off x="6191250" y="1714500"/>
            <a:ext cx="1571625" cy="1428750"/>
          </a:xfrm>
          <a:prstGeom xmlns:a="http://schemas.openxmlformats.org/drawingml/2006/main" prst="roundRect">
            <a:avLst>
              <a:gd name="adj" fmla="val 8000"/>
            </a:avLst>
          </a:prstGeom>
          <a:solidFill xmlns:a="http://schemas.openxmlformats.org/drawingml/2006/main">
            <a:srgbClr val="0B1F33"/>
          </a:solidFill>
          <a:ln xmlns:a="http://schemas.openxmlformats.org/drawingml/2006/main" w="19050">
            <a:solidFill>
              <a:srgbClr val="0B1F33"/>
            </a:solidFill>
            <a:prstDash val="solid"/>
          </a:ln>
        </p:spPr>
      </p:sp>
      <p:sp>
        <p:nvSpPr>
          <p:cNvPr id="20" name="">
            <a:extLst xmlns:a="http://schemas.openxmlformats.org/drawingml/2006/main">
              <a:ext uri="{FF2B5EF4-FFF2-40B4-BE49-F238E27FC236}">
                <a16:creationId xmlns:a16="http://schemas.microsoft.com/office/drawing/2014/main" id="{5AAA47D4-03B1-46E1-8BA5-959C137451DA}"/>
              </a:ext>
            </a:extLst>
          </p:cNvPr>
          <p:cNvSpPr>
            <a:spLocks xmlns:a="http://schemas.openxmlformats.org/drawingml/2006/main" noGrp="1"/>
          </p:cNvSpPr>
          <p:nvPr/>
        </p:nvSpPr>
        <p:spPr>
          <a:xfrm xmlns:a="http://schemas.openxmlformats.org/drawingml/2006/main">
            <a:off x="6305550" y="2171700"/>
            <a:ext cx="13430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CNN DECODER</a:t>
            </a:r>
          </a:p>
        </p:txBody>
      </p:sp>
      <p:sp>
        <p:nvSpPr>
          <p:cNvPr id="21" name="">
            <a:extLst xmlns:a="http://schemas.openxmlformats.org/drawingml/2006/main">
              <a:ext uri="{FF2B5EF4-FFF2-40B4-BE49-F238E27FC236}">
                <a16:creationId xmlns:a16="http://schemas.microsoft.com/office/drawing/2014/main" id="{6790983D-3DCB-46CA-9C8F-2ADC3420FD0F}"/>
              </a:ext>
            </a:extLst>
          </p:cNvPr>
          <p:cNvSpPr>
            <a:spLocks xmlns:a="http://schemas.openxmlformats.org/drawingml/2006/main" noGrp="1"/>
          </p:cNvSpPr>
          <p:nvPr/>
        </p:nvSpPr>
        <p:spPr>
          <a:xfrm xmlns:a="http://schemas.openxmlformats.org/drawingml/2006/main">
            <a:off x="8191500" y="1714500"/>
            <a:ext cx="1571625" cy="1428750"/>
          </a:xfrm>
          <a:prstGeom xmlns:a="http://schemas.openxmlformats.org/drawingml/2006/main" prst="roundRect">
            <a:avLst>
              <a:gd name="adj" fmla="val 8000"/>
            </a:avLst>
          </a:prstGeom>
          <a:solidFill xmlns:a="http://schemas.openxmlformats.org/drawingml/2006/main">
            <a:srgbClr val="DDF3F2"/>
          </a:solidFill>
          <a:ln xmlns:a="http://schemas.openxmlformats.org/drawingml/2006/main" w="19050">
            <a:solidFill>
              <a:srgbClr val="159E9C"/>
            </a:solidFill>
            <a:prstDash val="solid"/>
          </a:ln>
        </p:spPr>
      </p:sp>
      <p:sp>
        <p:nvSpPr>
          <p:cNvPr id="22" name="">
            <a:extLst xmlns:a="http://schemas.openxmlformats.org/drawingml/2006/main">
              <a:ext uri="{FF2B5EF4-FFF2-40B4-BE49-F238E27FC236}">
                <a16:creationId xmlns:a16="http://schemas.microsoft.com/office/drawing/2014/main" id="{744AE0E8-C585-44DD-8945-E528BED8CEFE}"/>
              </a:ext>
            </a:extLst>
          </p:cNvPr>
          <p:cNvSpPr>
            <a:spLocks xmlns:a="http://schemas.openxmlformats.org/drawingml/2006/main" noGrp="1"/>
          </p:cNvSpPr>
          <p:nvPr/>
        </p:nvSpPr>
        <p:spPr>
          <a:xfrm xmlns:a="http://schemas.openxmlformats.org/drawingml/2006/main">
            <a:off x="8305800" y="2171700"/>
            <a:ext cx="13430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defRPr sz="1275" b="1">
                <a:solidFill>
                  <a:srgbClr val="0B1F33"/>
                </a:solidFill>
                <a:latin typeface="Arial"/>
                <a:ea typeface="Arial"/>
                <a:cs typeface="Arial"/>
              </a:defRPr>
            </a:pPr>
            <a:r>
              <a:rPr sz="1275" b="1">
                <a:solidFill>
                  <a:srgbClr val="0B1F33"/>
                </a:solidFill>
                <a:latin typeface="Arial"/>
                <a:ea typeface="Arial"/>
                <a:cs typeface="Arial"/>
              </a:rPr>
              <a:t>FRAME TÁI TẠO</a:t>
            </a:r>
          </a:p>
        </p:txBody>
      </p:sp>
      <p:cxnSp>
        <p:nvCxnSpPr>
          <p:cNvPr id="62" name=""/>
          <p:cNvCxnSpPr>
            <a:stCxn xmlns:a="http://schemas.openxmlformats.org/drawingml/2006/main" id="4" idx="3"/>
            <a:endCxn xmlns:a="http://schemas.openxmlformats.org/drawingml/2006/main" id="6" idx="1"/>
          </p:cNvCxnSpPr>
          <p:nvPr/>
        </p:nvCxnSpPr>
        <p:spPr>
          <a:xfrm xmlns:a="http://schemas.openxmlformats.org/drawingml/2006/main">
            <a:off x="2190750" y="2428875"/>
            <a:ext cx="428625"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63" name=""/>
          <p:cNvCxnSpPr>
            <a:stCxn xmlns:a="http://schemas.openxmlformats.org/drawingml/2006/main" id="6" idx="3"/>
            <a:endCxn xmlns:a="http://schemas.openxmlformats.org/drawingml/2006/main" id="8" idx="1"/>
          </p:cNvCxnSpPr>
          <p:nvPr/>
        </p:nvCxnSpPr>
        <p:spPr>
          <a:xfrm xmlns:a="http://schemas.openxmlformats.org/drawingml/2006/main">
            <a:off x="4191000" y="2428875"/>
            <a:ext cx="428625"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64" name=""/>
          <p:cNvCxnSpPr>
            <a:stCxn xmlns:a="http://schemas.openxmlformats.org/drawingml/2006/main" id="8" idx="3"/>
            <a:endCxn xmlns:a="http://schemas.openxmlformats.org/drawingml/2006/main" id="19" idx="1"/>
          </p:cNvCxnSpPr>
          <p:nvPr/>
        </p:nvCxnSpPr>
        <p:spPr>
          <a:xfrm xmlns:a="http://schemas.openxmlformats.org/drawingml/2006/main">
            <a:off x="5762625" y="2428875"/>
            <a:ext cx="428625"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65" name=""/>
          <p:cNvCxnSpPr>
            <a:stCxn xmlns:a="http://schemas.openxmlformats.org/drawingml/2006/main" id="19" idx="3"/>
            <a:endCxn xmlns:a="http://schemas.openxmlformats.org/drawingml/2006/main" id="21" idx="1"/>
          </p:cNvCxnSpPr>
          <p:nvPr/>
        </p:nvCxnSpPr>
        <p:spPr>
          <a:xfrm xmlns:a="http://schemas.openxmlformats.org/drawingml/2006/main">
            <a:off x="7762875" y="2428875"/>
            <a:ext cx="428625"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sp>
        <p:nvSpPr>
          <p:cNvPr id="27" name="">
            <a:extLst xmlns:a="http://schemas.openxmlformats.org/drawingml/2006/main">
              <a:ext uri="{FF2B5EF4-FFF2-40B4-BE49-F238E27FC236}">
                <a16:creationId xmlns:a16="http://schemas.microsoft.com/office/drawing/2014/main" id="{319F0903-2C7C-4D31-803A-E48D7160A883}"/>
              </a:ext>
            </a:extLst>
          </p:cNvPr>
          <p:cNvSpPr>
            <a:spLocks xmlns:a="http://schemas.openxmlformats.org/drawingml/2006/main" noGrp="1"/>
          </p:cNvSpPr>
          <p:nvPr/>
        </p:nvSpPr>
        <p:spPr>
          <a:xfrm xmlns:a="http://schemas.openxmlformats.org/drawingml/2006/main">
            <a:off x="10191750" y="1714500"/>
            <a:ext cx="1381125" cy="1428750"/>
          </a:xfrm>
          <a:prstGeom xmlns:a="http://schemas.openxmlformats.org/drawingml/2006/main" prst="roundRect">
            <a:avLst>
              <a:gd name="adj" fmla="val 8276"/>
            </a:avLst>
          </a:prstGeom>
          <a:solidFill xmlns:a="http://schemas.openxmlformats.org/drawingml/2006/main">
            <a:srgbClr val="FFF1D4"/>
          </a:solidFill>
          <a:ln xmlns:a="http://schemas.openxmlformats.org/drawingml/2006/main" w="19050">
            <a:solidFill>
              <a:srgbClr val="F59E0B"/>
            </a:solidFill>
            <a:prstDash val="solid"/>
          </a:ln>
        </p:spPr>
      </p:sp>
      <p:sp>
        <p:nvSpPr>
          <p:cNvPr id="28" name="">
            <a:extLst xmlns:a="http://schemas.openxmlformats.org/drawingml/2006/main">
              <a:ext uri="{FF2B5EF4-FFF2-40B4-BE49-F238E27FC236}">
                <a16:creationId xmlns:a16="http://schemas.microsoft.com/office/drawing/2014/main" id="{E42B6DF6-532E-4D0E-8345-0EE38CA339E5}"/>
              </a:ext>
            </a:extLst>
          </p:cNvPr>
          <p:cNvSpPr>
            <a:spLocks xmlns:a="http://schemas.openxmlformats.org/drawingml/2006/main" noGrp="1"/>
          </p:cNvSpPr>
          <p:nvPr/>
        </p:nvSpPr>
        <p:spPr>
          <a:xfrm xmlns:a="http://schemas.openxmlformats.org/drawingml/2006/main">
            <a:off x="10306050" y="2095500"/>
            <a:ext cx="11525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8039"/>
          </a:bodyPr>
          <a:lstStyle xmlns:a="http://schemas.openxmlformats.org/drawingml/2006/main"/>
          <a:p xmlns:a="http://schemas.openxmlformats.org/drawingml/2006/main">
            <a:pPr algn="ctr">
              <a:defRPr sz="1275" b="1">
                <a:solidFill>
                  <a:srgbClr val="F59E0B"/>
                </a:solidFill>
                <a:latin typeface="Arial"/>
                <a:ea typeface="Arial"/>
                <a:cs typeface="Arial"/>
              </a:defRPr>
            </a:pPr>
            <a:r>
              <a:rPr sz="1275" b="1">
                <a:solidFill>
                  <a:srgbClr val="F59E0B"/>
                </a:solidFill>
                <a:latin typeface="Arial"/>
                <a:ea typeface="Arial"/>
                <a:cs typeface="Arial"/>
              </a:rPr>
              <a:t>SAI KHÁC</a:t>
            </a:r>
          </a:p>
          <a:p xmlns:a="http://schemas.openxmlformats.org/drawingml/2006/main">
            <a:pPr algn="ctr">
              <a:defRPr sz="1275" b="1">
                <a:solidFill>
                  <a:srgbClr val="F59E0B"/>
                </a:solidFill>
                <a:latin typeface="Arial"/>
                <a:ea typeface="Arial"/>
                <a:cs typeface="Arial"/>
              </a:defRPr>
            </a:pPr>
            <a:r>
              <a:rPr sz="1275" b="1">
                <a:solidFill>
                  <a:srgbClr val="F59E0B"/>
                </a:solidFill>
                <a:latin typeface="Arial"/>
                <a:ea typeface="Arial"/>
                <a:cs typeface="Arial"/>
              </a:rPr>
              <a:t>ANOMALY MAP</a:t>
            </a:r>
          </a:p>
        </p:txBody>
      </p:sp>
      <p:cxnSp>
        <p:nvCxnSpPr>
          <p:cNvPr id="68" name=""/>
          <p:cNvCxnSpPr>
            <a:stCxn xmlns:a="http://schemas.openxmlformats.org/drawingml/2006/main" id="21" idx="3"/>
            <a:endCxn xmlns:a="http://schemas.openxmlformats.org/drawingml/2006/main" id="27" idx="1"/>
          </p:cNvCxnSpPr>
          <p:nvPr/>
        </p:nvCxnSpPr>
        <p:spPr>
          <a:xfrm xmlns:a="http://schemas.openxmlformats.org/drawingml/2006/main">
            <a:off x="9763125" y="2428875"/>
            <a:ext cx="428625" cy="0"/>
          </a:xfrm>
          <a:prstGeom xmlns:a="http://schemas.openxmlformats.org/drawingml/2006/main" prst="straightConnector1">
            <a:avLst/>
          </a:prstGeom>
          <a:ln xmlns:a="http://schemas.openxmlformats.org/drawingml/2006/main" w="23813">
            <a:solidFill>
              <a:srgbClr val="F59E0B"/>
            </a:solidFill>
            <a:prstDash val="solid"/>
            <a:headEnd type="none" w="med" len="med"/>
            <a:tailEnd type="triangle" w="sm" len="sm"/>
          </a:ln>
        </p:spPr>
      </p:cxnSp>
      <p:sp>
        <p:nvSpPr>
          <p:cNvPr id="30" name="">
            <a:extLst xmlns:a="http://schemas.openxmlformats.org/drawingml/2006/main">
              <a:ext uri="{FF2B5EF4-FFF2-40B4-BE49-F238E27FC236}">
                <a16:creationId xmlns:a16="http://schemas.microsoft.com/office/drawing/2014/main" id="{364DB82A-12A7-43F8-A025-8346A96FF88B}"/>
              </a:ext>
            </a:extLst>
          </p:cNvPr>
          <p:cNvSpPr>
            <a:spLocks xmlns:a="http://schemas.openxmlformats.org/drawingml/2006/main" noGrp="1"/>
          </p:cNvSpPr>
          <p:nvPr/>
        </p:nvSpPr>
        <p:spPr>
          <a:xfrm xmlns:a="http://schemas.openxmlformats.org/drawingml/2006/main">
            <a:off x="723900" y="3648075"/>
            <a:ext cx="495300" cy="495300"/>
          </a:xfrm>
          <a:prstGeom xmlns:a="http://schemas.openxmlformats.org/drawingml/2006/main" prst="roundRect">
            <a:avLst>
              <a:gd name="adj" fmla="val 50000"/>
            </a:avLst>
          </a:prstGeom>
          <a:solidFill xmlns:a="http://schemas.openxmlformats.org/drawingml/2006/main">
            <a:srgbClr val="159E9C"/>
          </a:solidFill>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31" name="">
            <a:extLst xmlns:a="http://schemas.openxmlformats.org/drawingml/2006/main">
              <a:ext uri="{FF2B5EF4-FFF2-40B4-BE49-F238E27FC236}">
                <a16:creationId xmlns:a16="http://schemas.microsoft.com/office/drawing/2014/main" id="{90200B4D-5EAC-46C0-97D8-244F6CE81B3B}"/>
              </a:ext>
            </a:extLst>
          </p:cNvPr>
          <p:cNvSpPr>
            <a:spLocks xmlns:a="http://schemas.openxmlformats.org/drawingml/2006/main" noGrp="1"/>
          </p:cNvSpPr>
          <p:nvPr/>
        </p:nvSpPr>
        <p:spPr>
          <a:xfrm xmlns:a="http://schemas.openxmlformats.org/drawingml/2006/main">
            <a:off x="1352550" y="3695700"/>
            <a:ext cx="447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defRPr sz="1800" b="0">
                <a:solidFill>
                  <a:srgbClr val="0B1F33"/>
                </a:solidFill>
                <a:latin typeface="Arial"/>
                <a:ea typeface="Arial"/>
                <a:cs typeface="Arial"/>
              </a:defRPr>
            </a:pPr>
            <a:r>
              <a:rPr sz="1800" b="0">
                <a:solidFill>
                  <a:srgbClr val="0B1F33"/>
                </a:solidFill>
                <a:latin typeface="Arial"/>
                <a:ea typeface="Arial"/>
                <a:cs typeface="Arial"/>
              </a:rPr>
              <a:t>CNN Encoder nén frame thành feature.</a:t>
            </a:r>
          </a:p>
        </p:txBody>
      </p:sp>
      <p:sp>
        <p:nvSpPr>
          <p:cNvPr id="32" name="">
            <a:extLst xmlns:a="http://schemas.openxmlformats.org/drawingml/2006/main">
              <a:ext uri="{FF2B5EF4-FFF2-40B4-BE49-F238E27FC236}">
                <a16:creationId xmlns:a16="http://schemas.microsoft.com/office/drawing/2014/main" id="{372ED768-B225-48DA-B333-44B79FF9365A}"/>
              </a:ext>
            </a:extLst>
          </p:cNvPr>
          <p:cNvSpPr>
            <a:spLocks xmlns:a="http://schemas.openxmlformats.org/drawingml/2006/main" noGrp="1"/>
          </p:cNvSpPr>
          <p:nvPr/>
        </p:nvSpPr>
        <p:spPr>
          <a:xfrm xmlns:a="http://schemas.openxmlformats.org/drawingml/2006/main">
            <a:off x="723900" y="4248150"/>
            <a:ext cx="495300" cy="495300"/>
          </a:xfrm>
          <a:prstGeom xmlns:a="http://schemas.openxmlformats.org/drawingml/2006/main" prst="roundRect">
            <a:avLst>
              <a:gd name="adj" fmla="val 50000"/>
            </a:avLst>
          </a:prstGeom>
          <a:solidFill xmlns:a="http://schemas.openxmlformats.org/drawingml/2006/main">
            <a:srgbClr val="159E9C"/>
          </a:solidFill>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33" name="">
            <a:extLst xmlns:a="http://schemas.openxmlformats.org/drawingml/2006/main">
              <a:ext uri="{FF2B5EF4-FFF2-40B4-BE49-F238E27FC236}">
                <a16:creationId xmlns:a16="http://schemas.microsoft.com/office/drawing/2014/main" id="{C34E9191-4ED1-4F50-A0F9-FBE622092A6B}"/>
              </a:ext>
            </a:extLst>
          </p:cNvPr>
          <p:cNvSpPr>
            <a:spLocks xmlns:a="http://schemas.openxmlformats.org/drawingml/2006/main" noGrp="1"/>
          </p:cNvSpPr>
          <p:nvPr/>
        </p:nvSpPr>
        <p:spPr>
          <a:xfrm xmlns:a="http://schemas.openxmlformats.org/drawingml/2006/main">
            <a:off x="1352550" y="4295775"/>
            <a:ext cx="447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defRPr sz="1800" b="0">
                <a:solidFill>
                  <a:srgbClr val="0B1F33"/>
                </a:solidFill>
                <a:latin typeface="Arial"/>
                <a:ea typeface="Arial"/>
                <a:cs typeface="Arial"/>
              </a:defRPr>
            </a:pPr>
            <a:r>
              <a:rPr sz="1800" b="0">
                <a:solidFill>
                  <a:srgbClr val="0B1F33"/>
                </a:solidFill>
                <a:latin typeface="Arial"/>
                <a:ea typeface="Arial"/>
                <a:cs typeface="Arial"/>
              </a:rPr>
              <a:t>CNN Decoder tái tạo lại frame đầu vào.</a:t>
            </a:r>
          </a:p>
        </p:txBody>
      </p:sp>
      <p:sp>
        <p:nvSpPr>
          <p:cNvPr id="34" name="">
            <a:extLst xmlns:a="http://schemas.openxmlformats.org/drawingml/2006/main">
              <a:ext uri="{FF2B5EF4-FFF2-40B4-BE49-F238E27FC236}">
                <a16:creationId xmlns:a16="http://schemas.microsoft.com/office/drawing/2014/main" id="{110415EE-52E4-4358-918F-4D5BC6FEF1E0}"/>
              </a:ext>
            </a:extLst>
          </p:cNvPr>
          <p:cNvSpPr>
            <a:spLocks xmlns:a="http://schemas.openxmlformats.org/drawingml/2006/main" noGrp="1"/>
          </p:cNvSpPr>
          <p:nvPr/>
        </p:nvSpPr>
        <p:spPr>
          <a:xfrm xmlns:a="http://schemas.openxmlformats.org/drawingml/2006/main">
            <a:off x="723900" y="4848225"/>
            <a:ext cx="495300" cy="495300"/>
          </a:xfrm>
          <a:prstGeom xmlns:a="http://schemas.openxmlformats.org/drawingml/2006/main" prst="roundRect">
            <a:avLst>
              <a:gd name="adj" fmla="val 50000"/>
            </a:avLst>
          </a:prstGeom>
          <a:solidFill xmlns:a="http://schemas.openxmlformats.org/drawingml/2006/main">
            <a:srgbClr val="F59E0B"/>
          </a:solidFill>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35" name="">
            <a:extLst xmlns:a="http://schemas.openxmlformats.org/drawingml/2006/main">
              <a:ext uri="{FF2B5EF4-FFF2-40B4-BE49-F238E27FC236}">
                <a16:creationId xmlns:a16="http://schemas.microsoft.com/office/drawing/2014/main" id="{DD503A0B-AD35-4555-95D8-1D7601EB610E}"/>
              </a:ext>
            </a:extLst>
          </p:cNvPr>
          <p:cNvSpPr>
            <a:spLocks xmlns:a="http://schemas.openxmlformats.org/drawingml/2006/main" noGrp="1"/>
          </p:cNvSpPr>
          <p:nvPr/>
        </p:nvSpPr>
        <p:spPr>
          <a:xfrm xmlns:a="http://schemas.openxmlformats.org/drawingml/2006/main">
            <a:off x="1352550" y="485775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83333"/>
          </a:bodyPr>
          <a:lstStyle xmlns:a="http://schemas.openxmlformats.org/drawingml/2006/main"/>
          <a:p xmlns:a="http://schemas.openxmlformats.org/drawingml/2006/main">
            <a:pPr algn="l">
              <a:defRPr sz="1800" b="0">
                <a:solidFill>
                  <a:srgbClr val="0B1F33"/>
                </a:solidFill>
                <a:latin typeface="Arial"/>
                <a:ea typeface="Arial"/>
                <a:cs typeface="Arial"/>
              </a:defRPr>
            </a:pPr>
            <a:r>
              <a:rPr sz="1800" b="0">
                <a:solidFill>
                  <a:srgbClr val="0B1F33"/>
                </a:solidFill>
                <a:latin typeface="Arial"/>
                <a:ea typeface="Arial"/>
                <a:cs typeface="Arial"/>
              </a:rPr>
              <a:t>Sai số giữa frame gốc và frame tái tạo tạo thành anomaly score.</a:t>
            </a:r>
          </a:p>
        </p:txBody>
      </p:sp>
      <p:sp>
        <p:nvSpPr>
          <p:cNvPr id="36" name="">
            <a:extLst xmlns:a="http://schemas.openxmlformats.org/drawingml/2006/main">
              <a:ext uri="{FF2B5EF4-FFF2-40B4-BE49-F238E27FC236}">
                <a16:creationId xmlns:a16="http://schemas.microsoft.com/office/drawing/2014/main" id="{4176F701-CBF0-48C7-9F25-BFAD210891C1}"/>
              </a:ext>
            </a:extLst>
          </p:cNvPr>
          <p:cNvSpPr>
            <a:spLocks xmlns:a="http://schemas.openxmlformats.org/drawingml/2006/main" noGrp="1"/>
          </p:cNvSpPr>
          <p:nvPr/>
        </p:nvSpPr>
        <p:spPr>
          <a:xfrm xmlns:a="http://schemas.openxmlformats.org/drawingml/2006/main">
            <a:off x="7096125" y="361950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GIẢ THUYẾT</a:t>
            </a:r>
          </a:p>
        </p:txBody>
      </p:sp>
      <p:sp>
        <p:nvSpPr>
          <p:cNvPr id="37" name="">
            <a:extLst xmlns:a="http://schemas.openxmlformats.org/drawingml/2006/main">
              <a:ext uri="{FF2B5EF4-FFF2-40B4-BE49-F238E27FC236}">
                <a16:creationId xmlns:a16="http://schemas.microsoft.com/office/drawing/2014/main" id="{EFEC3C7A-52AC-4600-8EB9-D33AF8B2A747}"/>
              </a:ext>
            </a:extLst>
          </p:cNvPr>
          <p:cNvSpPr>
            <a:spLocks xmlns:a="http://schemas.openxmlformats.org/drawingml/2006/main" noGrp="1"/>
          </p:cNvSpPr>
          <p:nvPr/>
        </p:nvSpPr>
        <p:spPr>
          <a:xfrm xmlns:a="http://schemas.openxmlformats.org/drawingml/2006/main">
            <a:off x="7096125" y="3962400"/>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rmAutofit fontScale="91787"/>
          </a:bodyPr>
          <a:lstStyle xmlns:a="http://schemas.openxmlformats.org/drawingml/2006/main"/>
          <a:p xmlns:a="http://schemas.openxmlformats.org/drawingml/2006/main">
            <a:pPr algn="l">
              <a:defRPr sz="1725" b="1">
                <a:solidFill>
                  <a:srgbClr val="0B1F33"/>
                </a:solidFill>
                <a:latin typeface="Arial"/>
                <a:ea typeface="Arial"/>
                <a:cs typeface="Arial"/>
              </a:defRPr>
            </a:pPr>
            <a:r>
              <a:rPr sz="1725" b="1">
                <a:solidFill>
                  <a:srgbClr val="0B1F33"/>
                </a:solidFill>
                <a:latin typeface="Arial"/>
                <a:ea typeface="Arial"/>
                <a:cs typeface="Arial"/>
              </a:rPr>
              <a:t>Model học tốt các frame bình thường. Frame bất thường khó tái tạo hơn nên có sai số cao hơn.</a:t>
            </a:r>
          </a:p>
        </p:txBody>
      </p:sp>
      <p:sp>
        <p:nvSpPr>
          <p:cNvPr id="38" name="">
            <a:extLst xmlns:a="http://schemas.openxmlformats.org/drawingml/2006/main">
              <a:ext uri="{FF2B5EF4-FFF2-40B4-BE49-F238E27FC236}">
                <a16:creationId xmlns:a16="http://schemas.microsoft.com/office/drawing/2014/main" id="{896DF37F-A189-4681-995B-62E43FEFF406}"/>
              </a:ext>
            </a:extLst>
          </p:cNvPr>
          <p:cNvSpPr>
            <a:spLocks xmlns:a="http://schemas.openxmlformats.org/drawingml/2006/main" noGrp="1"/>
          </p:cNvSpPr>
          <p:nvPr/>
        </p:nvSpPr>
        <p:spPr>
          <a:xfrm xmlns:a="http://schemas.openxmlformats.org/drawingml/2006/main">
            <a:off x="7096125" y="49339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VAI TRÒ</a:t>
            </a:r>
          </a:p>
        </p:txBody>
      </p:sp>
      <p:sp>
        <p:nvSpPr>
          <p:cNvPr id="39" name="">
            <a:extLst xmlns:a="http://schemas.openxmlformats.org/drawingml/2006/main">
              <a:ext uri="{FF2B5EF4-FFF2-40B4-BE49-F238E27FC236}">
                <a16:creationId xmlns:a16="http://schemas.microsoft.com/office/drawing/2014/main" id="{D09D9272-CF59-4661-B3BD-76B2D9DAE59A}"/>
              </a:ext>
            </a:extLst>
          </p:cNvPr>
          <p:cNvSpPr>
            <a:spLocks xmlns:a="http://schemas.openxmlformats.org/drawingml/2006/main" noGrp="1"/>
          </p:cNvSpPr>
          <p:nvPr/>
        </p:nvSpPr>
        <p:spPr>
          <a:xfrm xmlns:a="http://schemas.openxmlformats.org/drawingml/2006/main">
            <a:off x="7096125" y="5276850"/>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rmAutofit fontScale="100000"/>
          </a:bodyPr>
          <a:lstStyle xmlns:a="http://schemas.openxmlformats.org/drawingml/2006/main"/>
          <a:p xmlns:a="http://schemas.openxmlformats.org/drawingml/2006/main">
            <a:pPr algn="l">
              <a:defRPr sz="1650" b="0">
                <a:solidFill>
                  <a:srgbClr val="132B3F"/>
                </a:solidFill>
                <a:latin typeface="Arial"/>
                <a:ea typeface="Arial"/>
                <a:cs typeface="Arial"/>
              </a:defRPr>
            </a:pPr>
            <a:r>
              <a:rPr sz="1650" b="0">
                <a:solidFill>
                  <a:srgbClr val="132B3F"/>
                </a:solidFill>
                <a:latin typeface="Arial"/>
                <a:ea typeface="Arial"/>
                <a:cs typeface="Arial"/>
              </a:rPr>
              <a:t>Baseline đơn giản để kiểm tra data pipeline, training loop và cách tính điểm bất thường.</a:t>
            </a:r>
          </a:p>
        </p:txBody>
      </p:sp>
    </p:spTree>
    <p:extLst>
      <p:ext uri="{BB962C8B-B14F-4D97-AF65-F5344CB8AC3E}">
        <p14:creationId xmlns:p14="http://schemas.microsoft.com/office/powerpoint/2010/main" val="789129506"/>
      </p:ext>
    </p:extLst>
  </p:cSld>
</p:sld>
</file>

<file path=ppt/slides/slide9.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52994C89-C28C-41AD-BFFA-747E2F0239CC}"/>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Kiến trúc mô hình đề xuất</a:t>
            </a:r>
          </a:p>
        </p:txBody>
      </p:sp>
      <p:sp>
        <p:nvSpPr>
          <p:cNvPr id="2" name="">
            <a:extLst xmlns:a="http://schemas.openxmlformats.org/drawingml/2006/main">
              <a:ext uri="{FF2B5EF4-FFF2-40B4-BE49-F238E27FC236}">
                <a16:creationId xmlns:a16="http://schemas.microsoft.com/office/drawing/2014/main" id="{210479FB-66D4-491A-8F33-9506DDB02098}"/>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E9CA34BC-493C-4E34-A614-8B6DB848B062}"/>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35A78EDD-B2A5-4655-9F1B-F9AD17AFE7E6}"/>
              </a:ext>
            </a:extLst>
          </p:cNvPr>
          <p:cNvSpPr>
            <a:spLocks xmlns:a="http://schemas.openxmlformats.org/drawingml/2006/main" noGrp="1"/>
          </p:cNvSpPr>
          <p:nvPr/>
        </p:nvSpPr>
        <p:spPr>
          <a:xfrm xmlns:a="http://schemas.openxmlformats.org/drawingml/2006/main">
            <a:off x="619125" y="11049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7826"/>
          </a:bodyPr>
          <a:lstStyle xmlns:a="http://schemas.openxmlformats.org/drawingml/2006/main"/>
          <a:p xmlns:a="http://schemas.openxmlformats.org/drawingml/2006/main">
            <a:pPr algn="ctr">
              <a:defRPr sz="1725" b="1">
                <a:solidFill>
                  <a:srgbClr val="0B1F33"/>
                </a:solidFill>
                <a:latin typeface="Arial"/>
                <a:ea typeface="Arial"/>
                <a:cs typeface="Arial"/>
              </a:defRPr>
            </a:pPr>
            <a:r>
              <a:rPr sz="1725" b="1">
                <a:solidFill>
                  <a:srgbClr val="0B1F33"/>
                </a:solidFill>
                <a:latin typeface="Arial"/>
                <a:ea typeface="Arial"/>
                <a:cs typeface="Arial"/>
              </a:rPr>
              <a:t>Chuỗi 8 frame được đưa qua CNN để tạo feature map. Temporal Transformer phân tích sự thay đổi theo thời gian và dự đoán feature của frame tiếp theo.</a:t>
            </a:r>
          </a:p>
        </p:txBody>
      </p:sp>
      <p:sp>
        <p:nvSpPr>
          <p:cNvPr id="5" name="">
            <a:extLst xmlns:a="http://schemas.openxmlformats.org/drawingml/2006/main">
              <a:ext uri="{FF2B5EF4-FFF2-40B4-BE49-F238E27FC236}">
                <a16:creationId xmlns:a16="http://schemas.microsoft.com/office/drawing/2014/main" id="{2318A31D-1F3E-48EE-9F50-830F3FA3EC5F}"/>
              </a:ext>
            </a:extLst>
          </p:cNvPr>
          <p:cNvSpPr>
            <a:spLocks xmlns:a="http://schemas.openxmlformats.org/drawingml/2006/main" noGrp="1"/>
          </p:cNvSpPr>
          <p:nvPr/>
        </p:nvSpPr>
        <p:spPr>
          <a:xfrm xmlns:a="http://schemas.openxmlformats.org/drawingml/2006/main">
            <a:off x="571500" y="2028825"/>
            <a:ext cx="2333625" cy="1447800"/>
          </a:xfrm>
          <a:prstGeom xmlns:a="http://schemas.openxmlformats.org/drawingml/2006/main" prst="roundRect">
            <a:avLst>
              <a:gd name="adj" fmla="val 7895"/>
            </a:avLst>
          </a:prstGeom>
          <a:solidFill xmlns:a="http://schemas.openxmlformats.org/drawingml/2006/main">
            <a:srgbClr val="FFFFFF"/>
          </a:solidFill>
          <a:ln xmlns:a="http://schemas.openxmlformats.org/drawingml/2006/main" w="14288">
            <a:solidFill>
              <a:srgbClr val="CBD6DE"/>
            </a:solidFill>
            <a:prstDash val="solid"/>
          </a:ln>
        </p:spPr>
      </p:sp>
      <p:sp>
        <p:nvSpPr>
          <p:cNvPr id="6" name="">
            <a:extLst xmlns:a="http://schemas.openxmlformats.org/drawingml/2006/main">
              <a:ext uri="{FF2B5EF4-FFF2-40B4-BE49-F238E27FC236}">
                <a16:creationId xmlns:a16="http://schemas.microsoft.com/office/drawing/2014/main" id="{EB1742BB-A7CF-4F70-9872-76C1CAB2A307}"/>
              </a:ext>
            </a:extLst>
          </p:cNvPr>
          <p:cNvSpPr>
            <a:spLocks xmlns:a="http://schemas.openxmlformats.org/drawingml/2006/main" noGrp="1"/>
          </p:cNvSpPr>
          <p:nvPr/>
        </p:nvSpPr>
        <p:spPr>
          <a:xfrm xmlns:a="http://schemas.openxmlformats.org/drawingml/2006/main">
            <a:off x="742950" y="21812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1275" b="1">
                <a:solidFill>
                  <a:srgbClr val="159E9C"/>
                </a:solidFill>
                <a:latin typeface="Arial"/>
                <a:ea typeface="Arial"/>
                <a:cs typeface="Arial"/>
              </a:defRPr>
            </a:pPr>
            <a:r>
              <a:rPr sz="1275" b="1">
                <a:solidFill>
                  <a:srgbClr val="159E9C"/>
                </a:solidFill>
                <a:latin typeface="Arial"/>
                <a:ea typeface="Arial"/>
                <a:cs typeface="Arial"/>
              </a:rPr>
              <a:t>CHUỖI 8 FRAME</a:t>
            </a:r>
          </a:p>
        </p:txBody>
      </p:sp>
      <p:sp>
        <p:nvSpPr>
          <p:cNvPr id="7" name="">
            <a:extLst xmlns:a="http://schemas.openxmlformats.org/drawingml/2006/main">
              <a:ext uri="{FF2B5EF4-FFF2-40B4-BE49-F238E27FC236}">
                <a16:creationId xmlns:a16="http://schemas.microsoft.com/office/drawing/2014/main" id="{99292B34-38A7-48D2-82CF-9C4F38B83889}"/>
              </a:ext>
            </a:extLst>
          </p:cNvPr>
          <p:cNvSpPr>
            <a:spLocks xmlns:a="http://schemas.openxmlformats.org/drawingml/2006/main" noGrp="1"/>
          </p:cNvSpPr>
          <p:nvPr/>
        </p:nvSpPr>
        <p:spPr>
          <a:xfrm xmlns:a="http://schemas.openxmlformats.org/drawingml/2006/main">
            <a:off x="781050" y="2571750"/>
            <a:ext cx="381000" cy="304800"/>
          </a:xfrm>
          <a:prstGeom xmlns:a="http://schemas.openxmlformats.org/drawingml/2006/main" prst="rect">
            <a:avLst/>
          </a:prstGeom>
          <a:solidFill xmlns:a="http://schemas.openxmlformats.org/drawingml/2006/main">
            <a:srgbClr val="DDF3F2"/>
          </a:solidFill>
          <a:ln xmlns:a="http://schemas.openxmlformats.org/drawingml/2006/main" w="9525">
            <a:solidFill>
              <a:srgbClr val="159E9C"/>
            </a:solidFill>
            <a:prstDash val="solid"/>
          </a:ln>
        </p:spPr>
      </p:sp>
      <p:sp>
        <p:nvSpPr>
          <p:cNvPr id="8" name="">
            <a:extLst xmlns:a="http://schemas.openxmlformats.org/drawingml/2006/main">
              <a:ext uri="{FF2B5EF4-FFF2-40B4-BE49-F238E27FC236}">
                <a16:creationId xmlns:a16="http://schemas.microsoft.com/office/drawing/2014/main" id="{77019834-6A4C-422F-993B-B491FA49A195}"/>
              </a:ext>
            </a:extLst>
          </p:cNvPr>
          <p:cNvSpPr>
            <a:spLocks xmlns:a="http://schemas.openxmlformats.org/drawingml/2006/main" noGrp="1"/>
          </p:cNvSpPr>
          <p:nvPr/>
        </p:nvSpPr>
        <p:spPr>
          <a:xfrm xmlns:a="http://schemas.openxmlformats.org/drawingml/2006/main">
            <a:off x="933450" y="2628900"/>
            <a:ext cx="76200" cy="76200"/>
          </a:xfrm>
          <a:prstGeom xmlns:a="http://schemas.openxmlformats.org/drawingml/2006/main" prst="ellipse">
            <a:avLst/>
          </a:prstGeom>
          <a:solidFill xmlns:a="http://schemas.openxmlformats.org/drawingml/2006/main">
            <a:srgbClr val="0B1F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2BB511D-1F90-450A-9A63-66E38C0E08D6}"/>
              </a:ext>
            </a:extLst>
          </p:cNvPr>
          <p:cNvSpPr>
            <a:spLocks xmlns:a="http://schemas.openxmlformats.org/drawingml/2006/main" noGrp="1"/>
          </p:cNvSpPr>
          <p:nvPr/>
        </p:nvSpPr>
        <p:spPr>
          <a:xfrm xmlns:a="http://schemas.openxmlformats.org/drawingml/2006/main">
            <a:off x="971550" y="2714625"/>
            <a:ext cx="0" cy="104775"/>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10" name="">
            <a:extLst xmlns:a="http://schemas.openxmlformats.org/drawingml/2006/main">
              <a:ext uri="{FF2B5EF4-FFF2-40B4-BE49-F238E27FC236}">
                <a16:creationId xmlns:a16="http://schemas.microsoft.com/office/drawing/2014/main" id="{6F5CF0BE-0C17-4154-B96F-2E8FBFB79420}"/>
              </a:ext>
            </a:extLst>
          </p:cNvPr>
          <p:cNvSpPr>
            <a:spLocks xmlns:a="http://schemas.openxmlformats.org/drawingml/2006/main" noGrp="1"/>
          </p:cNvSpPr>
          <p:nvPr/>
        </p:nvSpPr>
        <p:spPr>
          <a:xfrm xmlns:a="http://schemas.openxmlformats.org/drawingml/2006/main">
            <a:off x="1247775" y="2571750"/>
            <a:ext cx="381000" cy="304800"/>
          </a:xfrm>
          <a:prstGeom xmlns:a="http://schemas.openxmlformats.org/drawingml/2006/main" prst="rect">
            <a:avLst/>
          </a:prstGeom>
          <a:solidFill xmlns:a="http://schemas.openxmlformats.org/drawingml/2006/main">
            <a:srgbClr val="DDF3F2"/>
          </a:solidFill>
          <a:ln xmlns:a="http://schemas.openxmlformats.org/drawingml/2006/main" w="9525">
            <a:solidFill>
              <a:srgbClr val="159E9C"/>
            </a:solidFill>
            <a:prstDash val="solid"/>
          </a:ln>
        </p:spPr>
      </p:sp>
      <p:sp>
        <p:nvSpPr>
          <p:cNvPr id="11" name="">
            <a:extLst xmlns:a="http://schemas.openxmlformats.org/drawingml/2006/main">
              <a:ext uri="{FF2B5EF4-FFF2-40B4-BE49-F238E27FC236}">
                <a16:creationId xmlns:a16="http://schemas.microsoft.com/office/drawing/2014/main" id="{4ABB6092-80BE-4431-A55F-1A674A491A92}"/>
              </a:ext>
            </a:extLst>
          </p:cNvPr>
          <p:cNvSpPr>
            <a:spLocks xmlns:a="http://schemas.openxmlformats.org/drawingml/2006/main" noGrp="1"/>
          </p:cNvSpPr>
          <p:nvPr/>
        </p:nvSpPr>
        <p:spPr>
          <a:xfrm xmlns:a="http://schemas.openxmlformats.org/drawingml/2006/main">
            <a:off x="1400175" y="2628900"/>
            <a:ext cx="76200" cy="76200"/>
          </a:xfrm>
          <a:prstGeom xmlns:a="http://schemas.openxmlformats.org/drawingml/2006/main" prst="ellipse">
            <a:avLst/>
          </a:prstGeom>
          <a:solidFill xmlns:a="http://schemas.openxmlformats.org/drawingml/2006/main">
            <a:srgbClr val="0B1F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F947562-2090-4556-A1C8-8C84AD39EEDD}"/>
              </a:ext>
            </a:extLst>
          </p:cNvPr>
          <p:cNvSpPr>
            <a:spLocks xmlns:a="http://schemas.openxmlformats.org/drawingml/2006/main" noGrp="1"/>
          </p:cNvSpPr>
          <p:nvPr/>
        </p:nvSpPr>
        <p:spPr>
          <a:xfrm xmlns:a="http://schemas.openxmlformats.org/drawingml/2006/main">
            <a:off x="1438275" y="2714625"/>
            <a:ext cx="0" cy="104775"/>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13" name="">
            <a:extLst xmlns:a="http://schemas.openxmlformats.org/drawingml/2006/main">
              <a:ext uri="{FF2B5EF4-FFF2-40B4-BE49-F238E27FC236}">
                <a16:creationId xmlns:a16="http://schemas.microsoft.com/office/drawing/2014/main" id="{F76F903C-40C5-4AEB-BBD5-BE94ED9D5605}"/>
              </a:ext>
            </a:extLst>
          </p:cNvPr>
          <p:cNvSpPr>
            <a:spLocks xmlns:a="http://schemas.openxmlformats.org/drawingml/2006/main" noGrp="1"/>
          </p:cNvSpPr>
          <p:nvPr/>
        </p:nvSpPr>
        <p:spPr>
          <a:xfrm xmlns:a="http://schemas.openxmlformats.org/drawingml/2006/main">
            <a:off x="1714500" y="2571750"/>
            <a:ext cx="381000" cy="304800"/>
          </a:xfrm>
          <a:prstGeom xmlns:a="http://schemas.openxmlformats.org/drawingml/2006/main" prst="rect">
            <a:avLst/>
          </a:prstGeom>
          <a:solidFill xmlns:a="http://schemas.openxmlformats.org/drawingml/2006/main">
            <a:srgbClr val="DDF3F2"/>
          </a:solidFill>
          <a:ln xmlns:a="http://schemas.openxmlformats.org/drawingml/2006/main" w="9525">
            <a:solidFill>
              <a:srgbClr val="159E9C"/>
            </a:solidFill>
            <a:prstDash val="solid"/>
          </a:ln>
        </p:spPr>
      </p:sp>
      <p:sp>
        <p:nvSpPr>
          <p:cNvPr id="14" name="">
            <a:extLst xmlns:a="http://schemas.openxmlformats.org/drawingml/2006/main">
              <a:ext uri="{FF2B5EF4-FFF2-40B4-BE49-F238E27FC236}">
                <a16:creationId xmlns:a16="http://schemas.microsoft.com/office/drawing/2014/main" id="{5BD48A14-2930-4709-9569-3828DB486E2A}"/>
              </a:ext>
            </a:extLst>
          </p:cNvPr>
          <p:cNvSpPr>
            <a:spLocks xmlns:a="http://schemas.openxmlformats.org/drawingml/2006/main" noGrp="1"/>
          </p:cNvSpPr>
          <p:nvPr/>
        </p:nvSpPr>
        <p:spPr>
          <a:xfrm xmlns:a="http://schemas.openxmlformats.org/drawingml/2006/main">
            <a:off x="1866900" y="2628900"/>
            <a:ext cx="76200" cy="76200"/>
          </a:xfrm>
          <a:prstGeom xmlns:a="http://schemas.openxmlformats.org/drawingml/2006/main" prst="ellipse">
            <a:avLst/>
          </a:prstGeom>
          <a:solidFill xmlns:a="http://schemas.openxmlformats.org/drawingml/2006/main">
            <a:srgbClr val="0B1F3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7577F04-A6A4-4D38-B0A5-D3422201F9B0}"/>
              </a:ext>
            </a:extLst>
          </p:cNvPr>
          <p:cNvSpPr>
            <a:spLocks xmlns:a="http://schemas.openxmlformats.org/drawingml/2006/main" noGrp="1"/>
          </p:cNvSpPr>
          <p:nvPr/>
        </p:nvSpPr>
        <p:spPr>
          <a:xfrm xmlns:a="http://schemas.openxmlformats.org/drawingml/2006/main">
            <a:off x="1905000" y="2714625"/>
            <a:ext cx="0" cy="104775"/>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16" name="">
            <a:extLst xmlns:a="http://schemas.openxmlformats.org/drawingml/2006/main">
              <a:ext uri="{FF2B5EF4-FFF2-40B4-BE49-F238E27FC236}">
                <a16:creationId xmlns:a16="http://schemas.microsoft.com/office/drawing/2014/main" id="{33D607F5-0BB0-4F04-A414-84A1EADFFBAD}"/>
              </a:ext>
            </a:extLst>
          </p:cNvPr>
          <p:cNvSpPr>
            <a:spLocks xmlns:a="http://schemas.openxmlformats.org/drawingml/2006/main" noGrp="1"/>
          </p:cNvSpPr>
          <p:nvPr/>
        </p:nvSpPr>
        <p:spPr>
          <a:xfrm xmlns:a="http://schemas.openxmlformats.org/drawingml/2006/main">
            <a:off x="2181225" y="2571750"/>
            <a:ext cx="381000" cy="304800"/>
          </a:xfrm>
          <a:prstGeom xmlns:a="http://schemas.openxmlformats.org/drawingml/2006/main" prst="rect">
            <a:avLst/>
          </a:prstGeom>
          <a:solidFill xmlns:a="http://schemas.openxmlformats.org/drawingml/2006/main">
            <a:srgbClr val="DDF3F2"/>
          </a:solidFill>
          <a:ln xmlns:a="http://schemas.openxmlformats.org/drawingml/2006/main" w="9525">
            <a:solidFill>
              <a:srgbClr val="159E9C"/>
            </a:solidFill>
            <a:prstDash val="solid"/>
          </a:ln>
        </p:spPr>
      </p:sp>
      <p:sp>
        <p:nvSpPr>
          <p:cNvPr id="17" name="">
            <a:extLst xmlns:a="http://schemas.openxmlformats.org/drawingml/2006/main">
              <a:ext uri="{FF2B5EF4-FFF2-40B4-BE49-F238E27FC236}">
                <a16:creationId xmlns:a16="http://schemas.microsoft.com/office/drawing/2014/main" id="{3D389F00-B8A6-402A-A541-1D4A6DE48806}"/>
              </a:ext>
            </a:extLst>
          </p:cNvPr>
          <p:cNvSpPr>
            <a:spLocks xmlns:a="http://schemas.openxmlformats.org/drawingml/2006/main" noGrp="1"/>
          </p:cNvSpPr>
          <p:nvPr/>
        </p:nvSpPr>
        <p:spPr>
          <a:xfrm xmlns:a="http://schemas.openxmlformats.org/drawingml/2006/main">
            <a:off x="2333625" y="2628900"/>
            <a:ext cx="76200" cy="76200"/>
          </a:xfrm>
          <a:prstGeom xmlns:a="http://schemas.openxmlformats.org/drawingml/2006/main" prst="ellipse">
            <a:avLst/>
          </a:prstGeom>
          <a:solidFill xmlns:a="http://schemas.openxmlformats.org/drawingml/2006/main">
            <a:srgbClr val="0B1F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A5DD115-610E-4484-9F9E-B9DC42065ADC}"/>
              </a:ext>
            </a:extLst>
          </p:cNvPr>
          <p:cNvSpPr>
            <a:spLocks xmlns:a="http://schemas.openxmlformats.org/drawingml/2006/main" noGrp="1"/>
          </p:cNvSpPr>
          <p:nvPr/>
        </p:nvSpPr>
        <p:spPr>
          <a:xfrm xmlns:a="http://schemas.openxmlformats.org/drawingml/2006/main">
            <a:off x="2371725" y="2714625"/>
            <a:ext cx="0" cy="104775"/>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19" name="">
            <a:extLst xmlns:a="http://schemas.openxmlformats.org/drawingml/2006/main">
              <a:ext uri="{FF2B5EF4-FFF2-40B4-BE49-F238E27FC236}">
                <a16:creationId xmlns:a16="http://schemas.microsoft.com/office/drawing/2014/main" id="{1812EA56-BAB8-4A4F-9095-C6FE8E9CCAE0}"/>
              </a:ext>
            </a:extLst>
          </p:cNvPr>
          <p:cNvSpPr>
            <a:spLocks xmlns:a="http://schemas.openxmlformats.org/drawingml/2006/main" noGrp="1"/>
          </p:cNvSpPr>
          <p:nvPr/>
        </p:nvSpPr>
        <p:spPr>
          <a:xfrm xmlns:a="http://schemas.openxmlformats.org/drawingml/2006/main">
            <a:off x="781050" y="2971800"/>
            <a:ext cx="381000" cy="304800"/>
          </a:xfrm>
          <a:prstGeom xmlns:a="http://schemas.openxmlformats.org/drawingml/2006/main" prst="rect">
            <a:avLst/>
          </a:prstGeom>
          <a:solidFill xmlns:a="http://schemas.openxmlformats.org/drawingml/2006/main">
            <a:srgbClr val="DDF3F2"/>
          </a:solidFill>
          <a:ln xmlns:a="http://schemas.openxmlformats.org/drawingml/2006/main" w="9525">
            <a:solidFill>
              <a:srgbClr val="159E9C"/>
            </a:solidFill>
            <a:prstDash val="solid"/>
          </a:ln>
        </p:spPr>
      </p:sp>
      <p:sp>
        <p:nvSpPr>
          <p:cNvPr id="20" name="">
            <a:extLst xmlns:a="http://schemas.openxmlformats.org/drawingml/2006/main">
              <a:ext uri="{FF2B5EF4-FFF2-40B4-BE49-F238E27FC236}">
                <a16:creationId xmlns:a16="http://schemas.microsoft.com/office/drawing/2014/main" id="{30BB7DD9-168A-43EC-831F-EDB54DAC2894}"/>
              </a:ext>
            </a:extLst>
          </p:cNvPr>
          <p:cNvSpPr>
            <a:spLocks xmlns:a="http://schemas.openxmlformats.org/drawingml/2006/main" noGrp="1"/>
          </p:cNvSpPr>
          <p:nvPr/>
        </p:nvSpPr>
        <p:spPr>
          <a:xfrm xmlns:a="http://schemas.openxmlformats.org/drawingml/2006/main">
            <a:off x="933450" y="3028950"/>
            <a:ext cx="76200" cy="76200"/>
          </a:xfrm>
          <a:prstGeom xmlns:a="http://schemas.openxmlformats.org/drawingml/2006/main" prst="ellipse">
            <a:avLst/>
          </a:prstGeom>
          <a:solidFill xmlns:a="http://schemas.openxmlformats.org/drawingml/2006/main">
            <a:srgbClr val="0B1F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3544F17-20C4-48D9-AD7C-D9EE4539D9EF}"/>
              </a:ext>
            </a:extLst>
          </p:cNvPr>
          <p:cNvSpPr>
            <a:spLocks xmlns:a="http://schemas.openxmlformats.org/drawingml/2006/main" noGrp="1"/>
          </p:cNvSpPr>
          <p:nvPr/>
        </p:nvSpPr>
        <p:spPr>
          <a:xfrm xmlns:a="http://schemas.openxmlformats.org/drawingml/2006/main">
            <a:off x="971550" y="3114675"/>
            <a:ext cx="0" cy="104775"/>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22" name="">
            <a:extLst xmlns:a="http://schemas.openxmlformats.org/drawingml/2006/main">
              <a:ext uri="{FF2B5EF4-FFF2-40B4-BE49-F238E27FC236}">
                <a16:creationId xmlns:a16="http://schemas.microsoft.com/office/drawing/2014/main" id="{F0689A13-1A6D-4C5E-9ABF-1564CCB24C9F}"/>
              </a:ext>
            </a:extLst>
          </p:cNvPr>
          <p:cNvSpPr>
            <a:spLocks xmlns:a="http://schemas.openxmlformats.org/drawingml/2006/main" noGrp="1"/>
          </p:cNvSpPr>
          <p:nvPr/>
        </p:nvSpPr>
        <p:spPr>
          <a:xfrm xmlns:a="http://schemas.openxmlformats.org/drawingml/2006/main">
            <a:off x="1247775" y="2971800"/>
            <a:ext cx="381000" cy="304800"/>
          </a:xfrm>
          <a:prstGeom xmlns:a="http://schemas.openxmlformats.org/drawingml/2006/main" prst="rect">
            <a:avLst/>
          </a:prstGeom>
          <a:solidFill xmlns:a="http://schemas.openxmlformats.org/drawingml/2006/main">
            <a:srgbClr val="DDF3F2"/>
          </a:solidFill>
          <a:ln xmlns:a="http://schemas.openxmlformats.org/drawingml/2006/main" w="9525">
            <a:solidFill>
              <a:srgbClr val="159E9C"/>
            </a:solidFill>
            <a:prstDash val="solid"/>
          </a:ln>
        </p:spPr>
      </p:sp>
      <p:sp>
        <p:nvSpPr>
          <p:cNvPr id="23" name="">
            <a:extLst xmlns:a="http://schemas.openxmlformats.org/drawingml/2006/main">
              <a:ext uri="{FF2B5EF4-FFF2-40B4-BE49-F238E27FC236}">
                <a16:creationId xmlns:a16="http://schemas.microsoft.com/office/drawing/2014/main" id="{80BE3D55-C770-4A50-842B-1CA72D71EFFD}"/>
              </a:ext>
            </a:extLst>
          </p:cNvPr>
          <p:cNvSpPr>
            <a:spLocks xmlns:a="http://schemas.openxmlformats.org/drawingml/2006/main" noGrp="1"/>
          </p:cNvSpPr>
          <p:nvPr/>
        </p:nvSpPr>
        <p:spPr>
          <a:xfrm xmlns:a="http://schemas.openxmlformats.org/drawingml/2006/main">
            <a:off x="1400175" y="3028950"/>
            <a:ext cx="76200" cy="76200"/>
          </a:xfrm>
          <a:prstGeom xmlns:a="http://schemas.openxmlformats.org/drawingml/2006/main" prst="ellipse">
            <a:avLst/>
          </a:prstGeom>
          <a:solidFill xmlns:a="http://schemas.openxmlformats.org/drawingml/2006/main">
            <a:srgbClr val="0B1F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5219898-7277-4CA2-ABEC-798EF7537EA6}"/>
              </a:ext>
            </a:extLst>
          </p:cNvPr>
          <p:cNvSpPr>
            <a:spLocks xmlns:a="http://schemas.openxmlformats.org/drawingml/2006/main" noGrp="1"/>
          </p:cNvSpPr>
          <p:nvPr/>
        </p:nvSpPr>
        <p:spPr>
          <a:xfrm xmlns:a="http://schemas.openxmlformats.org/drawingml/2006/main">
            <a:off x="1438275" y="3114675"/>
            <a:ext cx="0" cy="104775"/>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25" name="">
            <a:extLst xmlns:a="http://schemas.openxmlformats.org/drawingml/2006/main">
              <a:ext uri="{FF2B5EF4-FFF2-40B4-BE49-F238E27FC236}">
                <a16:creationId xmlns:a16="http://schemas.microsoft.com/office/drawing/2014/main" id="{8BED8DC5-A809-4BEF-A076-22765F644673}"/>
              </a:ext>
            </a:extLst>
          </p:cNvPr>
          <p:cNvSpPr>
            <a:spLocks xmlns:a="http://schemas.openxmlformats.org/drawingml/2006/main" noGrp="1"/>
          </p:cNvSpPr>
          <p:nvPr/>
        </p:nvSpPr>
        <p:spPr>
          <a:xfrm xmlns:a="http://schemas.openxmlformats.org/drawingml/2006/main">
            <a:off x="1714500" y="2971800"/>
            <a:ext cx="381000" cy="304800"/>
          </a:xfrm>
          <a:prstGeom xmlns:a="http://schemas.openxmlformats.org/drawingml/2006/main" prst="rect">
            <a:avLst/>
          </a:prstGeom>
          <a:solidFill xmlns:a="http://schemas.openxmlformats.org/drawingml/2006/main">
            <a:srgbClr val="DDF3F2"/>
          </a:solidFill>
          <a:ln xmlns:a="http://schemas.openxmlformats.org/drawingml/2006/main" w="9525">
            <a:solidFill>
              <a:srgbClr val="159E9C"/>
            </a:solidFill>
            <a:prstDash val="solid"/>
          </a:ln>
        </p:spPr>
      </p:sp>
      <p:sp>
        <p:nvSpPr>
          <p:cNvPr id="26" name="">
            <a:extLst xmlns:a="http://schemas.openxmlformats.org/drawingml/2006/main">
              <a:ext uri="{FF2B5EF4-FFF2-40B4-BE49-F238E27FC236}">
                <a16:creationId xmlns:a16="http://schemas.microsoft.com/office/drawing/2014/main" id="{D6AD0EB6-B048-4DA9-BAF8-7FC4B65B85E5}"/>
              </a:ext>
            </a:extLst>
          </p:cNvPr>
          <p:cNvSpPr>
            <a:spLocks xmlns:a="http://schemas.openxmlformats.org/drawingml/2006/main" noGrp="1"/>
          </p:cNvSpPr>
          <p:nvPr/>
        </p:nvSpPr>
        <p:spPr>
          <a:xfrm xmlns:a="http://schemas.openxmlformats.org/drawingml/2006/main">
            <a:off x="1866900" y="3028950"/>
            <a:ext cx="76200" cy="76200"/>
          </a:xfrm>
          <a:prstGeom xmlns:a="http://schemas.openxmlformats.org/drawingml/2006/main" prst="ellipse">
            <a:avLst/>
          </a:prstGeom>
          <a:solidFill xmlns:a="http://schemas.openxmlformats.org/drawingml/2006/main">
            <a:srgbClr val="0B1F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F92291F-1940-4CC0-BC16-23513806733A}"/>
              </a:ext>
            </a:extLst>
          </p:cNvPr>
          <p:cNvSpPr>
            <a:spLocks xmlns:a="http://schemas.openxmlformats.org/drawingml/2006/main" noGrp="1"/>
          </p:cNvSpPr>
          <p:nvPr/>
        </p:nvSpPr>
        <p:spPr>
          <a:xfrm xmlns:a="http://schemas.openxmlformats.org/drawingml/2006/main">
            <a:off x="1905000" y="3114675"/>
            <a:ext cx="0" cy="104775"/>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28" name="">
            <a:extLst xmlns:a="http://schemas.openxmlformats.org/drawingml/2006/main">
              <a:ext uri="{FF2B5EF4-FFF2-40B4-BE49-F238E27FC236}">
                <a16:creationId xmlns:a16="http://schemas.microsoft.com/office/drawing/2014/main" id="{2EA37099-0081-447B-834C-ED0C004493A9}"/>
              </a:ext>
            </a:extLst>
          </p:cNvPr>
          <p:cNvSpPr>
            <a:spLocks xmlns:a="http://schemas.openxmlformats.org/drawingml/2006/main" noGrp="1"/>
          </p:cNvSpPr>
          <p:nvPr/>
        </p:nvSpPr>
        <p:spPr>
          <a:xfrm xmlns:a="http://schemas.openxmlformats.org/drawingml/2006/main">
            <a:off x="2181225" y="2971800"/>
            <a:ext cx="381000" cy="304800"/>
          </a:xfrm>
          <a:prstGeom xmlns:a="http://schemas.openxmlformats.org/drawingml/2006/main" prst="rect">
            <a:avLst/>
          </a:prstGeom>
          <a:solidFill xmlns:a="http://schemas.openxmlformats.org/drawingml/2006/main">
            <a:srgbClr val="FFF1D4"/>
          </a:solidFill>
          <a:ln xmlns:a="http://schemas.openxmlformats.org/drawingml/2006/main" w="9525">
            <a:solidFill>
              <a:srgbClr val="F59E0B"/>
            </a:solidFill>
            <a:prstDash val="solid"/>
          </a:ln>
        </p:spPr>
      </p:sp>
      <p:sp>
        <p:nvSpPr>
          <p:cNvPr id="29" name="">
            <a:extLst xmlns:a="http://schemas.openxmlformats.org/drawingml/2006/main">
              <a:ext uri="{FF2B5EF4-FFF2-40B4-BE49-F238E27FC236}">
                <a16:creationId xmlns:a16="http://schemas.microsoft.com/office/drawing/2014/main" id="{25CA3F2B-F410-461F-A2E7-8BF619A4F1C1}"/>
              </a:ext>
            </a:extLst>
          </p:cNvPr>
          <p:cNvSpPr>
            <a:spLocks xmlns:a="http://schemas.openxmlformats.org/drawingml/2006/main" noGrp="1"/>
          </p:cNvSpPr>
          <p:nvPr/>
        </p:nvSpPr>
        <p:spPr>
          <a:xfrm xmlns:a="http://schemas.openxmlformats.org/drawingml/2006/main">
            <a:off x="2333625" y="3028950"/>
            <a:ext cx="76200" cy="76200"/>
          </a:xfrm>
          <a:prstGeom xmlns:a="http://schemas.openxmlformats.org/drawingml/2006/main" prst="ellipse">
            <a:avLst/>
          </a:prstGeom>
          <a:solidFill xmlns:a="http://schemas.openxmlformats.org/drawingml/2006/main">
            <a:srgbClr val="0B1F3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8C632D3-CC1B-424A-8B1D-6FDA2A138CC5}"/>
              </a:ext>
            </a:extLst>
          </p:cNvPr>
          <p:cNvSpPr>
            <a:spLocks xmlns:a="http://schemas.openxmlformats.org/drawingml/2006/main" noGrp="1"/>
          </p:cNvSpPr>
          <p:nvPr/>
        </p:nvSpPr>
        <p:spPr>
          <a:xfrm xmlns:a="http://schemas.openxmlformats.org/drawingml/2006/main">
            <a:off x="2371725" y="3114675"/>
            <a:ext cx="0" cy="104775"/>
          </a:xfrm>
          <a:prstGeom xmlns:a="http://schemas.openxmlformats.org/drawingml/2006/main" prst="line">
            <a:avLst/>
          </a:prstGeom>
          <a:noFill xmlns:a="http://schemas.openxmlformats.org/drawingml/2006/main"/>
          <a:ln xmlns:a="http://schemas.openxmlformats.org/drawingml/2006/main" w="11430">
            <a:solidFill>
              <a:srgbClr val="0B1F33"/>
            </a:solidFill>
            <a:prstDash val="solid"/>
          </a:ln>
        </p:spPr>
      </p:sp>
      <p:sp>
        <p:nvSpPr>
          <p:cNvPr id="31" name="">
            <a:extLst xmlns:a="http://schemas.openxmlformats.org/drawingml/2006/main">
              <a:ext uri="{FF2B5EF4-FFF2-40B4-BE49-F238E27FC236}">
                <a16:creationId xmlns:a16="http://schemas.microsoft.com/office/drawing/2014/main" id="{5D209287-C540-46F3-8832-F0982739F420}"/>
              </a:ext>
            </a:extLst>
          </p:cNvPr>
          <p:cNvSpPr>
            <a:spLocks xmlns:a="http://schemas.openxmlformats.org/drawingml/2006/main" noGrp="1"/>
          </p:cNvSpPr>
          <p:nvPr/>
        </p:nvSpPr>
        <p:spPr>
          <a:xfrm xmlns:a="http://schemas.openxmlformats.org/drawingml/2006/main">
            <a:off x="3333750" y="2190750"/>
            <a:ext cx="1524000" cy="1123950"/>
          </a:xfrm>
          <a:prstGeom xmlns:a="http://schemas.openxmlformats.org/drawingml/2006/main" prst="roundRect">
            <a:avLst>
              <a:gd name="adj" fmla="val 10169"/>
            </a:avLst>
          </a:prstGeom>
          <a:solidFill xmlns:a="http://schemas.openxmlformats.org/drawingml/2006/main">
            <a:srgbClr val="0B1F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6D9ECEB-ACAC-4435-9222-54ABDECE7A8D}"/>
              </a:ext>
            </a:extLst>
          </p:cNvPr>
          <p:cNvSpPr>
            <a:spLocks xmlns:a="http://schemas.openxmlformats.org/drawingml/2006/main" noGrp="1"/>
          </p:cNvSpPr>
          <p:nvPr/>
        </p:nvSpPr>
        <p:spPr>
          <a:xfrm xmlns:a="http://schemas.openxmlformats.org/drawingml/2006/main">
            <a:off x="3486150" y="2447925"/>
            <a:ext cx="1219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ResNet18</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pretrained</a:t>
            </a:r>
          </a:p>
        </p:txBody>
      </p:sp>
      <p:sp>
        <p:nvSpPr>
          <p:cNvPr id="33" name="">
            <a:extLst xmlns:a="http://schemas.openxmlformats.org/drawingml/2006/main">
              <a:ext uri="{FF2B5EF4-FFF2-40B4-BE49-F238E27FC236}">
                <a16:creationId xmlns:a16="http://schemas.microsoft.com/office/drawing/2014/main" id="{A7AE369A-8769-4ABD-9B77-59F8C0663EE3}"/>
              </a:ext>
            </a:extLst>
          </p:cNvPr>
          <p:cNvSpPr>
            <a:spLocks xmlns:a="http://schemas.openxmlformats.org/drawingml/2006/main" noGrp="1"/>
          </p:cNvSpPr>
          <p:nvPr/>
        </p:nvSpPr>
        <p:spPr>
          <a:xfrm xmlns:a="http://schemas.openxmlformats.org/drawingml/2006/main">
            <a:off x="5276850" y="2190750"/>
            <a:ext cx="1333500" cy="1123950"/>
          </a:xfrm>
          <a:prstGeom xmlns:a="http://schemas.openxmlformats.org/drawingml/2006/main" prst="roundRect">
            <a:avLst>
              <a:gd name="adj" fmla="val 10169"/>
            </a:avLst>
          </a:prstGeom>
          <a:solidFill xmlns:a="http://schemas.openxmlformats.org/drawingml/2006/main">
            <a:srgbClr val="E8EEF2"/>
          </a:solidFill>
          <a:ln xmlns:a="http://schemas.openxmlformats.org/drawingml/2006/main" w="19050">
            <a:solidFill>
              <a:srgbClr val="159E9C"/>
            </a:solidFill>
            <a:prstDash val="solid"/>
          </a:ln>
        </p:spPr>
      </p:sp>
      <p:sp>
        <p:nvSpPr>
          <p:cNvPr id="34" name="">
            <a:extLst xmlns:a="http://schemas.openxmlformats.org/drawingml/2006/main">
              <a:ext uri="{FF2B5EF4-FFF2-40B4-BE49-F238E27FC236}">
                <a16:creationId xmlns:a16="http://schemas.microsoft.com/office/drawing/2014/main" id="{1C96EC02-1A6E-416A-9768-9E2B67A32515}"/>
              </a:ext>
            </a:extLst>
          </p:cNvPr>
          <p:cNvSpPr>
            <a:spLocks xmlns:a="http://schemas.openxmlformats.org/drawingml/2006/main" noGrp="1"/>
          </p:cNvSpPr>
          <p:nvPr/>
        </p:nvSpPr>
        <p:spPr>
          <a:xfrm xmlns:a="http://schemas.openxmlformats.org/drawingml/2006/main">
            <a:off x="5391150" y="2943225"/>
            <a:ext cx="1104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1125" b="1">
                <a:solidFill>
                  <a:srgbClr val="0B1F33"/>
                </a:solidFill>
                <a:latin typeface="Arial"/>
                <a:ea typeface="Arial"/>
                <a:cs typeface="Arial"/>
              </a:defRPr>
            </a:pPr>
            <a:r>
              <a:rPr sz="1125" b="1">
                <a:solidFill>
                  <a:srgbClr val="0B1F33"/>
                </a:solidFill>
                <a:latin typeface="Arial"/>
                <a:ea typeface="Arial"/>
                <a:cs typeface="Arial"/>
              </a:rPr>
              <a:t>FEATURE MAP</a:t>
            </a:r>
          </a:p>
        </p:txBody>
      </p:sp>
      <p:sp>
        <p:nvSpPr>
          <p:cNvPr id="35" name="">
            <a:extLst xmlns:a="http://schemas.openxmlformats.org/drawingml/2006/main">
              <a:ext uri="{FF2B5EF4-FFF2-40B4-BE49-F238E27FC236}">
                <a16:creationId xmlns:a16="http://schemas.microsoft.com/office/drawing/2014/main" id="{D53F6EC6-D4C8-471A-82FD-FD74BF4630B8}"/>
              </a:ext>
            </a:extLst>
          </p:cNvPr>
          <p:cNvSpPr>
            <a:spLocks xmlns:a="http://schemas.openxmlformats.org/drawingml/2006/main" noGrp="1"/>
          </p:cNvSpPr>
          <p:nvPr/>
        </p:nvSpPr>
        <p:spPr>
          <a:xfrm xmlns:a="http://schemas.openxmlformats.org/drawingml/2006/main">
            <a:off x="5514975" y="2324100"/>
            <a:ext cx="123825" cy="95250"/>
          </a:xfrm>
          <a:prstGeom xmlns:a="http://schemas.openxmlformats.org/drawingml/2006/main" prst="rect">
            <a:avLst/>
          </a:prstGeom>
          <a:solidFill xmlns:a="http://schemas.openxmlformats.org/drawingml/2006/main">
            <a:srgbClr val="159E9C"/>
          </a:solidFill>
          <a:ln xmlns:a="http://schemas.openxmlformats.org/drawingml/2006/main" w="5715">
            <a:solidFill>
              <a:srgbClr val="CBD6DE"/>
            </a:solidFill>
            <a:prstDash val="solid"/>
          </a:ln>
        </p:spPr>
      </p:sp>
      <p:sp>
        <p:nvSpPr>
          <p:cNvPr id="36" name="">
            <a:extLst xmlns:a="http://schemas.openxmlformats.org/drawingml/2006/main">
              <a:ext uri="{FF2B5EF4-FFF2-40B4-BE49-F238E27FC236}">
                <a16:creationId xmlns:a16="http://schemas.microsoft.com/office/drawing/2014/main" id="{9D80226B-B4D7-4741-BFDD-96708ECA5F9D}"/>
              </a:ext>
            </a:extLst>
          </p:cNvPr>
          <p:cNvSpPr>
            <a:spLocks xmlns:a="http://schemas.openxmlformats.org/drawingml/2006/main" noGrp="1"/>
          </p:cNvSpPr>
          <p:nvPr/>
        </p:nvSpPr>
        <p:spPr>
          <a:xfrm xmlns:a="http://schemas.openxmlformats.org/drawingml/2006/main">
            <a:off x="5676900" y="232410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37" name="">
            <a:extLst xmlns:a="http://schemas.openxmlformats.org/drawingml/2006/main">
              <a:ext uri="{FF2B5EF4-FFF2-40B4-BE49-F238E27FC236}">
                <a16:creationId xmlns:a16="http://schemas.microsoft.com/office/drawing/2014/main" id="{AB8FAAB3-FFD1-40FE-846E-3EC62BE76EC0}"/>
              </a:ext>
            </a:extLst>
          </p:cNvPr>
          <p:cNvSpPr>
            <a:spLocks xmlns:a="http://schemas.openxmlformats.org/drawingml/2006/main" noGrp="1"/>
          </p:cNvSpPr>
          <p:nvPr/>
        </p:nvSpPr>
        <p:spPr>
          <a:xfrm xmlns:a="http://schemas.openxmlformats.org/drawingml/2006/main">
            <a:off x="5838825" y="232410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38" name="">
            <a:extLst xmlns:a="http://schemas.openxmlformats.org/drawingml/2006/main">
              <a:ext uri="{FF2B5EF4-FFF2-40B4-BE49-F238E27FC236}">
                <a16:creationId xmlns:a16="http://schemas.microsoft.com/office/drawing/2014/main" id="{D9418B2F-BE21-4DF1-A4F8-AEE4EAEA77E1}"/>
              </a:ext>
            </a:extLst>
          </p:cNvPr>
          <p:cNvSpPr>
            <a:spLocks xmlns:a="http://schemas.openxmlformats.org/drawingml/2006/main" noGrp="1"/>
          </p:cNvSpPr>
          <p:nvPr/>
        </p:nvSpPr>
        <p:spPr>
          <a:xfrm xmlns:a="http://schemas.openxmlformats.org/drawingml/2006/main">
            <a:off x="6000750" y="2324100"/>
            <a:ext cx="123825" cy="95250"/>
          </a:xfrm>
          <a:prstGeom xmlns:a="http://schemas.openxmlformats.org/drawingml/2006/main" prst="rect">
            <a:avLst/>
          </a:prstGeom>
          <a:solidFill xmlns:a="http://schemas.openxmlformats.org/drawingml/2006/main">
            <a:srgbClr val="159E9C"/>
          </a:solidFill>
          <a:ln xmlns:a="http://schemas.openxmlformats.org/drawingml/2006/main" w="5715">
            <a:solidFill>
              <a:srgbClr val="CBD6DE"/>
            </a:solidFill>
            <a:prstDash val="solid"/>
          </a:ln>
        </p:spPr>
      </p:sp>
      <p:sp>
        <p:nvSpPr>
          <p:cNvPr id="39" name="">
            <a:extLst xmlns:a="http://schemas.openxmlformats.org/drawingml/2006/main">
              <a:ext uri="{FF2B5EF4-FFF2-40B4-BE49-F238E27FC236}">
                <a16:creationId xmlns:a16="http://schemas.microsoft.com/office/drawing/2014/main" id="{89DB8E4C-1B80-4ED4-8C83-CA4F2F1EAE16}"/>
              </a:ext>
            </a:extLst>
          </p:cNvPr>
          <p:cNvSpPr>
            <a:spLocks xmlns:a="http://schemas.openxmlformats.org/drawingml/2006/main" noGrp="1"/>
          </p:cNvSpPr>
          <p:nvPr/>
        </p:nvSpPr>
        <p:spPr>
          <a:xfrm xmlns:a="http://schemas.openxmlformats.org/drawingml/2006/main">
            <a:off x="6162675" y="232410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40" name="">
            <a:extLst xmlns:a="http://schemas.openxmlformats.org/drawingml/2006/main">
              <a:ext uri="{FF2B5EF4-FFF2-40B4-BE49-F238E27FC236}">
                <a16:creationId xmlns:a16="http://schemas.microsoft.com/office/drawing/2014/main" id="{D6119AE4-E00E-495D-BD64-78E5E84FAFA4}"/>
              </a:ext>
            </a:extLst>
          </p:cNvPr>
          <p:cNvSpPr>
            <a:spLocks xmlns:a="http://schemas.openxmlformats.org/drawingml/2006/main" noGrp="1"/>
          </p:cNvSpPr>
          <p:nvPr/>
        </p:nvSpPr>
        <p:spPr>
          <a:xfrm xmlns:a="http://schemas.openxmlformats.org/drawingml/2006/main">
            <a:off x="5514975" y="245745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41" name="">
            <a:extLst xmlns:a="http://schemas.openxmlformats.org/drawingml/2006/main">
              <a:ext uri="{FF2B5EF4-FFF2-40B4-BE49-F238E27FC236}">
                <a16:creationId xmlns:a16="http://schemas.microsoft.com/office/drawing/2014/main" id="{8A835E31-912D-4703-B787-D33DEDD59D2C}"/>
              </a:ext>
            </a:extLst>
          </p:cNvPr>
          <p:cNvSpPr>
            <a:spLocks xmlns:a="http://schemas.openxmlformats.org/drawingml/2006/main" noGrp="1"/>
          </p:cNvSpPr>
          <p:nvPr/>
        </p:nvSpPr>
        <p:spPr>
          <a:xfrm xmlns:a="http://schemas.openxmlformats.org/drawingml/2006/main">
            <a:off x="5676900" y="245745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42" name="">
            <a:extLst xmlns:a="http://schemas.openxmlformats.org/drawingml/2006/main">
              <a:ext uri="{FF2B5EF4-FFF2-40B4-BE49-F238E27FC236}">
                <a16:creationId xmlns:a16="http://schemas.microsoft.com/office/drawing/2014/main" id="{6D153B6F-D761-4958-B05A-EF034079A430}"/>
              </a:ext>
            </a:extLst>
          </p:cNvPr>
          <p:cNvSpPr>
            <a:spLocks xmlns:a="http://schemas.openxmlformats.org/drawingml/2006/main" noGrp="1"/>
          </p:cNvSpPr>
          <p:nvPr/>
        </p:nvSpPr>
        <p:spPr>
          <a:xfrm xmlns:a="http://schemas.openxmlformats.org/drawingml/2006/main">
            <a:off x="5838825" y="2457450"/>
            <a:ext cx="123825" cy="95250"/>
          </a:xfrm>
          <a:prstGeom xmlns:a="http://schemas.openxmlformats.org/drawingml/2006/main" prst="rect">
            <a:avLst/>
          </a:prstGeom>
          <a:solidFill xmlns:a="http://schemas.openxmlformats.org/drawingml/2006/main">
            <a:srgbClr val="159E9C"/>
          </a:solidFill>
          <a:ln xmlns:a="http://schemas.openxmlformats.org/drawingml/2006/main" w="5715">
            <a:solidFill>
              <a:srgbClr val="CBD6DE"/>
            </a:solidFill>
            <a:prstDash val="solid"/>
          </a:ln>
        </p:spPr>
      </p:sp>
      <p:sp>
        <p:nvSpPr>
          <p:cNvPr id="43" name="">
            <a:extLst xmlns:a="http://schemas.openxmlformats.org/drawingml/2006/main">
              <a:ext uri="{FF2B5EF4-FFF2-40B4-BE49-F238E27FC236}">
                <a16:creationId xmlns:a16="http://schemas.microsoft.com/office/drawing/2014/main" id="{217C9D97-D071-428A-9FBE-BD1847CA8BB3}"/>
              </a:ext>
            </a:extLst>
          </p:cNvPr>
          <p:cNvSpPr>
            <a:spLocks xmlns:a="http://schemas.openxmlformats.org/drawingml/2006/main" noGrp="1"/>
          </p:cNvSpPr>
          <p:nvPr/>
        </p:nvSpPr>
        <p:spPr>
          <a:xfrm xmlns:a="http://schemas.openxmlformats.org/drawingml/2006/main">
            <a:off x="6000750" y="245745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44" name="">
            <a:extLst xmlns:a="http://schemas.openxmlformats.org/drawingml/2006/main">
              <a:ext uri="{FF2B5EF4-FFF2-40B4-BE49-F238E27FC236}">
                <a16:creationId xmlns:a16="http://schemas.microsoft.com/office/drawing/2014/main" id="{1FE6922D-5D06-47FE-9C1A-8203D1DD6866}"/>
              </a:ext>
            </a:extLst>
          </p:cNvPr>
          <p:cNvSpPr>
            <a:spLocks xmlns:a="http://schemas.openxmlformats.org/drawingml/2006/main" noGrp="1"/>
          </p:cNvSpPr>
          <p:nvPr/>
        </p:nvSpPr>
        <p:spPr>
          <a:xfrm xmlns:a="http://schemas.openxmlformats.org/drawingml/2006/main">
            <a:off x="6162675" y="245745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45" name="">
            <a:extLst xmlns:a="http://schemas.openxmlformats.org/drawingml/2006/main">
              <a:ext uri="{FF2B5EF4-FFF2-40B4-BE49-F238E27FC236}">
                <a16:creationId xmlns:a16="http://schemas.microsoft.com/office/drawing/2014/main" id="{5CF814A9-D8F3-429C-89DD-5CCF038DE322}"/>
              </a:ext>
            </a:extLst>
          </p:cNvPr>
          <p:cNvSpPr>
            <a:spLocks xmlns:a="http://schemas.openxmlformats.org/drawingml/2006/main" noGrp="1"/>
          </p:cNvSpPr>
          <p:nvPr/>
        </p:nvSpPr>
        <p:spPr>
          <a:xfrm xmlns:a="http://schemas.openxmlformats.org/drawingml/2006/main">
            <a:off x="5514975" y="259080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46" name="">
            <a:extLst xmlns:a="http://schemas.openxmlformats.org/drawingml/2006/main">
              <a:ext uri="{FF2B5EF4-FFF2-40B4-BE49-F238E27FC236}">
                <a16:creationId xmlns:a16="http://schemas.microsoft.com/office/drawing/2014/main" id="{F5E08659-776A-41A0-8722-22B27642F448}"/>
              </a:ext>
            </a:extLst>
          </p:cNvPr>
          <p:cNvSpPr>
            <a:spLocks xmlns:a="http://schemas.openxmlformats.org/drawingml/2006/main" noGrp="1"/>
          </p:cNvSpPr>
          <p:nvPr/>
        </p:nvSpPr>
        <p:spPr>
          <a:xfrm xmlns:a="http://schemas.openxmlformats.org/drawingml/2006/main">
            <a:off x="5676900" y="2590800"/>
            <a:ext cx="123825" cy="95250"/>
          </a:xfrm>
          <a:prstGeom xmlns:a="http://schemas.openxmlformats.org/drawingml/2006/main" prst="rect">
            <a:avLst/>
          </a:prstGeom>
          <a:solidFill xmlns:a="http://schemas.openxmlformats.org/drawingml/2006/main">
            <a:srgbClr val="159E9C"/>
          </a:solidFill>
          <a:ln xmlns:a="http://schemas.openxmlformats.org/drawingml/2006/main" w="5715">
            <a:solidFill>
              <a:srgbClr val="CBD6DE"/>
            </a:solidFill>
            <a:prstDash val="solid"/>
          </a:ln>
        </p:spPr>
      </p:sp>
      <p:sp>
        <p:nvSpPr>
          <p:cNvPr id="47" name="">
            <a:extLst xmlns:a="http://schemas.openxmlformats.org/drawingml/2006/main">
              <a:ext uri="{FF2B5EF4-FFF2-40B4-BE49-F238E27FC236}">
                <a16:creationId xmlns:a16="http://schemas.microsoft.com/office/drawing/2014/main" id="{DF0E95AF-E199-4A14-B627-64A72ACF6C9E}"/>
              </a:ext>
            </a:extLst>
          </p:cNvPr>
          <p:cNvSpPr>
            <a:spLocks xmlns:a="http://schemas.openxmlformats.org/drawingml/2006/main" noGrp="1"/>
          </p:cNvSpPr>
          <p:nvPr/>
        </p:nvSpPr>
        <p:spPr>
          <a:xfrm xmlns:a="http://schemas.openxmlformats.org/drawingml/2006/main">
            <a:off x="5838825" y="259080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48" name="">
            <a:extLst xmlns:a="http://schemas.openxmlformats.org/drawingml/2006/main">
              <a:ext uri="{FF2B5EF4-FFF2-40B4-BE49-F238E27FC236}">
                <a16:creationId xmlns:a16="http://schemas.microsoft.com/office/drawing/2014/main" id="{447FEF8F-946E-493E-9B76-4811244ED907}"/>
              </a:ext>
            </a:extLst>
          </p:cNvPr>
          <p:cNvSpPr>
            <a:spLocks xmlns:a="http://schemas.openxmlformats.org/drawingml/2006/main" noGrp="1"/>
          </p:cNvSpPr>
          <p:nvPr/>
        </p:nvSpPr>
        <p:spPr>
          <a:xfrm xmlns:a="http://schemas.openxmlformats.org/drawingml/2006/main">
            <a:off x="6000750" y="259080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49" name="">
            <a:extLst xmlns:a="http://schemas.openxmlformats.org/drawingml/2006/main">
              <a:ext uri="{FF2B5EF4-FFF2-40B4-BE49-F238E27FC236}">
                <a16:creationId xmlns:a16="http://schemas.microsoft.com/office/drawing/2014/main" id="{AD5C5F1D-9AA1-47DA-8DFB-6A2B03153E1B}"/>
              </a:ext>
            </a:extLst>
          </p:cNvPr>
          <p:cNvSpPr>
            <a:spLocks xmlns:a="http://schemas.openxmlformats.org/drawingml/2006/main" noGrp="1"/>
          </p:cNvSpPr>
          <p:nvPr/>
        </p:nvSpPr>
        <p:spPr>
          <a:xfrm xmlns:a="http://schemas.openxmlformats.org/drawingml/2006/main">
            <a:off x="6162675" y="2590800"/>
            <a:ext cx="123825" cy="95250"/>
          </a:xfrm>
          <a:prstGeom xmlns:a="http://schemas.openxmlformats.org/drawingml/2006/main" prst="rect">
            <a:avLst/>
          </a:prstGeom>
          <a:solidFill xmlns:a="http://schemas.openxmlformats.org/drawingml/2006/main">
            <a:srgbClr val="159E9C"/>
          </a:solidFill>
          <a:ln xmlns:a="http://schemas.openxmlformats.org/drawingml/2006/main" w="5715">
            <a:solidFill>
              <a:srgbClr val="CBD6DE"/>
            </a:solidFill>
            <a:prstDash val="solid"/>
          </a:ln>
        </p:spPr>
      </p:sp>
      <p:sp>
        <p:nvSpPr>
          <p:cNvPr id="50" name="">
            <a:extLst xmlns:a="http://schemas.openxmlformats.org/drawingml/2006/main">
              <a:ext uri="{FF2B5EF4-FFF2-40B4-BE49-F238E27FC236}">
                <a16:creationId xmlns:a16="http://schemas.microsoft.com/office/drawing/2014/main" id="{1AF20E7A-37C5-424C-8535-C3D8C5CB3BB1}"/>
              </a:ext>
            </a:extLst>
          </p:cNvPr>
          <p:cNvSpPr>
            <a:spLocks xmlns:a="http://schemas.openxmlformats.org/drawingml/2006/main" noGrp="1"/>
          </p:cNvSpPr>
          <p:nvPr/>
        </p:nvSpPr>
        <p:spPr>
          <a:xfrm xmlns:a="http://schemas.openxmlformats.org/drawingml/2006/main">
            <a:off x="5514975" y="2724150"/>
            <a:ext cx="123825" cy="95250"/>
          </a:xfrm>
          <a:prstGeom xmlns:a="http://schemas.openxmlformats.org/drawingml/2006/main" prst="rect">
            <a:avLst/>
          </a:prstGeom>
          <a:solidFill xmlns:a="http://schemas.openxmlformats.org/drawingml/2006/main">
            <a:srgbClr val="159E9C"/>
          </a:solidFill>
          <a:ln xmlns:a="http://schemas.openxmlformats.org/drawingml/2006/main" w="5715">
            <a:solidFill>
              <a:srgbClr val="CBD6DE"/>
            </a:solidFill>
            <a:prstDash val="solid"/>
          </a:ln>
        </p:spPr>
      </p:sp>
      <p:sp>
        <p:nvSpPr>
          <p:cNvPr id="51" name="">
            <a:extLst xmlns:a="http://schemas.openxmlformats.org/drawingml/2006/main">
              <a:ext uri="{FF2B5EF4-FFF2-40B4-BE49-F238E27FC236}">
                <a16:creationId xmlns:a16="http://schemas.microsoft.com/office/drawing/2014/main" id="{84992121-C088-4A3F-82F3-40248627526A}"/>
              </a:ext>
            </a:extLst>
          </p:cNvPr>
          <p:cNvSpPr>
            <a:spLocks xmlns:a="http://schemas.openxmlformats.org/drawingml/2006/main" noGrp="1"/>
          </p:cNvSpPr>
          <p:nvPr/>
        </p:nvSpPr>
        <p:spPr>
          <a:xfrm xmlns:a="http://schemas.openxmlformats.org/drawingml/2006/main">
            <a:off x="5676900" y="272415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52" name="">
            <a:extLst xmlns:a="http://schemas.openxmlformats.org/drawingml/2006/main">
              <a:ext uri="{FF2B5EF4-FFF2-40B4-BE49-F238E27FC236}">
                <a16:creationId xmlns:a16="http://schemas.microsoft.com/office/drawing/2014/main" id="{AE8C0FCC-20E1-4228-9D75-C5E7EC5374DF}"/>
              </a:ext>
            </a:extLst>
          </p:cNvPr>
          <p:cNvSpPr>
            <a:spLocks xmlns:a="http://schemas.openxmlformats.org/drawingml/2006/main" noGrp="1"/>
          </p:cNvSpPr>
          <p:nvPr/>
        </p:nvSpPr>
        <p:spPr>
          <a:xfrm xmlns:a="http://schemas.openxmlformats.org/drawingml/2006/main">
            <a:off x="5838825" y="272415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53" name="">
            <a:extLst xmlns:a="http://schemas.openxmlformats.org/drawingml/2006/main">
              <a:ext uri="{FF2B5EF4-FFF2-40B4-BE49-F238E27FC236}">
                <a16:creationId xmlns:a16="http://schemas.microsoft.com/office/drawing/2014/main" id="{EBD8FE66-650C-4DC5-A661-65C7E32231FD}"/>
              </a:ext>
            </a:extLst>
          </p:cNvPr>
          <p:cNvSpPr>
            <a:spLocks xmlns:a="http://schemas.openxmlformats.org/drawingml/2006/main" noGrp="1"/>
          </p:cNvSpPr>
          <p:nvPr/>
        </p:nvSpPr>
        <p:spPr>
          <a:xfrm xmlns:a="http://schemas.openxmlformats.org/drawingml/2006/main">
            <a:off x="6000750" y="2724150"/>
            <a:ext cx="123825" cy="95250"/>
          </a:xfrm>
          <a:prstGeom xmlns:a="http://schemas.openxmlformats.org/drawingml/2006/main" prst="rect">
            <a:avLst/>
          </a:prstGeom>
          <a:solidFill xmlns:a="http://schemas.openxmlformats.org/drawingml/2006/main">
            <a:srgbClr val="159E9C"/>
          </a:solidFill>
          <a:ln xmlns:a="http://schemas.openxmlformats.org/drawingml/2006/main" w="5715">
            <a:solidFill>
              <a:srgbClr val="CBD6DE"/>
            </a:solidFill>
            <a:prstDash val="solid"/>
          </a:ln>
        </p:spPr>
      </p:sp>
      <p:sp>
        <p:nvSpPr>
          <p:cNvPr id="54" name="">
            <a:extLst xmlns:a="http://schemas.openxmlformats.org/drawingml/2006/main">
              <a:ext uri="{FF2B5EF4-FFF2-40B4-BE49-F238E27FC236}">
                <a16:creationId xmlns:a16="http://schemas.microsoft.com/office/drawing/2014/main" id="{64266857-8E28-43DD-A46F-CC878A0844FC}"/>
              </a:ext>
            </a:extLst>
          </p:cNvPr>
          <p:cNvSpPr>
            <a:spLocks xmlns:a="http://schemas.openxmlformats.org/drawingml/2006/main" noGrp="1"/>
          </p:cNvSpPr>
          <p:nvPr/>
        </p:nvSpPr>
        <p:spPr>
          <a:xfrm xmlns:a="http://schemas.openxmlformats.org/drawingml/2006/main">
            <a:off x="6162675" y="2724150"/>
            <a:ext cx="123825" cy="95250"/>
          </a:xfrm>
          <a:prstGeom xmlns:a="http://schemas.openxmlformats.org/drawingml/2006/main" prst="rect">
            <a:avLst/>
          </a:prstGeom>
          <a:solidFill xmlns:a="http://schemas.openxmlformats.org/drawingml/2006/main">
            <a:srgbClr val="FFFFFF"/>
          </a:solidFill>
          <a:ln xmlns:a="http://schemas.openxmlformats.org/drawingml/2006/main" w="5715">
            <a:solidFill>
              <a:srgbClr val="CBD6DE"/>
            </a:solidFill>
            <a:prstDash val="solid"/>
          </a:ln>
        </p:spPr>
      </p:sp>
      <p:sp>
        <p:nvSpPr>
          <p:cNvPr id="55" name="">
            <a:extLst xmlns:a="http://schemas.openxmlformats.org/drawingml/2006/main">
              <a:ext uri="{FF2B5EF4-FFF2-40B4-BE49-F238E27FC236}">
                <a16:creationId xmlns:a16="http://schemas.microsoft.com/office/drawing/2014/main" id="{95317E76-9C19-4E14-B359-912B88D7D67F}"/>
              </a:ext>
            </a:extLst>
          </p:cNvPr>
          <p:cNvSpPr>
            <a:spLocks xmlns:a="http://schemas.openxmlformats.org/drawingml/2006/main" noGrp="1"/>
          </p:cNvSpPr>
          <p:nvPr/>
        </p:nvSpPr>
        <p:spPr>
          <a:xfrm xmlns:a="http://schemas.openxmlformats.org/drawingml/2006/main">
            <a:off x="7029450" y="2028825"/>
            <a:ext cx="1809750" cy="1447800"/>
          </a:xfrm>
          <a:prstGeom xmlns:a="http://schemas.openxmlformats.org/drawingml/2006/main" prst="roundRect">
            <a:avLst>
              <a:gd name="adj" fmla="val 7895"/>
            </a:avLst>
          </a:prstGeom>
          <a:solidFill xmlns:a="http://schemas.openxmlformats.org/drawingml/2006/main">
            <a:srgbClr val="102B45"/>
          </a:solidFill>
          <a:ln xmlns:a="http://schemas.openxmlformats.org/drawingml/2006/main" w="19050">
            <a:solidFill>
              <a:srgbClr val="159E9C"/>
            </a:solidFill>
            <a:prstDash val="solid"/>
          </a:ln>
        </p:spPr>
      </p:sp>
      <p:sp>
        <p:nvSpPr>
          <p:cNvPr id="56" name="">
            <a:extLst xmlns:a="http://schemas.openxmlformats.org/drawingml/2006/main">
              <a:ext uri="{FF2B5EF4-FFF2-40B4-BE49-F238E27FC236}">
                <a16:creationId xmlns:a16="http://schemas.microsoft.com/office/drawing/2014/main" id="{38456404-C547-4EB2-9FE0-716ABD9C9FB9}"/>
              </a:ext>
            </a:extLst>
          </p:cNvPr>
          <p:cNvSpPr>
            <a:spLocks xmlns:a="http://schemas.openxmlformats.org/drawingml/2006/main" noGrp="1"/>
          </p:cNvSpPr>
          <p:nvPr/>
        </p:nvSpPr>
        <p:spPr>
          <a:xfrm xmlns:a="http://schemas.openxmlformats.org/drawingml/2006/main">
            <a:off x="7153275" y="2181225"/>
            <a:ext cx="1562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6354"/>
          </a:bodyPr>
          <a:lstStyle xmlns:a="http://schemas.openxmlformats.org/drawingml/2006/main"/>
          <a:p xmlns:a="http://schemas.openxmlformats.org/drawingml/2006/main">
            <a:pPr algn="ctr">
              <a:defRPr sz="1200" b="1">
                <a:solidFill>
                  <a:srgbClr val="85CFCC"/>
                </a:solidFill>
                <a:latin typeface="Arial"/>
                <a:ea typeface="Arial"/>
                <a:cs typeface="Arial"/>
              </a:defRPr>
            </a:pPr>
            <a:r>
              <a:rPr sz="1200" b="1">
                <a:solidFill>
                  <a:srgbClr val="85CFCC"/>
                </a:solidFill>
                <a:latin typeface="Arial"/>
                <a:ea typeface="Arial"/>
                <a:cs typeface="Arial"/>
              </a:rPr>
              <a:t>POSITIONAL</a:t>
            </a:r>
          </a:p>
          <a:p xmlns:a="http://schemas.openxmlformats.org/drawingml/2006/main">
            <a:pPr algn="ctr">
              <a:defRPr sz="1200" b="1">
                <a:solidFill>
                  <a:srgbClr val="85CFCC"/>
                </a:solidFill>
                <a:latin typeface="Arial"/>
                <a:ea typeface="Arial"/>
                <a:cs typeface="Arial"/>
              </a:defRPr>
            </a:pPr>
            <a:r>
              <a:rPr sz="1200" b="1">
                <a:solidFill>
                  <a:srgbClr val="85CFCC"/>
                </a:solidFill>
                <a:latin typeface="Arial"/>
                <a:ea typeface="Arial"/>
                <a:cs typeface="Arial"/>
              </a:rPr>
              <a:t>ENCODING</a:t>
            </a:r>
          </a:p>
        </p:txBody>
      </p:sp>
      <p:sp>
        <p:nvSpPr>
          <p:cNvPr id="57" name="">
            <a:extLst xmlns:a="http://schemas.openxmlformats.org/drawingml/2006/main">
              <a:ext uri="{FF2B5EF4-FFF2-40B4-BE49-F238E27FC236}">
                <a16:creationId xmlns:a16="http://schemas.microsoft.com/office/drawing/2014/main" id="{5DE7DBCC-B833-4B13-BFBA-71D9EBE43009}"/>
              </a:ext>
            </a:extLst>
          </p:cNvPr>
          <p:cNvSpPr>
            <a:spLocks xmlns:a="http://schemas.openxmlformats.org/drawingml/2006/main" noGrp="1"/>
          </p:cNvSpPr>
          <p:nvPr/>
        </p:nvSpPr>
        <p:spPr>
          <a:xfrm xmlns:a="http://schemas.openxmlformats.org/drawingml/2006/main">
            <a:off x="7153275" y="2695575"/>
            <a:ext cx="1562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4392"/>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TRANSFORMER</a:t>
            </a:r>
          </a:p>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ENCODER 2 LỚP</a:t>
            </a:r>
          </a:p>
        </p:txBody>
      </p:sp>
      <p:sp>
        <p:nvSpPr>
          <p:cNvPr id="58" name="">
            <a:extLst xmlns:a="http://schemas.openxmlformats.org/drawingml/2006/main">
              <a:ext uri="{FF2B5EF4-FFF2-40B4-BE49-F238E27FC236}">
                <a16:creationId xmlns:a16="http://schemas.microsoft.com/office/drawing/2014/main" id="{5946A822-5FAC-488A-BD64-59006474FEE4}"/>
              </a:ext>
            </a:extLst>
          </p:cNvPr>
          <p:cNvSpPr>
            <a:spLocks xmlns:a="http://schemas.openxmlformats.org/drawingml/2006/main" noGrp="1"/>
          </p:cNvSpPr>
          <p:nvPr/>
        </p:nvSpPr>
        <p:spPr>
          <a:xfrm xmlns:a="http://schemas.openxmlformats.org/drawingml/2006/main">
            <a:off x="9258300" y="1866900"/>
            <a:ext cx="1257300" cy="781050"/>
          </a:xfrm>
          <a:prstGeom xmlns:a="http://schemas.openxmlformats.org/drawingml/2006/main" prst="roundRect">
            <a:avLst>
              <a:gd name="adj" fmla="val 12195"/>
            </a:avLst>
          </a:prstGeom>
          <a:solidFill xmlns:a="http://schemas.openxmlformats.org/drawingml/2006/main">
            <a:srgbClr val="DDF3F2"/>
          </a:solidFill>
          <a:ln xmlns:a="http://schemas.openxmlformats.org/drawingml/2006/main" w="14288">
            <a:solidFill>
              <a:srgbClr val="159E9C"/>
            </a:solidFill>
            <a:prstDash val="solid"/>
          </a:ln>
        </p:spPr>
      </p:sp>
      <p:sp>
        <p:nvSpPr>
          <p:cNvPr id="59" name="">
            <a:extLst xmlns:a="http://schemas.openxmlformats.org/drawingml/2006/main">
              <a:ext uri="{FF2B5EF4-FFF2-40B4-BE49-F238E27FC236}">
                <a16:creationId xmlns:a16="http://schemas.microsoft.com/office/drawing/2014/main" id="{45E8F4A9-54A2-4263-A6EE-C537EE645251}"/>
              </a:ext>
            </a:extLst>
          </p:cNvPr>
          <p:cNvSpPr>
            <a:spLocks xmlns:a="http://schemas.openxmlformats.org/drawingml/2006/main" noGrp="1"/>
          </p:cNvSpPr>
          <p:nvPr/>
        </p:nvSpPr>
        <p:spPr>
          <a:xfrm xmlns:a="http://schemas.openxmlformats.org/drawingml/2006/main">
            <a:off x="9353550" y="2019300"/>
            <a:ext cx="1066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defRPr sz="1275" b="1">
                <a:solidFill>
                  <a:srgbClr val="159E9C"/>
                </a:solidFill>
                <a:latin typeface="Arial"/>
                <a:ea typeface="Arial"/>
                <a:cs typeface="Arial"/>
              </a:defRPr>
            </a:pPr>
            <a:r>
              <a:rPr sz="1275" b="1">
                <a:solidFill>
                  <a:srgbClr val="159E9C"/>
                </a:solidFill>
                <a:latin typeface="Arial"/>
                <a:ea typeface="Arial"/>
                <a:cs typeface="Arial"/>
              </a:rPr>
              <a:t>FEATURE</a:t>
            </a:r>
          </a:p>
          <a:p xmlns:a="http://schemas.openxmlformats.org/drawingml/2006/main">
            <a:pPr algn="ctr">
              <a:defRPr sz="1275" b="1">
                <a:solidFill>
                  <a:srgbClr val="159E9C"/>
                </a:solidFill>
                <a:latin typeface="Arial"/>
                <a:ea typeface="Arial"/>
                <a:cs typeface="Arial"/>
              </a:defRPr>
            </a:pPr>
            <a:r>
              <a:rPr sz="1275" b="1">
                <a:solidFill>
                  <a:srgbClr val="159E9C"/>
                </a:solidFill>
                <a:latin typeface="Arial"/>
                <a:ea typeface="Arial"/>
                <a:cs typeface="Arial"/>
              </a:rPr>
              <a:t>DỰ ĐOÁN</a:t>
            </a:r>
          </a:p>
        </p:txBody>
      </p:sp>
      <p:sp>
        <p:nvSpPr>
          <p:cNvPr id="60" name="">
            <a:extLst xmlns:a="http://schemas.openxmlformats.org/drawingml/2006/main">
              <a:ext uri="{FF2B5EF4-FFF2-40B4-BE49-F238E27FC236}">
                <a16:creationId xmlns:a16="http://schemas.microsoft.com/office/drawing/2014/main" id="{6790F69A-2F95-4DCB-AA55-BB9CDAB5A31B}"/>
              </a:ext>
            </a:extLst>
          </p:cNvPr>
          <p:cNvSpPr>
            <a:spLocks xmlns:a="http://schemas.openxmlformats.org/drawingml/2006/main" noGrp="1"/>
          </p:cNvSpPr>
          <p:nvPr/>
        </p:nvSpPr>
        <p:spPr>
          <a:xfrm xmlns:a="http://schemas.openxmlformats.org/drawingml/2006/main">
            <a:off x="9258300" y="2857500"/>
            <a:ext cx="1257300" cy="781050"/>
          </a:xfrm>
          <a:prstGeom xmlns:a="http://schemas.openxmlformats.org/drawingml/2006/main" prst="roundRect">
            <a:avLst>
              <a:gd name="adj" fmla="val 12195"/>
            </a:avLst>
          </a:prstGeom>
          <a:solidFill xmlns:a="http://schemas.openxmlformats.org/drawingml/2006/main">
            <a:srgbClr val="E8EEF2"/>
          </a:solidFill>
          <a:ln xmlns:a="http://schemas.openxmlformats.org/drawingml/2006/main" w="14288">
            <a:solidFill>
              <a:srgbClr val="CBD6DE"/>
            </a:solidFill>
            <a:prstDash val="solid"/>
          </a:ln>
        </p:spPr>
      </p:sp>
      <p:sp>
        <p:nvSpPr>
          <p:cNvPr id="61" name="">
            <a:extLst xmlns:a="http://schemas.openxmlformats.org/drawingml/2006/main">
              <a:ext uri="{FF2B5EF4-FFF2-40B4-BE49-F238E27FC236}">
                <a16:creationId xmlns:a16="http://schemas.microsoft.com/office/drawing/2014/main" id="{6FF7E4D9-1C11-46A6-9AE7-DF3CE9BFE0FB}"/>
              </a:ext>
            </a:extLst>
          </p:cNvPr>
          <p:cNvSpPr>
            <a:spLocks xmlns:a="http://schemas.openxmlformats.org/drawingml/2006/main" noGrp="1"/>
          </p:cNvSpPr>
          <p:nvPr/>
        </p:nvSpPr>
        <p:spPr>
          <a:xfrm xmlns:a="http://schemas.openxmlformats.org/drawingml/2006/main">
            <a:off x="9353550" y="3009900"/>
            <a:ext cx="1066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ctr">
              <a:defRPr sz="1275" b="1">
                <a:solidFill>
                  <a:srgbClr val="0B1F33"/>
                </a:solidFill>
                <a:latin typeface="Arial"/>
                <a:ea typeface="Arial"/>
                <a:cs typeface="Arial"/>
              </a:defRPr>
            </a:pPr>
            <a:r>
              <a:rPr sz="1275" b="1">
                <a:solidFill>
                  <a:srgbClr val="0B1F33"/>
                </a:solidFill>
                <a:latin typeface="Arial"/>
                <a:ea typeface="Arial"/>
                <a:cs typeface="Arial"/>
              </a:rPr>
              <a:t>FEATURE</a:t>
            </a:r>
          </a:p>
          <a:p xmlns:a="http://schemas.openxmlformats.org/drawingml/2006/main">
            <a:pPr algn="ctr">
              <a:defRPr sz="1275" b="1">
                <a:solidFill>
                  <a:srgbClr val="0B1F33"/>
                </a:solidFill>
                <a:latin typeface="Arial"/>
                <a:ea typeface="Arial"/>
                <a:cs typeface="Arial"/>
              </a:defRPr>
            </a:pPr>
            <a:r>
              <a:rPr sz="1275" b="1">
                <a:solidFill>
                  <a:srgbClr val="0B1F33"/>
                </a:solidFill>
                <a:latin typeface="Arial"/>
                <a:ea typeface="Arial"/>
                <a:cs typeface="Arial"/>
              </a:rPr>
              <a:t>THỰC TẾ</a:t>
            </a:r>
          </a:p>
        </p:txBody>
      </p:sp>
      <p:sp>
        <p:nvSpPr>
          <p:cNvPr id="62" name="">
            <a:extLst xmlns:a="http://schemas.openxmlformats.org/drawingml/2006/main">
              <a:ext uri="{FF2B5EF4-FFF2-40B4-BE49-F238E27FC236}">
                <a16:creationId xmlns:a16="http://schemas.microsoft.com/office/drawing/2014/main" id="{6F8FCAD9-1C8C-45F2-A44C-25CAC6CE5893}"/>
              </a:ext>
            </a:extLst>
          </p:cNvPr>
          <p:cNvSpPr>
            <a:spLocks xmlns:a="http://schemas.openxmlformats.org/drawingml/2006/main" noGrp="1"/>
          </p:cNvSpPr>
          <p:nvPr/>
        </p:nvSpPr>
        <p:spPr>
          <a:xfrm xmlns:a="http://schemas.openxmlformats.org/drawingml/2006/main">
            <a:off x="10715625" y="2286000"/>
            <a:ext cx="1000125" cy="952500"/>
          </a:xfrm>
          <a:prstGeom xmlns:a="http://schemas.openxmlformats.org/drawingml/2006/main" prst="ellipse">
            <a:avLst/>
          </a:prstGeom>
          <a:solidFill xmlns:a="http://schemas.openxmlformats.org/drawingml/2006/main">
            <a:srgbClr val="FFF1D4"/>
          </a:solidFill>
          <a:ln xmlns:a="http://schemas.openxmlformats.org/drawingml/2006/main" w="23813">
            <a:solidFill>
              <a:srgbClr val="F59E0B"/>
            </a:solidFill>
            <a:prstDash val="solid"/>
          </a:ln>
        </p:spPr>
      </p:sp>
      <p:sp>
        <p:nvSpPr>
          <p:cNvPr id="63" name="">
            <a:extLst xmlns:a="http://schemas.openxmlformats.org/drawingml/2006/main">
              <a:ext uri="{FF2B5EF4-FFF2-40B4-BE49-F238E27FC236}">
                <a16:creationId xmlns:a16="http://schemas.microsoft.com/office/drawing/2014/main" id="{C8C573B6-66EE-4B03-95D8-15DC95DBEA98}"/>
              </a:ext>
            </a:extLst>
          </p:cNvPr>
          <p:cNvSpPr>
            <a:spLocks xmlns:a="http://schemas.openxmlformats.org/drawingml/2006/main" noGrp="1"/>
          </p:cNvSpPr>
          <p:nvPr/>
        </p:nvSpPr>
        <p:spPr>
          <a:xfrm xmlns:a="http://schemas.openxmlformats.org/drawingml/2006/main">
            <a:off x="10820400" y="2533650"/>
            <a:ext cx="790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050" b="1">
                <a:solidFill>
                  <a:srgbClr val="F59E0B"/>
                </a:solidFill>
                <a:latin typeface="Arial"/>
                <a:ea typeface="Arial"/>
                <a:cs typeface="Arial"/>
              </a:defRPr>
            </a:pPr>
            <a:r>
              <a:rPr sz="1050" b="1">
                <a:solidFill>
                  <a:srgbClr val="F59E0B"/>
                </a:solidFill>
                <a:latin typeface="Arial"/>
                <a:ea typeface="Arial"/>
                <a:cs typeface="Arial"/>
              </a:rPr>
              <a:t>FEATURE</a:t>
            </a:r>
          </a:p>
          <a:p xmlns:a="http://schemas.openxmlformats.org/drawingml/2006/main">
            <a:pPr algn="ctr">
              <a:defRPr sz="1050" b="1">
                <a:solidFill>
                  <a:srgbClr val="F59E0B"/>
                </a:solidFill>
                <a:latin typeface="Arial"/>
                <a:ea typeface="Arial"/>
                <a:cs typeface="Arial"/>
              </a:defRPr>
            </a:pPr>
            <a:r>
              <a:rPr sz="1050" b="1">
                <a:solidFill>
                  <a:srgbClr val="F59E0B"/>
                </a:solidFill>
                <a:latin typeface="Arial"/>
                <a:ea typeface="Arial"/>
                <a:cs typeface="Arial"/>
              </a:rPr>
              <a:t>ERROR</a:t>
            </a:r>
          </a:p>
        </p:txBody>
      </p:sp>
      <p:cxnSp>
        <p:nvCxnSpPr>
          <p:cNvPr id="136" name=""/>
          <p:cNvCxnSpPr>
            <a:stCxn xmlns:a="http://schemas.openxmlformats.org/drawingml/2006/main" id="5" idx="3"/>
            <a:endCxn xmlns:a="http://schemas.openxmlformats.org/drawingml/2006/main" id="31" idx="1"/>
          </p:cNvCxnSpPr>
          <p:nvPr/>
        </p:nvCxnSpPr>
        <p:spPr>
          <a:xfrm xmlns:a="http://schemas.openxmlformats.org/drawingml/2006/main">
            <a:off x="2905125" y="2752725"/>
            <a:ext cx="428625"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137" name=""/>
          <p:cNvCxnSpPr>
            <a:stCxn xmlns:a="http://schemas.openxmlformats.org/drawingml/2006/main" id="31" idx="3"/>
            <a:endCxn xmlns:a="http://schemas.openxmlformats.org/drawingml/2006/main" id="33" idx="1"/>
          </p:cNvCxnSpPr>
          <p:nvPr/>
        </p:nvCxnSpPr>
        <p:spPr>
          <a:xfrm xmlns:a="http://schemas.openxmlformats.org/drawingml/2006/main">
            <a:off x="4857750" y="2752725"/>
            <a:ext cx="419100"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138" name=""/>
          <p:cNvCxnSpPr>
            <a:stCxn xmlns:a="http://schemas.openxmlformats.org/drawingml/2006/main" id="33" idx="3"/>
            <a:endCxn xmlns:a="http://schemas.openxmlformats.org/drawingml/2006/main" id="55" idx="1"/>
          </p:cNvCxnSpPr>
          <p:nvPr/>
        </p:nvCxnSpPr>
        <p:spPr>
          <a:xfrm xmlns:a="http://schemas.openxmlformats.org/drawingml/2006/main">
            <a:off x="6610350" y="2752725"/>
            <a:ext cx="419100"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139" name=""/>
          <p:cNvCxnSpPr>
            <a:stCxn xmlns:a="http://schemas.openxmlformats.org/drawingml/2006/main" id="55" idx="3"/>
            <a:endCxn xmlns:a="http://schemas.openxmlformats.org/drawingml/2006/main" id="58" idx="1"/>
          </p:cNvCxnSpPr>
          <p:nvPr/>
        </p:nvCxnSpPr>
        <p:spPr>
          <a:xfrm xmlns:a="http://schemas.openxmlformats.org/drawingml/2006/main" flipV="1">
            <a:off x="8839200" y="2257425"/>
            <a:ext cx="419100" cy="49530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140" name=""/>
          <p:cNvCxnSpPr>
            <a:stCxn xmlns:a="http://schemas.openxmlformats.org/drawingml/2006/main" id="55" idx="3"/>
            <a:endCxn xmlns:a="http://schemas.openxmlformats.org/drawingml/2006/main" id="60" idx="1"/>
          </p:cNvCxnSpPr>
          <p:nvPr/>
        </p:nvCxnSpPr>
        <p:spPr>
          <a:xfrm xmlns:a="http://schemas.openxmlformats.org/drawingml/2006/main">
            <a:off x="8839200" y="2752725"/>
            <a:ext cx="419100" cy="49530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141" name=""/>
          <p:cNvCxnSpPr>
            <a:stCxn xmlns:a="http://schemas.openxmlformats.org/drawingml/2006/main" id="58" idx="3"/>
            <a:endCxn xmlns:a="http://schemas.openxmlformats.org/drawingml/2006/main" id="62" idx="2"/>
          </p:cNvCxnSpPr>
          <p:nvPr/>
        </p:nvCxnSpPr>
        <p:spPr>
          <a:xfrm xmlns:a="http://schemas.openxmlformats.org/drawingml/2006/main">
            <a:off x="10515600" y="2257425"/>
            <a:ext cx="200025" cy="504825"/>
          </a:xfrm>
          <a:prstGeom xmlns:a="http://schemas.openxmlformats.org/drawingml/2006/main" prst="straightConnector1">
            <a:avLst/>
          </a:prstGeom>
          <a:ln xmlns:a="http://schemas.openxmlformats.org/drawingml/2006/main" w="23813">
            <a:solidFill>
              <a:srgbClr val="F59E0B"/>
            </a:solidFill>
            <a:prstDash val="solid"/>
            <a:headEnd type="none" w="med" len="med"/>
            <a:tailEnd type="triangle" w="sm" len="sm"/>
          </a:ln>
        </p:spPr>
      </p:cxnSp>
      <p:cxnSp>
        <p:nvCxnSpPr>
          <p:cNvPr id="142" name=""/>
          <p:cNvCxnSpPr>
            <a:stCxn xmlns:a="http://schemas.openxmlformats.org/drawingml/2006/main" id="60" idx="3"/>
            <a:endCxn xmlns:a="http://schemas.openxmlformats.org/drawingml/2006/main" id="62" idx="2"/>
          </p:cNvCxnSpPr>
          <p:nvPr/>
        </p:nvCxnSpPr>
        <p:spPr>
          <a:xfrm xmlns:a="http://schemas.openxmlformats.org/drawingml/2006/main" flipV="1">
            <a:off x="10515600" y="2762250"/>
            <a:ext cx="200025" cy="485775"/>
          </a:xfrm>
          <a:prstGeom xmlns:a="http://schemas.openxmlformats.org/drawingml/2006/main" prst="straightConnector1">
            <a:avLst/>
          </a:prstGeom>
          <a:ln xmlns:a="http://schemas.openxmlformats.org/drawingml/2006/main" w="23813">
            <a:solidFill>
              <a:srgbClr val="F59E0B"/>
            </a:solidFill>
            <a:prstDash val="solid"/>
            <a:headEnd type="none" w="med" len="med"/>
            <a:tailEnd type="triangle" w="sm" len="sm"/>
          </a:ln>
        </p:spPr>
      </p:cxnSp>
      <p:sp>
        <p:nvSpPr>
          <p:cNvPr id="71" name="">
            <a:extLst xmlns:a="http://schemas.openxmlformats.org/drawingml/2006/main">
              <a:ext uri="{FF2B5EF4-FFF2-40B4-BE49-F238E27FC236}">
                <a16:creationId xmlns:a16="http://schemas.microsoft.com/office/drawing/2014/main" id="{CE0F11E6-622A-427D-BB8F-661351719BCD}"/>
              </a:ext>
            </a:extLst>
          </p:cNvPr>
          <p:cNvSpPr>
            <a:spLocks xmlns:a="http://schemas.openxmlformats.org/drawingml/2006/main" noGrp="1"/>
          </p:cNvSpPr>
          <p:nvPr/>
        </p:nvSpPr>
        <p:spPr>
          <a:xfrm xmlns:a="http://schemas.openxmlformats.org/drawingml/2006/main">
            <a:off x="619125" y="40005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CÁC KHỐI CHÍNH</a:t>
            </a:r>
          </a:p>
        </p:txBody>
      </p:sp>
      <p:sp>
        <p:nvSpPr>
          <p:cNvPr id="72" name="">
            <a:extLst xmlns:a="http://schemas.openxmlformats.org/drawingml/2006/main">
              <a:ext uri="{FF2B5EF4-FFF2-40B4-BE49-F238E27FC236}">
                <a16:creationId xmlns:a16="http://schemas.microsoft.com/office/drawing/2014/main" id="{147E4949-0667-4B6B-8B4F-55A5BA6C7831}"/>
              </a:ext>
            </a:extLst>
          </p:cNvPr>
          <p:cNvSpPr>
            <a:spLocks xmlns:a="http://schemas.openxmlformats.org/drawingml/2006/main" noGrp="1"/>
          </p:cNvSpPr>
          <p:nvPr/>
        </p:nvSpPr>
        <p:spPr>
          <a:xfrm xmlns:a="http://schemas.openxmlformats.org/drawingml/2006/main">
            <a:off x="619125" y="4400550"/>
            <a:ext cx="109061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400"/>
              </a:spcAft>
              <a:buChar char="•"/>
              <a:defRPr sz="1650">
                <a:solidFill>
                  <a:srgbClr val="132B3F"/>
                </a:solidFill>
                <a:latin typeface="Arial"/>
                <a:ea typeface="Arial"/>
                <a:cs typeface="Arial"/>
              </a:defRPr>
            </a:pPr>
            <a:r>
              <a:t>ResNet18 pretrained: trích xuất đặc trưng không gian.</a:t>
            </a:r>
          </a:p>
          <a:p xmlns:a="http://schemas.openxmlformats.org/drawingml/2006/main">
            <a:pPr marL="228600" indent="-114300">
              <a:spcAft>
                <a:spcPts val="400"/>
              </a:spcAft>
              <a:buChar char="•"/>
              <a:defRPr sz="1650">
                <a:solidFill>
                  <a:srgbClr val="132B3F"/>
                </a:solidFill>
                <a:latin typeface="Arial"/>
                <a:ea typeface="Arial"/>
                <a:cs typeface="Arial"/>
              </a:defRPr>
            </a:pPr>
            <a:r>
              <a:t>Positional encoding: giữ thông tin thứ tự frame.</a:t>
            </a:r>
          </a:p>
          <a:p xmlns:a="http://schemas.openxmlformats.org/drawingml/2006/main">
            <a:pPr marL="228600" indent="-114300">
              <a:spcAft>
                <a:spcPts val="400"/>
              </a:spcAft>
              <a:buChar char="•"/>
              <a:defRPr sz="1650">
                <a:solidFill>
                  <a:srgbClr val="132B3F"/>
                </a:solidFill>
                <a:latin typeface="Arial"/>
                <a:ea typeface="Arial"/>
                <a:cs typeface="Arial"/>
              </a:defRPr>
            </a:pPr>
            <a:r>
              <a:t>Transformer Encoder 2 lớp: học quan hệ thời gian.</a:t>
            </a:r>
          </a:p>
          <a:p xmlns:a="http://schemas.openxmlformats.org/drawingml/2006/main">
            <a:pPr marL="228600" indent="-114300">
              <a:spcAft>
                <a:spcPts val="400"/>
              </a:spcAft>
              <a:buChar char="•"/>
              <a:defRPr sz="1650">
                <a:solidFill>
                  <a:srgbClr val="132B3F"/>
                </a:solidFill>
                <a:latin typeface="Arial"/>
                <a:ea typeface="Arial"/>
                <a:cs typeface="Arial"/>
              </a:defRPr>
            </a:pPr>
            <a:r>
              <a:t>Prediction head: dự đoán feature của frame tiếp theo.</a:t>
            </a:r>
          </a:p>
          <a:p xmlns:a="http://schemas.openxmlformats.org/drawingml/2006/main">
            <a:pPr marL="228600" indent="-114300">
              <a:spcAft>
                <a:spcPts val="400"/>
              </a:spcAft>
              <a:buChar char="•"/>
              <a:defRPr sz="1650">
                <a:solidFill>
                  <a:srgbClr val="132B3F"/>
                </a:solidFill>
                <a:latin typeface="Arial"/>
                <a:ea typeface="Arial"/>
                <a:cs typeface="Arial"/>
              </a:defRPr>
            </a:pPr>
            <a:r>
              <a:t>Feature error: tạo anomaly score và anomaly map.</a:t>
            </a:r>
          </a:p>
        </p:txBody>
      </p:sp>
    </p:spTree>
    <p:extLst>
      <p:ext uri="{BB962C8B-B14F-4D97-AF65-F5344CB8AC3E}">
        <p14:creationId xmlns:p14="http://schemas.microsoft.com/office/powerpoint/2010/main" val="1811094322"/>
      </p:ext>
    </p:extLst>
  </p:cSld>
</p:sld>
</file>

<file path=ppt/slides/slide10.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3021E4F-2924-401E-A3AF-6B17631219C5}"/>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Kiến trúc hệ thống ứng dụng</a:t>
            </a:r>
          </a:p>
        </p:txBody>
      </p:sp>
      <p:sp>
        <p:nvSpPr>
          <p:cNvPr id="2" name="">
            <a:extLst xmlns:a="http://schemas.openxmlformats.org/drawingml/2006/main">
              <a:ext uri="{FF2B5EF4-FFF2-40B4-BE49-F238E27FC236}">
                <a16:creationId xmlns:a16="http://schemas.microsoft.com/office/drawing/2014/main" id="{214AFE69-5F38-4CF8-90CE-22670ED2A2F4}"/>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96BED6D9-5ECF-4373-9297-01D1D03804AA}"/>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6087B331-17DC-4C51-ADCA-4B35D85908E8}"/>
              </a:ext>
            </a:extLst>
          </p:cNvPr>
          <p:cNvSpPr>
            <a:spLocks xmlns:a="http://schemas.openxmlformats.org/drawingml/2006/main" noGrp="1"/>
          </p:cNvSpPr>
          <p:nvPr/>
        </p:nvSpPr>
        <p:spPr>
          <a:xfrm xmlns:a="http://schemas.openxmlformats.org/drawingml/2006/main">
            <a:off x="609600" y="11620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LUỒNG XỬ LÝ CỦA HỆ THỐNG</a:t>
            </a:r>
          </a:p>
        </p:txBody>
      </p:sp>
      <p:sp>
        <p:nvSpPr>
          <p:cNvPr id="5" name="">
            <a:extLst xmlns:a="http://schemas.openxmlformats.org/drawingml/2006/main">
              <a:ext uri="{FF2B5EF4-FFF2-40B4-BE49-F238E27FC236}">
                <a16:creationId xmlns:a16="http://schemas.microsoft.com/office/drawing/2014/main" id="{A60701EA-79E7-4992-8978-5F35BEC0CFE8}"/>
              </a:ext>
            </a:extLst>
          </p:cNvPr>
          <p:cNvSpPr>
            <a:spLocks xmlns:a="http://schemas.openxmlformats.org/drawingml/2006/main" noGrp="1"/>
          </p:cNvSpPr>
          <p:nvPr/>
        </p:nvSpPr>
        <p:spPr>
          <a:xfrm xmlns:a="http://schemas.openxmlformats.org/drawingml/2006/main">
            <a:off x="619125" y="1666875"/>
            <a:ext cx="2333625" cy="1219200"/>
          </a:xfrm>
          <a:prstGeom xmlns:a="http://schemas.openxmlformats.org/drawingml/2006/main" prst="roundRect">
            <a:avLst>
              <a:gd name="adj" fmla="val 10938"/>
            </a:avLst>
          </a:prstGeom>
          <a:solidFill xmlns:a="http://schemas.openxmlformats.org/drawingml/2006/main">
            <a:srgbClr val="FFFFFF"/>
          </a:solidFill>
          <a:ln xmlns:a="http://schemas.openxmlformats.org/drawingml/2006/main" w="14288">
            <a:solidFill>
              <a:srgbClr val="CBD6DE"/>
            </a:solidFill>
            <a:prstDash val="solid"/>
          </a:ln>
        </p:spPr>
      </p:sp>
      <p:sp>
        <p:nvSpPr>
          <p:cNvPr id="6" name="">
            <a:extLst xmlns:a="http://schemas.openxmlformats.org/drawingml/2006/main">
              <a:ext uri="{FF2B5EF4-FFF2-40B4-BE49-F238E27FC236}">
                <a16:creationId xmlns:a16="http://schemas.microsoft.com/office/drawing/2014/main" id="{FA94A5B0-E5F0-4E8F-B30A-80542487A2EE}"/>
              </a:ext>
            </a:extLst>
          </p:cNvPr>
          <p:cNvSpPr>
            <a:spLocks xmlns:a="http://schemas.openxmlformats.org/drawingml/2006/main" noGrp="1"/>
          </p:cNvSpPr>
          <p:nvPr/>
        </p:nvSpPr>
        <p:spPr>
          <a:xfrm xmlns:a="http://schemas.openxmlformats.org/drawingml/2006/main">
            <a:off x="771525" y="1838325"/>
            <a:ext cx="400050" cy="400050"/>
          </a:xfrm>
          <a:prstGeom xmlns:a="http://schemas.openxmlformats.org/drawingml/2006/main" prst="ellipse">
            <a:avLst/>
          </a:prstGeom>
          <a:solidFill xmlns:a="http://schemas.openxmlformats.org/drawingml/2006/main">
            <a:srgbClr val="159E9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3CE661D-E2AB-4B35-BF4A-F44C4517F31D}"/>
              </a:ext>
            </a:extLst>
          </p:cNvPr>
          <p:cNvSpPr>
            <a:spLocks xmlns:a="http://schemas.openxmlformats.org/drawingml/2006/main" noGrp="1"/>
          </p:cNvSpPr>
          <p:nvPr/>
        </p:nvSpPr>
        <p:spPr>
          <a:xfrm xmlns:a="http://schemas.openxmlformats.org/drawingml/2006/main">
            <a:off x="790575" y="18954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2AF9E3C8-F021-4B60-91C8-842F9A1D96A9}"/>
              </a:ext>
            </a:extLst>
          </p:cNvPr>
          <p:cNvSpPr>
            <a:spLocks xmlns:a="http://schemas.openxmlformats.org/drawingml/2006/main" noGrp="1"/>
          </p:cNvSpPr>
          <p:nvPr/>
        </p:nvSpPr>
        <p:spPr>
          <a:xfrm xmlns:a="http://schemas.openxmlformats.org/drawingml/2006/main">
            <a:off x="1276350" y="1838325"/>
            <a:ext cx="1504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Nhận video file,</a:t>
            </a:r>
          </a:p>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webcam hoặc RTSP</a:t>
            </a:r>
          </a:p>
        </p:txBody>
      </p:sp>
      <p:sp>
        <p:nvSpPr>
          <p:cNvPr id="9" name="">
            <a:extLst xmlns:a="http://schemas.openxmlformats.org/drawingml/2006/main">
              <a:ext uri="{FF2B5EF4-FFF2-40B4-BE49-F238E27FC236}">
                <a16:creationId xmlns:a16="http://schemas.microsoft.com/office/drawing/2014/main" id="{3D62D737-CCD5-4512-BD9C-F1A99712FEC3}"/>
              </a:ext>
            </a:extLst>
          </p:cNvPr>
          <p:cNvSpPr>
            <a:spLocks xmlns:a="http://schemas.openxmlformats.org/drawingml/2006/main" noGrp="1"/>
          </p:cNvSpPr>
          <p:nvPr/>
        </p:nvSpPr>
        <p:spPr>
          <a:xfrm xmlns:a="http://schemas.openxmlformats.org/drawingml/2006/main">
            <a:off x="3476625" y="1666875"/>
            <a:ext cx="2333625" cy="1219200"/>
          </a:xfrm>
          <a:prstGeom xmlns:a="http://schemas.openxmlformats.org/drawingml/2006/main" prst="roundRect">
            <a:avLst>
              <a:gd name="adj" fmla="val 10938"/>
            </a:avLst>
          </a:prstGeom>
          <a:solidFill xmlns:a="http://schemas.openxmlformats.org/drawingml/2006/main">
            <a:srgbClr val="FFFFFF"/>
          </a:solidFill>
          <a:ln xmlns:a="http://schemas.openxmlformats.org/drawingml/2006/main" w="14288">
            <a:solidFill>
              <a:srgbClr val="CBD6DE"/>
            </a:solidFill>
            <a:prstDash val="solid"/>
          </a:ln>
        </p:spPr>
      </p:sp>
      <p:sp>
        <p:nvSpPr>
          <p:cNvPr id="10" name="">
            <a:extLst xmlns:a="http://schemas.openxmlformats.org/drawingml/2006/main">
              <a:ext uri="{FF2B5EF4-FFF2-40B4-BE49-F238E27FC236}">
                <a16:creationId xmlns:a16="http://schemas.microsoft.com/office/drawing/2014/main" id="{D56A4A97-6F5F-41DD-B32A-04DA4017ACBB}"/>
              </a:ext>
            </a:extLst>
          </p:cNvPr>
          <p:cNvSpPr>
            <a:spLocks xmlns:a="http://schemas.openxmlformats.org/drawingml/2006/main" noGrp="1"/>
          </p:cNvSpPr>
          <p:nvPr/>
        </p:nvSpPr>
        <p:spPr>
          <a:xfrm xmlns:a="http://schemas.openxmlformats.org/drawingml/2006/main">
            <a:off x="3629025" y="1838325"/>
            <a:ext cx="400050" cy="400050"/>
          </a:xfrm>
          <a:prstGeom xmlns:a="http://schemas.openxmlformats.org/drawingml/2006/main" prst="ellipse">
            <a:avLst/>
          </a:prstGeom>
          <a:solidFill xmlns:a="http://schemas.openxmlformats.org/drawingml/2006/main">
            <a:srgbClr val="159E9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FD11C6A-F73D-437B-8506-0AFD4B3CB749}"/>
              </a:ext>
            </a:extLst>
          </p:cNvPr>
          <p:cNvSpPr>
            <a:spLocks xmlns:a="http://schemas.openxmlformats.org/drawingml/2006/main" noGrp="1"/>
          </p:cNvSpPr>
          <p:nvPr/>
        </p:nvSpPr>
        <p:spPr>
          <a:xfrm xmlns:a="http://schemas.openxmlformats.org/drawingml/2006/main">
            <a:off x="3648075" y="18954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861C511A-34A7-4FF9-BA32-823C6DFB5A95}"/>
              </a:ext>
            </a:extLst>
          </p:cNvPr>
          <p:cNvSpPr>
            <a:spLocks xmlns:a="http://schemas.openxmlformats.org/drawingml/2006/main" noGrp="1"/>
          </p:cNvSpPr>
          <p:nvPr/>
        </p:nvSpPr>
        <p:spPr>
          <a:xfrm xmlns:a="http://schemas.openxmlformats.org/drawingml/2006/main">
            <a:off x="4133850" y="1838325"/>
            <a:ext cx="1504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Lấy mẫu và</a:t>
            </a:r>
          </a:p>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tiền xử lý frame</a:t>
            </a:r>
          </a:p>
        </p:txBody>
      </p:sp>
      <p:sp>
        <p:nvSpPr>
          <p:cNvPr id="13" name="">
            <a:extLst xmlns:a="http://schemas.openxmlformats.org/drawingml/2006/main">
              <a:ext uri="{FF2B5EF4-FFF2-40B4-BE49-F238E27FC236}">
                <a16:creationId xmlns:a16="http://schemas.microsoft.com/office/drawing/2014/main" id="{241EAA44-237C-4F93-957C-8D25EE7128EA}"/>
              </a:ext>
            </a:extLst>
          </p:cNvPr>
          <p:cNvSpPr>
            <a:spLocks xmlns:a="http://schemas.openxmlformats.org/drawingml/2006/main" noGrp="1"/>
          </p:cNvSpPr>
          <p:nvPr/>
        </p:nvSpPr>
        <p:spPr>
          <a:xfrm xmlns:a="http://schemas.openxmlformats.org/drawingml/2006/main">
            <a:off x="6334125" y="1666875"/>
            <a:ext cx="2333625" cy="1219200"/>
          </a:xfrm>
          <a:prstGeom xmlns:a="http://schemas.openxmlformats.org/drawingml/2006/main" prst="roundRect">
            <a:avLst>
              <a:gd name="adj" fmla="val 10938"/>
            </a:avLst>
          </a:prstGeom>
          <a:solidFill xmlns:a="http://schemas.openxmlformats.org/drawingml/2006/main">
            <a:srgbClr val="FFFFFF"/>
          </a:solidFill>
          <a:ln xmlns:a="http://schemas.openxmlformats.org/drawingml/2006/main" w="14288">
            <a:solidFill>
              <a:srgbClr val="CBD6DE"/>
            </a:solidFill>
            <a:prstDash val="solid"/>
          </a:ln>
        </p:spPr>
      </p:sp>
      <p:sp>
        <p:nvSpPr>
          <p:cNvPr id="14" name="">
            <a:extLst xmlns:a="http://schemas.openxmlformats.org/drawingml/2006/main">
              <a:ext uri="{FF2B5EF4-FFF2-40B4-BE49-F238E27FC236}">
                <a16:creationId xmlns:a16="http://schemas.microsoft.com/office/drawing/2014/main" id="{BAD89813-3D85-4D4A-8709-AA60B29CFA0D}"/>
              </a:ext>
            </a:extLst>
          </p:cNvPr>
          <p:cNvSpPr>
            <a:spLocks xmlns:a="http://schemas.openxmlformats.org/drawingml/2006/main" noGrp="1"/>
          </p:cNvSpPr>
          <p:nvPr/>
        </p:nvSpPr>
        <p:spPr>
          <a:xfrm xmlns:a="http://schemas.openxmlformats.org/drawingml/2006/main">
            <a:off x="6486525" y="1838325"/>
            <a:ext cx="400050" cy="400050"/>
          </a:xfrm>
          <a:prstGeom xmlns:a="http://schemas.openxmlformats.org/drawingml/2006/main" prst="ellipse">
            <a:avLst/>
          </a:prstGeom>
          <a:solidFill xmlns:a="http://schemas.openxmlformats.org/drawingml/2006/main">
            <a:srgbClr val="159E9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4BE4C98-FB86-45B0-A425-0596972CED5B}"/>
              </a:ext>
            </a:extLst>
          </p:cNvPr>
          <p:cNvSpPr>
            <a:spLocks xmlns:a="http://schemas.openxmlformats.org/drawingml/2006/main" noGrp="1"/>
          </p:cNvSpPr>
          <p:nvPr/>
        </p:nvSpPr>
        <p:spPr>
          <a:xfrm xmlns:a="http://schemas.openxmlformats.org/drawingml/2006/main">
            <a:off x="6505575" y="18954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C9E9ED33-3F22-4EAA-8413-38A5F2049DAE}"/>
              </a:ext>
            </a:extLst>
          </p:cNvPr>
          <p:cNvSpPr>
            <a:spLocks xmlns:a="http://schemas.openxmlformats.org/drawingml/2006/main" noGrp="1"/>
          </p:cNvSpPr>
          <p:nvPr/>
        </p:nvSpPr>
        <p:spPr>
          <a:xfrm xmlns:a="http://schemas.openxmlformats.org/drawingml/2006/main">
            <a:off x="6991350" y="1838325"/>
            <a:ext cx="1504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Cửa sổ trượt</a:t>
            </a:r>
          </a:p>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8 đến 16 frame</a:t>
            </a:r>
          </a:p>
        </p:txBody>
      </p:sp>
      <p:sp>
        <p:nvSpPr>
          <p:cNvPr id="17" name="">
            <a:extLst xmlns:a="http://schemas.openxmlformats.org/drawingml/2006/main">
              <a:ext uri="{FF2B5EF4-FFF2-40B4-BE49-F238E27FC236}">
                <a16:creationId xmlns:a16="http://schemas.microsoft.com/office/drawing/2014/main" id="{2E5EE50C-990F-4000-886A-CB97472CD38A}"/>
              </a:ext>
            </a:extLst>
          </p:cNvPr>
          <p:cNvSpPr>
            <a:spLocks xmlns:a="http://schemas.openxmlformats.org/drawingml/2006/main" noGrp="1"/>
          </p:cNvSpPr>
          <p:nvPr/>
        </p:nvSpPr>
        <p:spPr>
          <a:xfrm xmlns:a="http://schemas.openxmlformats.org/drawingml/2006/main">
            <a:off x="9191625" y="1666875"/>
            <a:ext cx="2333625" cy="1219200"/>
          </a:xfrm>
          <a:prstGeom xmlns:a="http://schemas.openxmlformats.org/drawingml/2006/main" prst="roundRect">
            <a:avLst>
              <a:gd name="adj" fmla="val 10938"/>
            </a:avLst>
          </a:prstGeom>
          <a:solidFill xmlns:a="http://schemas.openxmlformats.org/drawingml/2006/main">
            <a:srgbClr val="FFFFFF"/>
          </a:solidFill>
          <a:ln xmlns:a="http://schemas.openxmlformats.org/drawingml/2006/main" w="23813">
            <a:solidFill>
              <a:srgbClr val="159E9C"/>
            </a:solidFill>
            <a:prstDash val="solid"/>
          </a:ln>
        </p:spPr>
      </p:sp>
      <p:sp>
        <p:nvSpPr>
          <p:cNvPr id="18" name="">
            <a:extLst xmlns:a="http://schemas.openxmlformats.org/drawingml/2006/main">
              <a:ext uri="{FF2B5EF4-FFF2-40B4-BE49-F238E27FC236}">
                <a16:creationId xmlns:a16="http://schemas.microsoft.com/office/drawing/2014/main" id="{992B888B-FE31-4BEA-AE66-C591E79DFEBA}"/>
              </a:ext>
            </a:extLst>
          </p:cNvPr>
          <p:cNvSpPr>
            <a:spLocks xmlns:a="http://schemas.openxmlformats.org/drawingml/2006/main" noGrp="1"/>
          </p:cNvSpPr>
          <p:nvPr/>
        </p:nvSpPr>
        <p:spPr>
          <a:xfrm xmlns:a="http://schemas.openxmlformats.org/drawingml/2006/main">
            <a:off x="9344025" y="1838325"/>
            <a:ext cx="400050" cy="400050"/>
          </a:xfrm>
          <a:prstGeom xmlns:a="http://schemas.openxmlformats.org/drawingml/2006/main" prst="ellipse">
            <a:avLst/>
          </a:prstGeom>
          <a:solidFill xmlns:a="http://schemas.openxmlformats.org/drawingml/2006/main">
            <a:srgbClr val="159E9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F2B469B-96A7-434F-86E7-E2C1B487E091}"/>
              </a:ext>
            </a:extLst>
          </p:cNvPr>
          <p:cNvSpPr>
            <a:spLocks xmlns:a="http://schemas.openxmlformats.org/drawingml/2006/main" noGrp="1"/>
          </p:cNvSpPr>
          <p:nvPr/>
        </p:nvSpPr>
        <p:spPr>
          <a:xfrm xmlns:a="http://schemas.openxmlformats.org/drawingml/2006/main">
            <a:off x="9363075" y="18954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F090095C-3A7B-4121-A4CB-C1F045FEDF14}"/>
              </a:ext>
            </a:extLst>
          </p:cNvPr>
          <p:cNvSpPr>
            <a:spLocks xmlns:a="http://schemas.openxmlformats.org/drawingml/2006/main" noGrp="1"/>
          </p:cNvSpPr>
          <p:nvPr/>
        </p:nvSpPr>
        <p:spPr>
          <a:xfrm xmlns:a="http://schemas.openxmlformats.org/drawingml/2006/main">
            <a:off x="9848850" y="1838325"/>
            <a:ext cx="1504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Model tính</a:t>
            </a:r>
          </a:p>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anomaly score</a:t>
            </a:r>
          </a:p>
        </p:txBody>
      </p:sp>
      <p:sp>
        <p:nvSpPr>
          <p:cNvPr id="21" name="">
            <a:extLst xmlns:a="http://schemas.openxmlformats.org/drawingml/2006/main">
              <a:ext uri="{FF2B5EF4-FFF2-40B4-BE49-F238E27FC236}">
                <a16:creationId xmlns:a16="http://schemas.microsoft.com/office/drawing/2014/main" id="{D10BD6A1-00F7-4D6D-996C-F138885767DC}"/>
              </a:ext>
            </a:extLst>
          </p:cNvPr>
          <p:cNvSpPr>
            <a:spLocks xmlns:a="http://schemas.openxmlformats.org/drawingml/2006/main" noGrp="1"/>
          </p:cNvSpPr>
          <p:nvPr/>
        </p:nvSpPr>
        <p:spPr>
          <a:xfrm xmlns:a="http://schemas.openxmlformats.org/drawingml/2006/main">
            <a:off x="9191625" y="3762375"/>
            <a:ext cx="2333625" cy="1219200"/>
          </a:xfrm>
          <a:prstGeom xmlns:a="http://schemas.openxmlformats.org/drawingml/2006/main" prst="roundRect">
            <a:avLst>
              <a:gd name="adj" fmla="val 10938"/>
            </a:avLst>
          </a:prstGeom>
          <a:solidFill xmlns:a="http://schemas.openxmlformats.org/drawingml/2006/main">
            <a:srgbClr val="FFFFFF"/>
          </a:solidFill>
          <a:ln xmlns:a="http://schemas.openxmlformats.org/drawingml/2006/main" w="14288">
            <a:solidFill>
              <a:srgbClr val="CBD6DE"/>
            </a:solidFill>
            <a:prstDash val="solid"/>
          </a:ln>
        </p:spPr>
      </p:sp>
      <p:sp>
        <p:nvSpPr>
          <p:cNvPr id="22" name="">
            <a:extLst xmlns:a="http://schemas.openxmlformats.org/drawingml/2006/main">
              <a:ext uri="{FF2B5EF4-FFF2-40B4-BE49-F238E27FC236}">
                <a16:creationId xmlns:a16="http://schemas.microsoft.com/office/drawing/2014/main" id="{C2518007-5C8C-4DEB-92E5-97EEF043B32B}"/>
              </a:ext>
            </a:extLst>
          </p:cNvPr>
          <p:cNvSpPr>
            <a:spLocks xmlns:a="http://schemas.openxmlformats.org/drawingml/2006/main" noGrp="1"/>
          </p:cNvSpPr>
          <p:nvPr/>
        </p:nvSpPr>
        <p:spPr>
          <a:xfrm xmlns:a="http://schemas.openxmlformats.org/drawingml/2006/main">
            <a:off x="9344025" y="3933825"/>
            <a:ext cx="400050" cy="400050"/>
          </a:xfrm>
          <a:prstGeom xmlns:a="http://schemas.openxmlformats.org/drawingml/2006/main" prst="ellipse">
            <a:avLst/>
          </a:prstGeom>
          <a:solidFill xmlns:a="http://schemas.openxmlformats.org/drawingml/2006/main">
            <a:srgbClr val="159E9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D68752A-0AF4-4EB8-BB04-A949CDF77A9E}"/>
              </a:ext>
            </a:extLst>
          </p:cNvPr>
          <p:cNvSpPr>
            <a:spLocks xmlns:a="http://schemas.openxmlformats.org/drawingml/2006/main" noGrp="1"/>
          </p:cNvSpPr>
          <p:nvPr/>
        </p:nvSpPr>
        <p:spPr>
          <a:xfrm xmlns:a="http://schemas.openxmlformats.org/drawingml/2006/main">
            <a:off x="9363075" y="39909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1EE852A6-586D-4E7F-A206-41AC4CA9EDDF}"/>
              </a:ext>
            </a:extLst>
          </p:cNvPr>
          <p:cNvSpPr>
            <a:spLocks xmlns:a="http://schemas.openxmlformats.org/drawingml/2006/main" noGrp="1"/>
          </p:cNvSpPr>
          <p:nvPr/>
        </p:nvSpPr>
        <p:spPr>
          <a:xfrm xmlns:a="http://schemas.openxmlformats.org/drawingml/2006/main">
            <a:off x="9848850" y="3933825"/>
            <a:ext cx="1504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Làm mượt score</a:t>
            </a:r>
          </a:p>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theo thời gian</a:t>
            </a:r>
          </a:p>
        </p:txBody>
      </p:sp>
      <p:sp>
        <p:nvSpPr>
          <p:cNvPr id="25" name="">
            <a:extLst xmlns:a="http://schemas.openxmlformats.org/drawingml/2006/main">
              <a:ext uri="{FF2B5EF4-FFF2-40B4-BE49-F238E27FC236}">
                <a16:creationId xmlns:a16="http://schemas.microsoft.com/office/drawing/2014/main" id="{6D75D82A-FF7C-42C9-9CB1-D76DB708A6CD}"/>
              </a:ext>
            </a:extLst>
          </p:cNvPr>
          <p:cNvSpPr>
            <a:spLocks xmlns:a="http://schemas.openxmlformats.org/drawingml/2006/main" noGrp="1"/>
          </p:cNvSpPr>
          <p:nvPr/>
        </p:nvSpPr>
        <p:spPr>
          <a:xfrm xmlns:a="http://schemas.openxmlformats.org/drawingml/2006/main">
            <a:off x="6334125" y="3762375"/>
            <a:ext cx="2333625" cy="1219200"/>
          </a:xfrm>
          <a:prstGeom xmlns:a="http://schemas.openxmlformats.org/drawingml/2006/main" prst="roundRect">
            <a:avLst>
              <a:gd name="adj" fmla="val 10938"/>
            </a:avLst>
          </a:prstGeom>
          <a:solidFill xmlns:a="http://schemas.openxmlformats.org/drawingml/2006/main">
            <a:srgbClr val="FFF1D4"/>
          </a:solidFill>
          <a:ln xmlns:a="http://schemas.openxmlformats.org/drawingml/2006/main" w="23813">
            <a:solidFill>
              <a:srgbClr val="F59E0B"/>
            </a:solidFill>
            <a:prstDash val="solid"/>
          </a:ln>
        </p:spPr>
      </p:sp>
      <p:sp>
        <p:nvSpPr>
          <p:cNvPr id="26" name="">
            <a:extLst xmlns:a="http://schemas.openxmlformats.org/drawingml/2006/main">
              <a:ext uri="{FF2B5EF4-FFF2-40B4-BE49-F238E27FC236}">
                <a16:creationId xmlns:a16="http://schemas.microsoft.com/office/drawing/2014/main" id="{CD69CE18-FA40-4C13-AB8B-FCEC3B286781}"/>
              </a:ext>
            </a:extLst>
          </p:cNvPr>
          <p:cNvSpPr>
            <a:spLocks xmlns:a="http://schemas.openxmlformats.org/drawingml/2006/main" noGrp="1"/>
          </p:cNvSpPr>
          <p:nvPr/>
        </p:nvSpPr>
        <p:spPr>
          <a:xfrm xmlns:a="http://schemas.openxmlformats.org/drawingml/2006/main">
            <a:off x="6486525" y="3933825"/>
            <a:ext cx="400050" cy="400050"/>
          </a:xfrm>
          <a:prstGeom xmlns:a="http://schemas.openxmlformats.org/drawingml/2006/main" prst="ellipse">
            <a:avLst/>
          </a:prstGeom>
          <a:solidFill xmlns:a="http://schemas.openxmlformats.org/drawingml/2006/main">
            <a:srgbClr val="F59E0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6859C11-D6FD-4D4E-A381-0B1BC762700F}"/>
              </a:ext>
            </a:extLst>
          </p:cNvPr>
          <p:cNvSpPr>
            <a:spLocks xmlns:a="http://schemas.openxmlformats.org/drawingml/2006/main" noGrp="1"/>
          </p:cNvSpPr>
          <p:nvPr/>
        </p:nvSpPr>
        <p:spPr>
          <a:xfrm xmlns:a="http://schemas.openxmlformats.org/drawingml/2006/main">
            <a:off x="6505575" y="39909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4AA90186-F44F-4120-B974-7FE0BCE70E74}"/>
              </a:ext>
            </a:extLst>
          </p:cNvPr>
          <p:cNvSpPr>
            <a:spLocks xmlns:a="http://schemas.openxmlformats.org/drawingml/2006/main" noGrp="1"/>
          </p:cNvSpPr>
          <p:nvPr/>
        </p:nvSpPr>
        <p:spPr>
          <a:xfrm xmlns:a="http://schemas.openxmlformats.org/drawingml/2006/main">
            <a:off x="6991350" y="3933825"/>
            <a:ext cx="1504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7222"/>
          </a:bodyPr>
          <a:lstStyle xmlns:a="http://schemas.openxmlformats.org/drawingml/2006/main"/>
          <a:p xmlns:a="http://schemas.openxmlformats.org/drawingml/2006/main">
            <a:pPr algn="l">
              <a:defRPr sz="1350" b="1">
                <a:solidFill>
                  <a:srgbClr val="0B1F33"/>
                </a:solidFill>
                <a:latin typeface="Arial"/>
                <a:ea typeface="Arial"/>
                <a:cs typeface="Arial"/>
              </a:defRPr>
            </a:pPr>
            <a:r>
              <a:rPr sz="1350" b="1">
                <a:solidFill>
                  <a:srgbClr val="0B1F33"/>
                </a:solidFill>
                <a:latin typeface="Arial"/>
                <a:ea typeface="Arial"/>
                <a:cs typeface="Arial"/>
              </a:rPr>
              <a:t>Cảnh báo khi vượt ngưỡng</a:t>
            </a:r>
          </a:p>
          <a:p xmlns:a="http://schemas.openxmlformats.org/drawingml/2006/main">
            <a:pPr algn="l">
              <a:defRPr sz="1350" b="1">
                <a:solidFill>
                  <a:srgbClr val="0B1F33"/>
                </a:solidFill>
                <a:latin typeface="Arial"/>
                <a:ea typeface="Arial"/>
                <a:cs typeface="Arial"/>
              </a:defRPr>
            </a:pPr>
            <a:r>
              <a:rPr sz="1350" b="1">
                <a:solidFill>
                  <a:srgbClr val="0B1F33"/>
                </a:solidFill>
                <a:latin typeface="Arial"/>
                <a:ea typeface="Arial"/>
                <a:cs typeface="Arial"/>
              </a:rPr>
              <a:t>trong nhiều frame liên tiếp</a:t>
            </a:r>
          </a:p>
        </p:txBody>
      </p:sp>
      <p:sp>
        <p:nvSpPr>
          <p:cNvPr id="29" name="">
            <a:extLst xmlns:a="http://schemas.openxmlformats.org/drawingml/2006/main">
              <a:ext uri="{FF2B5EF4-FFF2-40B4-BE49-F238E27FC236}">
                <a16:creationId xmlns:a16="http://schemas.microsoft.com/office/drawing/2014/main" id="{315FDCC1-F91D-4180-8A8C-85ECE07487E2}"/>
              </a:ext>
            </a:extLst>
          </p:cNvPr>
          <p:cNvSpPr>
            <a:spLocks xmlns:a="http://schemas.openxmlformats.org/drawingml/2006/main" noGrp="1"/>
          </p:cNvSpPr>
          <p:nvPr/>
        </p:nvSpPr>
        <p:spPr>
          <a:xfrm xmlns:a="http://schemas.openxmlformats.org/drawingml/2006/main">
            <a:off x="3476625" y="3762375"/>
            <a:ext cx="2333625" cy="1219200"/>
          </a:xfrm>
          <a:prstGeom xmlns:a="http://schemas.openxmlformats.org/drawingml/2006/main" prst="roundRect">
            <a:avLst>
              <a:gd name="adj" fmla="val 10938"/>
            </a:avLst>
          </a:prstGeom>
          <a:solidFill xmlns:a="http://schemas.openxmlformats.org/drawingml/2006/main">
            <a:srgbClr val="FFFFFF"/>
          </a:solidFill>
          <a:ln xmlns:a="http://schemas.openxmlformats.org/drawingml/2006/main" w="14288">
            <a:solidFill>
              <a:srgbClr val="CBD6DE"/>
            </a:solidFill>
            <a:prstDash val="solid"/>
          </a:ln>
        </p:spPr>
      </p:sp>
      <p:sp>
        <p:nvSpPr>
          <p:cNvPr id="30" name="">
            <a:extLst xmlns:a="http://schemas.openxmlformats.org/drawingml/2006/main">
              <a:ext uri="{FF2B5EF4-FFF2-40B4-BE49-F238E27FC236}">
                <a16:creationId xmlns:a16="http://schemas.microsoft.com/office/drawing/2014/main" id="{02FD3859-9778-473B-869D-AC26A132ED73}"/>
              </a:ext>
            </a:extLst>
          </p:cNvPr>
          <p:cNvSpPr>
            <a:spLocks xmlns:a="http://schemas.openxmlformats.org/drawingml/2006/main" noGrp="1"/>
          </p:cNvSpPr>
          <p:nvPr/>
        </p:nvSpPr>
        <p:spPr>
          <a:xfrm xmlns:a="http://schemas.openxmlformats.org/drawingml/2006/main">
            <a:off x="3629025" y="3933825"/>
            <a:ext cx="400050" cy="400050"/>
          </a:xfrm>
          <a:prstGeom xmlns:a="http://schemas.openxmlformats.org/drawingml/2006/main" prst="ellipse">
            <a:avLst/>
          </a:prstGeom>
          <a:solidFill xmlns:a="http://schemas.openxmlformats.org/drawingml/2006/main">
            <a:srgbClr val="159E9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A2211B4-C970-447A-9A48-A723002B8ECF}"/>
              </a:ext>
            </a:extLst>
          </p:cNvPr>
          <p:cNvSpPr>
            <a:spLocks xmlns:a="http://schemas.openxmlformats.org/drawingml/2006/main" noGrp="1"/>
          </p:cNvSpPr>
          <p:nvPr/>
        </p:nvSpPr>
        <p:spPr>
          <a:xfrm xmlns:a="http://schemas.openxmlformats.org/drawingml/2006/main">
            <a:off x="3648075" y="39909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7</a:t>
            </a:r>
          </a:p>
        </p:txBody>
      </p:sp>
      <p:sp>
        <p:nvSpPr>
          <p:cNvPr id="32" name="">
            <a:extLst xmlns:a="http://schemas.openxmlformats.org/drawingml/2006/main">
              <a:ext uri="{FF2B5EF4-FFF2-40B4-BE49-F238E27FC236}">
                <a16:creationId xmlns:a16="http://schemas.microsoft.com/office/drawing/2014/main" id="{6C5B2F09-FC03-4684-9C4A-8AAB1F0A770C}"/>
              </a:ext>
            </a:extLst>
          </p:cNvPr>
          <p:cNvSpPr>
            <a:spLocks xmlns:a="http://schemas.openxmlformats.org/drawingml/2006/main" noGrp="1"/>
          </p:cNvSpPr>
          <p:nvPr/>
        </p:nvSpPr>
        <p:spPr>
          <a:xfrm xmlns:a="http://schemas.openxmlformats.org/drawingml/2006/main">
            <a:off x="4133850" y="3933825"/>
            <a:ext cx="15049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Hiển thị và lưu</a:t>
            </a:r>
          </a:p>
          <a:p xmlns:a="http://schemas.openxmlformats.org/drawingml/2006/main">
            <a:pPr algn="l">
              <a:defRPr sz="1425" b="1">
                <a:solidFill>
                  <a:srgbClr val="0B1F33"/>
                </a:solidFill>
                <a:latin typeface="Arial"/>
                <a:ea typeface="Arial"/>
                <a:cs typeface="Arial"/>
              </a:defRPr>
            </a:pPr>
            <a:r>
              <a:rPr sz="1425" b="1">
                <a:solidFill>
                  <a:srgbClr val="0B1F33"/>
                </a:solidFill>
                <a:latin typeface="Arial"/>
                <a:ea typeface="Arial"/>
                <a:cs typeface="Arial"/>
              </a:rPr>
              <a:t>nhật ký sự kiện</a:t>
            </a:r>
          </a:p>
        </p:txBody>
      </p:sp>
      <p:cxnSp>
        <p:nvCxnSpPr>
          <p:cNvPr id="74" name=""/>
          <p:cNvCxnSpPr>
            <a:stCxn xmlns:a="http://schemas.openxmlformats.org/drawingml/2006/main" id="5" idx="3"/>
            <a:endCxn xmlns:a="http://schemas.openxmlformats.org/drawingml/2006/main" id="9" idx="1"/>
          </p:cNvCxnSpPr>
          <p:nvPr/>
        </p:nvCxnSpPr>
        <p:spPr>
          <a:xfrm xmlns:a="http://schemas.openxmlformats.org/drawingml/2006/main">
            <a:off x="2952750" y="2276475"/>
            <a:ext cx="523875"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75" name=""/>
          <p:cNvCxnSpPr>
            <a:stCxn xmlns:a="http://schemas.openxmlformats.org/drawingml/2006/main" id="9" idx="3"/>
            <a:endCxn xmlns:a="http://schemas.openxmlformats.org/drawingml/2006/main" id="13" idx="1"/>
          </p:cNvCxnSpPr>
          <p:nvPr/>
        </p:nvCxnSpPr>
        <p:spPr>
          <a:xfrm xmlns:a="http://schemas.openxmlformats.org/drawingml/2006/main">
            <a:off x="5810250" y="2276475"/>
            <a:ext cx="523875"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76" name=""/>
          <p:cNvCxnSpPr>
            <a:stCxn xmlns:a="http://schemas.openxmlformats.org/drawingml/2006/main" id="13" idx="3"/>
            <a:endCxn xmlns:a="http://schemas.openxmlformats.org/drawingml/2006/main" id="17" idx="1"/>
          </p:cNvCxnSpPr>
          <p:nvPr/>
        </p:nvCxnSpPr>
        <p:spPr>
          <a:xfrm xmlns:a="http://schemas.openxmlformats.org/drawingml/2006/main">
            <a:off x="8667750" y="2276475"/>
            <a:ext cx="523875"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77" name=""/>
          <p:cNvCxnSpPr>
            <a:stCxn xmlns:a="http://schemas.openxmlformats.org/drawingml/2006/main" id="17" idx="2"/>
            <a:endCxn xmlns:a="http://schemas.openxmlformats.org/drawingml/2006/main" id="21" idx="0"/>
          </p:cNvCxnSpPr>
          <p:nvPr/>
        </p:nvCxnSpPr>
        <p:spPr>
          <a:xfrm xmlns:a="http://schemas.openxmlformats.org/drawingml/2006/main">
            <a:off x="10358438" y="2886075"/>
            <a:ext cx="0" cy="87630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78" name=""/>
          <p:cNvCxnSpPr>
            <a:stCxn xmlns:a="http://schemas.openxmlformats.org/drawingml/2006/main" id="21" idx="1"/>
            <a:endCxn xmlns:a="http://schemas.openxmlformats.org/drawingml/2006/main" id="25" idx="3"/>
          </p:cNvCxnSpPr>
          <p:nvPr/>
        </p:nvCxnSpPr>
        <p:spPr>
          <a:xfrm xmlns:a="http://schemas.openxmlformats.org/drawingml/2006/main" flipH="1">
            <a:off x="8667750" y="4371975"/>
            <a:ext cx="523875" cy="0"/>
          </a:xfrm>
          <a:prstGeom xmlns:a="http://schemas.openxmlformats.org/drawingml/2006/main" prst="straightConnector1">
            <a:avLst/>
          </a:prstGeom>
          <a:ln xmlns:a="http://schemas.openxmlformats.org/drawingml/2006/main" w="23813">
            <a:solidFill>
              <a:srgbClr val="159E9C"/>
            </a:solidFill>
            <a:prstDash val="solid"/>
            <a:headEnd type="none" w="med" len="med"/>
            <a:tailEnd type="triangle" w="sm" len="sm"/>
          </a:ln>
        </p:spPr>
      </p:cxnSp>
      <p:cxnSp>
        <p:nvCxnSpPr>
          <p:cNvPr id="79" name=""/>
          <p:cNvCxnSpPr>
            <a:stCxn xmlns:a="http://schemas.openxmlformats.org/drawingml/2006/main" id="25" idx="1"/>
            <a:endCxn xmlns:a="http://schemas.openxmlformats.org/drawingml/2006/main" id="29" idx="3"/>
          </p:cNvCxnSpPr>
          <p:nvPr/>
        </p:nvCxnSpPr>
        <p:spPr>
          <a:xfrm xmlns:a="http://schemas.openxmlformats.org/drawingml/2006/main" flipH="1">
            <a:off x="5810250" y="4371975"/>
            <a:ext cx="523875" cy="0"/>
          </a:xfrm>
          <a:prstGeom xmlns:a="http://schemas.openxmlformats.org/drawingml/2006/main" prst="straightConnector1">
            <a:avLst/>
          </a:prstGeom>
          <a:ln xmlns:a="http://schemas.openxmlformats.org/drawingml/2006/main" w="23813">
            <a:solidFill>
              <a:srgbClr val="F59E0B"/>
            </a:solidFill>
            <a:prstDash val="solid"/>
            <a:headEnd type="none" w="med" len="med"/>
            <a:tailEnd type="triangle" w="sm" len="sm"/>
          </a:ln>
        </p:spPr>
      </p:cxnSp>
      <p:sp>
        <p:nvSpPr>
          <p:cNvPr id="39" name="">
            <a:extLst xmlns:a="http://schemas.openxmlformats.org/drawingml/2006/main">
              <a:ext uri="{FF2B5EF4-FFF2-40B4-BE49-F238E27FC236}">
                <a16:creationId xmlns:a16="http://schemas.microsoft.com/office/drawing/2014/main" id="{1DEC5157-26EF-4FA3-BC34-442568DF3908}"/>
              </a:ext>
            </a:extLst>
          </p:cNvPr>
          <p:cNvSpPr>
            <a:spLocks xmlns:a="http://schemas.openxmlformats.org/drawingml/2006/main" noGrp="1"/>
          </p:cNvSpPr>
          <p:nvPr/>
        </p:nvSpPr>
        <p:spPr>
          <a:xfrm xmlns:a="http://schemas.openxmlformats.org/drawingml/2006/main">
            <a:off x="619125" y="5381625"/>
            <a:ext cx="10906125" cy="857250"/>
          </a:xfrm>
          <a:prstGeom xmlns:a="http://schemas.openxmlformats.org/drawingml/2006/main" prst="roundRect">
            <a:avLst>
              <a:gd name="adj" fmla="val 13333"/>
            </a:avLst>
          </a:prstGeom>
          <a:solidFill xmlns:a="http://schemas.openxmlformats.org/drawingml/2006/main">
            <a:srgbClr val="0B1F3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435AC9F0-9367-46A8-8636-A9B428DBA96D}"/>
              </a:ext>
            </a:extLst>
          </p:cNvPr>
          <p:cNvSpPr>
            <a:spLocks xmlns:a="http://schemas.openxmlformats.org/drawingml/2006/main" noGrp="1"/>
          </p:cNvSpPr>
          <p:nvPr/>
        </p:nvSpPr>
        <p:spPr>
          <a:xfrm xmlns:a="http://schemas.openxmlformats.org/drawingml/2006/main">
            <a:off x="819150" y="55245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425" b="1">
                <a:solidFill>
                  <a:srgbClr val="7DD2CF"/>
                </a:solidFill>
                <a:latin typeface="Arial"/>
                <a:ea typeface="Arial"/>
                <a:cs typeface="Arial"/>
              </a:defRPr>
            </a:pPr>
            <a:r>
              <a:rPr sz="1425" b="1">
                <a:solidFill>
                  <a:srgbClr val="7DD2CF"/>
                </a:solidFill>
                <a:latin typeface="Arial"/>
                <a:ea typeface="Arial"/>
                <a:cs typeface="Arial"/>
              </a:rPr>
              <a:t>THÔNG TIN LƯU KHI CẢNH BÁO</a:t>
            </a:r>
          </a:p>
        </p:txBody>
      </p:sp>
      <p:sp>
        <p:nvSpPr>
          <p:cNvPr id="41" name="">
            <a:extLst xmlns:a="http://schemas.openxmlformats.org/drawingml/2006/main">
              <a:ext uri="{FF2B5EF4-FFF2-40B4-BE49-F238E27FC236}">
                <a16:creationId xmlns:a16="http://schemas.microsoft.com/office/drawing/2014/main" id="{33A53D92-3469-480B-85AB-585EDA56E184}"/>
              </a:ext>
            </a:extLst>
          </p:cNvPr>
          <p:cNvSpPr>
            <a:spLocks xmlns:a="http://schemas.openxmlformats.org/drawingml/2006/main" noGrp="1"/>
          </p:cNvSpPr>
          <p:nvPr/>
        </p:nvSpPr>
        <p:spPr>
          <a:xfrm xmlns:a="http://schemas.openxmlformats.org/drawingml/2006/main">
            <a:off x="4286250" y="5486400"/>
            <a:ext cx="695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1820"/>
          </a:bodyP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Thời gian, anomaly score, ảnh đại diện và đoạn video ngắn của sự kiện.</a:t>
            </a:r>
          </a:p>
        </p:txBody>
      </p:sp>
    </p:spTree>
    <p:extLst>
      <p:ext uri="{BB962C8B-B14F-4D97-AF65-F5344CB8AC3E}">
        <p14:creationId xmlns:p14="http://schemas.microsoft.com/office/powerpoint/2010/main" val="2040985209"/>
      </p:ext>
    </p:extLst>
  </p:cSld>
</p:sld>
</file>

<file path=ppt/slides/slide1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4E8200F-7F25-4324-A426-357E00B9E5BD}"/>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Tiêu chí đánh giá</a:t>
            </a:r>
          </a:p>
        </p:txBody>
      </p:sp>
      <p:sp>
        <p:nvSpPr>
          <p:cNvPr id="2" name="">
            <a:extLst xmlns:a="http://schemas.openxmlformats.org/drawingml/2006/main">
              <a:ext uri="{FF2B5EF4-FFF2-40B4-BE49-F238E27FC236}">
                <a16:creationId xmlns:a16="http://schemas.microsoft.com/office/drawing/2014/main" id="{383E9858-895A-4022-90C2-203B6AE3D169}"/>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0706CD80-EDBB-4E2D-B6FE-A3E4D67371DC}"/>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460DC7ED-6CF2-4BD0-8B9B-3C6943B74C3F}"/>
              </a:ext>
            </a:extLst>
          </p:cNvPr>
          <p:cNvSpPr>
            <a:spLocks xmlns:a="http://schemas.openxmlformats.org/drawingml/2006/main" noGrp="1"/>
          </p:cNvSpPr>
          <p:nvPr/>
        </p:nvSpPr>
        <p:spPr>
          <a:xfrm xmlns:a="http://schemas.openxmlformats.org/drawingml/2006/main">
            <a:off x="619125" y="12192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ĐÁNH GIÁ TRÊN DATASET</a:t>
            </a:r>
          </a:p>
        </p:txBody>
      </p:sp>
      <p:sp>
        <p:nvSpPr>
          <p:cNvPr id="5" name="">
            <a:extLst xmlns:a="http://schemas.openxmlformats.org/drawingml/2006/main">
              <a:ext uri="{FF2B5EF4-FFF2-40B4-BE49-F238E27FC236}">
                <a16:creationId xmlns:a16="http://schemas.microsoft.com/office/drawing/2014/main" id="{EDB93F6A-4F7A-4AD3-BEA5-6D575B99703D}"/>
              </a:ext>
            </a:extLst>
          </p:cNvPr>
          <p:cNvSpPr>
            <a:spLocks xmlns:a="http://schemas.openxmlformats.org/drawingml/2006/main" noGrp="1"/>
          </p:cNvSpPr>
          <p:nvPr/>
        </p:nvSpPr>
        <p:spPr>
          <a:xfrm xmlns:a="http://schemas.openxmlformats.org/drawingml/2006/main">
            <a:off x="619125"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700"/>
              </a:spcAft>
              <a:buChar char="•"/>
              <a:defRPr sz="1650">
                <a:solidFill>
                  <a:srgbClr val="132B3F"/>
                </a:solidFill>
                <a:latin typeface="Arial"/>
                <a:ea typeface="Arial"/>
                <a:cs typeface="Arial"/>
              </a:defRPr>
            </a:pPr>
            <a:r>
              <a:t>Frame-level AUROC: khả năng xếp frame bất thường cao hơn frame bình thường.</a:t>
            </a:r>
          </a:p>
          <a:p xmlns:a="http://schemas.openxmlformats.org/drawingml/2006/main">
            <a:pPr marL="228600" indent="-114300">
              <a:spcAft>
                <a:spcPts val="700"/>
              </a:spcAft>
              <a:buChar char="•"/>
              <a:defRPr sz="1650">
                <a:solidFill>
                  <a:srgbClr val="132B3F"/>
                </a:solidFill>
                <a:latin typeface="Arial"/>
                <a:ea typeface="Arial"/>
                <a:cs typeface="Arial"/>
              </a:defRPr>
            </a:pPr>
            <a:r>
              <a:t>Average Precision: phù hợp khi frame bất thường chiếm tỷ lệ nhỏ.</a:t>
            </a:r>
          </a:p>
          <a:p xmlns:a="http://schemas.openxmlformats.org/drawingml/2006/main">
            <a:pPr marL="228600" indent="-114300">
              <a:spcAft>
                <a:spcPts val="700"/>
              </a:spcAft>
              <a:buChar char="•"/>
              <a:defRPr sz="1650">
                <a:solidFill>
                  <a:srgbClr val="132B3F"/>
                </a:solidFill>
                <a:latin typeface="Arial"/>
                <a:ea typeface="Arial"/>
                <a:cs typeface="Arial"/>
              </a:defRPr>
            </a:pPr>
            <a:r>
              <a:t>Precision, Recall và F1 tại một ngưỡng cảnh báo cụ thể.</a:t>
            </a:r>
          </a:p>
        </p:txBody>
      </p:sp>
      <p:sp>
        <p:nvSpPr>
          <p:cNvPr id="6" name="">
            <a:extLst xmlns:a="http://schemas.openxmlformats.org/drawingml/2006/main">
              <a:ext uri="{FF2B5EF4-FFF2-40B4-BE49-F238E27FC236}">
                <a16:creationId xmlns:a16="http://schemas.microsoft.com/office/drawing/2014/main" id="{DCD270BF-9B01-413B-8869-FEACE89F4D54}"/>
              </a:ext>
            </a:extLst>
          </p:cNvPr>
          <p:cNvSpPr>
            <a:spLocks xmlns:a="http://schemas.openxmlformats.org/drawingml/2006/main" noGrp="1"/>
          </p:cNvSpPr>
          <p:nvPr/>
        </p:nvSpPr>
        <p:spPr>
          <a:xfrm xmlns:a="http://schemas.openxmlformats.org/drawingml/2006/main">
            <a:off x="6667500" y="12192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ĐÁNH GIÁ HỆ THỐNG</a:t>
            </a:r>
          </a:p>
        </p:txBody>
      </p:sp>
      <p:sp>
        <p:nvSpPr>
          <p:cNvPr id="7" name="">
            <a:extLst xmlns:a="http://schemas.openxmlformats.org/drawingml/2006/main">
              <a:ext uri="{FF2B5EF4-FFF2-40B4-BE49-F238E27FC236}">
                <a16:creationId xmlns:a16="http://schemas.microsoft.com/office/drawing/2014/main" id="{D6D38279-AD12-4724-8CA7-EE3ADA6E11AC}"/>
              </a:ext>
            </a:extLst>
          </p:cNvPr>
          <p:cNvSpPr>
            <a:spLocks xmlns:a="http://schemas.openxmlformats.org/drawingml/2006/main" noGrp="1"/>
          </p:cNvSpPr>
          <p:nvPr/>
        </p:nvSpPr>
        <p:spPr>
          <a:xfrm xmlns:a="http://schemas.openxmlformats.org/drawingml/2006/main">
            <a:off x="6667500" y="1619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700"/>
              </a:spcAft>
              <a:buChar char="•"/>
              <a:defRPr sz="1650">
                <a:solidFill>
                  <a:srgbClr val="132B3F"/>
                </a:solidFill>
                <a:latin typeface="Arial"/>
                <a:ea typeface="Arial"/>
                <a:cs typeface="Arial"/>
              </a:defRPr>
            </a:pPr>
            <a:r>
              <a:t>Số cảnh báo giả trên mỗi giờ video.</a:t>
            </a:r>
          </a:p>
          <a:p xmlns:a="http://schemas.openxmlformats.org/drawingml/2006/main">
            <a:pPr marL="228600" indent="-114300">
              <a:spcAft>
                <a:spcPts val="700"/>
              </a:spcAft>
              <a:buChar char="•"/>
              <a:defRPr sz="1650">
                <a:solidFill>
                  <a:srgbClr val="132B3F"/>
                </a:solidFill>
                <a:latin typeface="Arial"/>
                <a:ea typeface="Arial"/>
                <a:cs typeface="Arial"/>
              </a:defRPr>
            </a:pPr>
            <a:r>
              <a:t>Độ trễ từ khi sự kiện bắt đầu đến khi hệ thống cảnh báo.</a:t>
            </a:r>
          </a:p>
          <a:p xmlns:a="http://schemas.openxmlformats.org/drawingml/2006/main">
            <a:pPr marL="228600" indent="-114300">
              <a:spcAft>
                <a:spcPts val="700"/>
              </a:spcAft>
              <a:buChar char="•"/>
              <a:defRPr sz="1650">
                <a:solidFill>
                  <a:srgbClr val="132B3F"/>
                </a:solidFill>
                <a:latin typeface="Arial"/>
                <a:ea typeface="Arial"/>
                <a:cs typeface="Arial"/>
              </a:defRPr>
            </a:pPr>
            <a:r>
              <a:t>Tốc độ xử lý theo FPS và thời gian inference.</a:t>
            </a:r>
          </a:p>
        </p:txBody>
      </p:sp>
      <p:sp>
        <p:nvSpPr>
          <p:cNvPr id="8" name="">
            <a:extLst xmlns:a="http://schemas.openxmlformats.org/drawingml/2006/main">
              <a:ext uri="{FF2B5EF4-FFF2-40B4-BE49-F238E27FC236}">
                <a16:creationId xmlns:a16="http://schemas.microsoft.com/office/drawing/2014/main" id="{6A575602-1624-4BD6-8EF3-519E99B1C2E0}"/>
              </a:ext>
            </a:extLst>
          </p:cNvPr>
          <p:cNvSpPr>
            <a:spLocks xmlns:a="http://schemas.openxmlformats.org/drawingml/2006/main" noGrp="1"/>
          </p:cNvSpPr>
          <p:nvPr/>
        </p:nvSpPr>
        <p:spPr>
          <a:xfrm xmlns:a="http://schemas.openxmlformats.org/drawingml/2006/main">
            <a:off x="762000" y="4095750"/>
            <a:ext cx="4476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CBD6DE"/>
            </a:solidFill>
            <a:prstDash val="solid"/>
          </a:ln>
        </p:spPr>
      </p:sp>
      <p:sp>
        <p:nvSpPr>
          <p:cNvPr id="9" name="">
            <a:extLst xmlns:a="http://schemas.openxmlformats.org/drawingml/2006/main">
              <a:ext uri="{FF2B5EF4-FFF2-40B4-BE49-F238E27FC236}">
                <a16:creationId xmlns:a16="http://schemas.microsoft.com/office/drawing/2014/main" id="{47E1994E-3F32-44C4-997B-D93A83C4ED9E}"/>
              </a:ext>
            </a:extLst>
          </p:cNvPr>
          <p:cNvSpPr>
            <a:spLocks xmlns:a="http://schemas.openxmlformats.org/drawingml/2006/main" noGrp="1"/>
          </p:cNvSpPr>
          <p:nvPr/>
        </p:nvSpPr>
        <p:spPr>
          <a:xfrm xmlns:a="http://schemas.openxmlformats.org/drawingml/2006/main">
            <a:off x="933450" y="4238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200" b="1">
                <a:solidFill>
                  <a:srgbClr val="0B1F33"/>
                </a:solidFill>
                <a:latin typeface="Arial"/>
                <a:ea typeface="Arial"/>
                <a:cs typeface="Arial"/>
              </a:defRPr>
            </a:pPr>
            <a:r>
              <a:rPr sz="1200" b="1">
                <a:solidFill>
                  <a:srgbClr val="0B1F33"/>
                </a:solidFill>
                <a:latin typeface="Arial"/>
                <a:ea typeface="Arial"/>
                <a:cs typeface="Arial"/>
              </a:rPr>
              <a:t>ROC CURVE</a:t>
            </a:r>
          </a:p>
        </p:txBody>
      </p:sp>
      <p:sp>
        <p:nvSpPr>
          <p:cNvPr id="10" name="">
            <a:extLst xmlns:a="http://schemas.openxmlformats.org/drawingml/2006/main">
              <a:ext uri="{FF2B5EF4-FFF2-40B4-BE49-F238E27FC236}">
                <a16:creationId xmlns:a16="http://schemas.microsoft.com/office/drawing/2014/main" id="{96A7D746-874F-42F8-BE26-EEE0FFB23C9B}"/>
              </a:ext>
            </a:extLst>
          </p:cNvPr>
          <p:cNvSpPr>
            <a:spLocks xmlns:a="http://schemas.openxmlformats.org/drawingml/2006/main" noGrp="1"/>
          </p:cNvSpPr>
          <p:nvPr/>
        </p:nvSpPr>
        <p:spPr>
          <a:xfrm xmlns:a="http://schemas.openxmlformats.org/drawingml/2006/main">
            <a:off x="4124325" y="4238625"/>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125" b="0">
                <a:solidFill>
                  <a:srgbClr val="5F7180"/>
                </a:solidFill>
                <a:latin typeface="Arial"/>
                <a:ea typeface="Arial"/>
                <a:cs typeface="Arial"/>
              </a:defRPr>
            </a:pPr>
            <a:r>
              <a:rPr sz="1125" b="0">
                <a:solidFill>
                  <a:srgbClr val="5F7180"/>
                </a:solidFill>
                <a:latin typeface="Arial"/>
                <a:ea typeface="Arial"/>
                <a:cs typeface="Arial"/>
              </a:rPr>
              <a:t>Minh họa</a:t>
            </a:r>
          </a:p>
        </p:txBody>
      </p:sp>
      <p:sp>
        <p:nvSpPr>
          <p:cNvPr id="11" name="">
            <a:extLst xmlns:a="http://schemas.openxmlformats.org/drawingml/2006/main">
              <a:ext uri="{FF2B5EF4-FFF2-40B4-BE49-F238E27FC236}">
                <a16:creationId xmlns:a16="http://schemas.microsoft.com/office/drawing/2014/main" id="{4A4B5D74-FB9E-4035-90FC-CC1B84EB48A5}"/>
              </a:ext>
            </a:extLst>
          </p:cNvPr>
          <p:cNvSpPr>
            <a:spLocks xmlns:a="http://schemas.openxmlformats.org/drawingml/2006/main" noGrp="1"/>
          </p:cNvSpPr>
          <p:nvPr/>
        </p:nvSpPr>
        <p:spPr>
          <a:xfrm xmlns:a="http://schemas.openxmlformats.org/drawingml/2006/main">
            <a:off x="1190625" y="5191125"/>
            <a:ext cx="3238500" cy="0"/>
          </a:xfrm>
          <a:prstGeom xmlns:a="http://schemas.openxmlformats.org/drawingml/2006/main" prst="line">
            <a:avLst/>
          </a:prstGeom>
          <a:noFill xmlns:a="http://schemas.openxmlformats.org/drawingml/2006/main"/>
          <a:ln xmlns:a="http://schemas.openxmlformats.org/drawingml/2006/main" w="14288">
            <a:solidFill>
              <a:srgbClr val="0B1F33"/>
            </a:solidFill>
            <a:prstDash val="solid"/>
          </a:ln>
        </p:spPr>
      </p:sp>
      <p:sp>
        <p:nvSpPr>
          <p:cNvPr id="12" name="">
            <a:extLst xmlns:a="http://schemas.openxmlformats.org/drawingml/2006/main">
              <a:ext uri="{FF2B5EF4-FFF2-40B4-BE49-F238E27FC236}">
                <a16:creationId xmlns:a16="http://schemas.microsoft.com/office/drawing/2014/main" id="{9111D6BE-E88B-45B4-92EF-01920E117F1B}"/>
              </a:ext>
            </a:extLst>
          </p:cNvPr>
          <p:cNvSpPr>
            <a:spLocks xmlns:a="http://schemas.openxmlformats.org/drawingml/2006/main" noGrp="1"/>
          </p:cNvSpPr>
          <p:nvPr/>
        </p:nvSpPr>
        <p:spPr>
          <a:xfrm xmlns:a="http://schemas.openxmlformats.org/drawingml/2006/main">
            <a:off x="1190625" y="4572000"/>
            <a:ext cx="0" cy="619125"/>
          </a:xfrm>
          <a:prstGeom xmlns:a="http://schemas.openxmlformats.org/drawingml/2006/main" prst="line">
            <a:avLst/>
          </a:prstGeom>
          <a:noFill xmlns:a="http://schemas.openxmlformats.org/drawingml/2006/main"/>
          <a:ln xmlns:a="http://schemas.openxmlformats.org/drawingml/2006/main" w="14288">
            <a:solidFill>
              <a:srgbClr val="0B1F33"/>
            </a:solidFill>
            <a:prstDash val="solid"/>
          </a:ln>
        </p:spPr>
      </p:sp>
      <p:sp>
        <p:nvSpPr>
          <p:cNvPr id="13" name="">
            <a:extLst xmlns:a="http://schemas.openxmlformats.org/drawingml/2006/main">
              <a:ext uri="{FF2B5EF4-FFF2-40B4-BE49-F238E27FC236}">
                <a16:creationId xmlns:a16="http://schemas.microsoft.com/office/drawing/2014/main" id="{095595E6-F612-4EB4-ADE7-8256F2280B40}"/>
              </a:ext>
            </a:extLst>
          </p:cNvPr>
          <p:cNvSpPr>
            <a:spLocks xmlns:a="http://schemas.openxmlformats.org/drawingml/2006/main" noGrp="1"/>
          </p:cNvSpPr>
          <p:nvPr/>
        </p:nvSpPr>
        <p:spPr>
          <a:xfrm xmlns:a="http://schemas.openxmlformats.org/drawingml/2006/main">
            <a:off x="1190625" y="4572000"/>
            <a:ext cx="3238500" cy="619125"/>
          </a:xfrm>
          <a:custGeom xmlns:a="http://schemas.openxmlformats.org/drawingml/2006/main">
            <a:pathLst>
              <a:path w="3238500" h="619125">
                <a:moveTo>
                  <a:pt x="0" y="619125"/>
                </a:moveTo>
                <a:lnTo>
                  <a:pt x="3238500" y="0"/>
                </a:lnTo>
              </a:path>
            </a:pathLst>
          </a:custGeom>
          <a:noFill xmlns:a="http://schemas.openxmlformats.org/drawingml/2006/main"/>
          <a:ln xmlns:a="http://schemas.openxmlformats.org/drawingml/2006/main" w="12383">
            <a:solidFill>
              <a:srgbClr val="CBD6DE"/>
            </a:solidFill>
            <a:prstDash val="dash"/>
          </a:ln>
        </p:spPr>
      </p:sp>
      <p:sp>
        <p:nvSpPr>
          <p:cNvPr id="14" name="">
            <a:extLst xmlns:a="http://schemas.openxmlformats.org/drawingml/2006/main">
              <a:ext uri="{FF2B5EF4-FFF2-40B4-BE49-F238E27FC236}">
                <a16:creationId xmlns:a16="http://schemas.microsoft.com/office/drawing/2014/main" id="{25FC9355-8429-41DC-B0BA-9FF7510114A5}"/>
              </a:ext>
            </a:extLst>
          </p:cNvPr>
          <p:cNvSpPr>
            <a:spLocks xmlns:a="http://schemas.openxmlformats.org/drawingml/2006/main" noGrp="1"/>
          </p:cNvSpPr>
          <p:nvPr/>
        </p:nvSpPr>
        <p:spPr>
          <a:xfrm xmlns:a="http://schemas.openxmlformats.org/drawingml/2006/main">
            <a:off x="1190625" y="4572000"/>
            <a:ext cx="3238500" cy="619125"/>
          </a:xfrm>
          <a:custGeom xmlns:a="http://schemas.openxmlformats.org/drawingml/2006/main">
            <a:pathLst>
              <a:path w="3238500" h="619125">
                <a:moveTo>
                  <a:pt x="0" y="619125"/>
                </a:moveTo>
                <a:lnTo>
                  <a:pt x="428625" y="333375"/>
                </a:lnTo>
                <a:lnTo>
                  <a:pt x="1095375" y="152400"/>
                </a:lnTo>
                <a:lnTo>
                  <a:pt x="2000250" y="66675"/>
                </a:lnTo>
                <a:lnTo>
                  <a:pt x="3238500" y="0"/>
                </a:lnTo>
              </a:path>
            </a:pathLst>
          </a:custGeom>
          <a:noFill xmlns:a="http://schemas.openxmlformats.org/drawingml/2006/main"/>
          <a:ln xmlns:a="http://schemas.openxmlformats.org/drawingml/2006/main" w="38100">
            <a:solidFill>
              <a:srgbClr val="159E9C"/>
            </a:solidFill>
            <a:prstDash val="solid"/>
          </a:ln>
        </p:spPr>
      </p:sp>
      <p:sp>
        <p:nvSpPr>
          <p:cNvPr id="15" name="">
            <a:extLst xmlns:a="http://schemas.openxmlformats.org/drawingml/2006/main">
              <a:ext uri="{FF2B5EF4-FFF2-40B4-BE49-F238E27FC236}">
                <a16:creationId xmlns:a16="http://schemas.microsoft.com/office/drawing/2014/main" id="{6B426282-C009-47A9-8542-1EA7481956C3}"/>
              </a:ext>
            </a:extLst>
          </p:cNvPr>
          <p:cNvSpPr>
            <a:spLocks xmlns:a="http://schemas.openxmlformats.org/drawingml/2006/main" noGrp="1"/>
          </p:cNvSpPr>
          <p:nvPr/>
        </p:nvSpPr>
        <p:spPr>
          <a:xfrm xmlns:a="http://schemas.openxmlformats.org/drawingml/2006/main">
            <a:off x="819150" y="47053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975" b="1">
                <a:solidFill>
                  <a:srgbClr val="5F7180"/>
                </a:solidFill>
                <a:latin typeface="Arial"/>
                <a:ea typeface="Arial"/>
                <a:cs typeface="Arial"/>
              </a:defRPr>
            </a:pPr>
            <a:r>
              <a:rPr sz="975" b="1">
                <a:solidFill>
                  <a:srgbClr val="5F7180"/>
                </a:solidFill>
                <a:latin typeface="Arial"/>
                <a:ea typeface="Arial"/>
                <a:cs typeface="Arial"/>
              </a:rPr>
              <a:t>TPR</a:t>
            </a:r>
          </a:p>
        </p:txBody>
      </p:sp>
      <p:sp>
        <p:nvSpPr>
          <p:cNvPr id="16" name="">
            <a:extLst xmlns:a="http://schemas.openxmlformats.org/drawingml/2006/main">
              <a:ext uri="{FF2B5EF4-FFF2-40B4-BE49-F238E27FC236}">
                <a16:creationId xmlns:a16="http://schemas.microsoft.com/office/drawing/2014/main" id="{156A8AAB-22C8-42D1-9BDE-3FE14E1D1CCF}"/>
              </a:ext>
            </a:extLst>
          </p:cNvPr>
          <p:cNvSpPr>
            <a:spLocks xmlns:a="http://schemas.openxmlformats.org/drawingml/2006/main" noGrp="1"/>
          </p:cNvSpPr>
          <p:nvPr/>
        </p:nvSpPr>
        <p:spPr>
          <a:xfrm xmlns:a="http://schemas.openxmlformats.org/drawingml/2006/main">
            <a:off x="4095750" y="52387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ctr">
              <a:defRPr sz="975" b="1">
                <a:solidFill>
                  <a:srgbClr val="5F7180"/>
                </a:solidFill>
                <a:latin typeface="Arial"/>
                <a:ea typeface="Arial"/>
                <a:cs typeface="Arial"/>
              </a:defRPr>
            </a:pPr>
            <a:r>
              <a:rPr sz="975" b="1">
                <a:solidFill>
                  <a:srgbClr val="5F7180"/>
                </a:solidFill>
                <a:latin typeface="Arial"/>
                <a:ea typeface="Arial"/>
                <a:cs typeface="Arial"/>
              </a:rPr>
              <a:t>FPR</a:t>
            </a:r>
          </a:p>
        </p:txBody>
      </p:sp>
      <p:sp>
        <p:nvSpPr>
          <p:cNvPr id="17" name="">
            <a:extLst xmlns:a="http://schemas.openxmlformats.org/drawingml/2006/main">
              <a:ext uri="{FF2B5EF4-FFF2-40B4-BE49-F238E27FC236}">
                <a16:creationId xmlns:a16="http://schemas.microsoft.com/office/drawing/2014/main" id="{045799FE-6AF2-46DD-8404-AAA0F6531D0D}"/>
              </a:ext>
            </a:extLst>
          </p:cNvPr>
          <p:cNvSpPr>
            <a:spLocks xmlns:a="http://schemas.openxmlformats.org/drawingml/2006/main" noGrp="1"/>
          </p:cNvSpPr>
          <p:nvPr/>
        </p:nvSpPr>
        <p:spPr>
          <a:xfrm xmlns:a="http://schemas.openxmlformats.org/drawingml/2006/main">
            <a:off x="6667500" y="4095750"/>
            <a:ext cx="4762500" cy="1428750"/>
          </a:xfrm>
          <a:prstGeom xmlns:a="http://schemas.openxmlformats.org/drawingml/2006/main" prst="roundRect">
            <a:avLst>
              <a:gd name="adj" fmla="val 8000"/>
            </a:avLst>
          </a:prstGeom>
          <a:solidFill xmlns:a="http://schemas.openxmlformats.org/drawingml/2006/main">
            <a:srgbClr val="0B1F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16A00D6-751D-4F86-9D20-AF4E5C86E7DD}"/>
              </a:ext>
            </a:extLst>
          </p:cNvPr>
          <p:cNvSpPr>
            <a:spLocks xmlns:a="http://schemas.openxmlformats.org/drawingml/2006/main" noGrp="1"/>
          </p:cNvSpPr>
          <p:nvPr/>
        </p:nvSpPr>
        <p:spPr>
          <a:xfrm xmlns:a="http://schemas.openxmlformats.org/drawingml/2006/main">
            <a:off x="6905625" y="4267200"/>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425" b="1">
                <a:solidFill>
                  <a:srgbClr val="84D3D0"/>
                </a:solidFill>
                <a:latin typeface="Arial"/>
                <a:ea typeface="Arial"/>
                <a:cs typeface="Arial"/>
              </a:defRPr>
            </a:pPr>
            <a:r>
              <a:rPr sz="1425" b="1">
                <a:solidFill>
                  <a:srgbClr val="84D3D0"/>
                </a:solidFill>
                <a:latin typeface="Arial"/>
                <a:ea typeface="Arial"/>
                <a:cs typeface="Arial"/>
              </a:rPr>
              <a:t>Khả năng sử dụng</a:t>
            </a:r>
          </a:p>
        </p:txBody>
      </p:sp>
      <p:sp>
        <p:nvSpPr>
          <p:cNvPr id="19" name="">
            <a:extLst xmlns:a="http://schemas.openxmlformats.org/drawingml/2006/main">
              <a:ext uri="{FF2B5EF4-FFF2-40B4-BE49-F238E27FC236}">
                <a16:creationId xmlns:a16="http://schemas.microsoft.com/office/drawing/2014/main" id="{3B6D002F-880F-4B31-9DDF-9278DADA5A9E}"/>
              </a:ext>
            </a:extLst>
          </p:cNvPr>
          <p:cNvSpPr>
            <a:spLocks xmlns:a="http://schemas.openxmlformats.org/drawingml/2006/main" noGrp="1"/>
          </p:cNvSpPr>
          <p:nvPr/>
        </p:nvSpPr>
        <p:spPr>
          <a:xfrm xmlns:a="http://schemas.openxmlformats.org/drawingml/2006/main">
            <a:off x="6905625" y="4657725"/>
            <a:ext cx="428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Metric trên dataset cần đi cùng cảnh báo giả, độ trễ và tốc độ xử lý.</a:t>
            </a:r>
          </a:p>
        </p:txBody>
      </p:sp>
      <p:sp>
        <p:nvSpPr>
          <p:cNvPr id="20" name="">
            <a:extLst xmlns:a="http://schemas.openxmlformats.org/drawingml/2006/main">
              <a:ext uri="{FF2B5EF4-FFF2-40B4-BE49-F238E27FC236}">
                <a16:creationId xmlns:a16="http://schemas.microsoft.com/office/drawing/2014/main" id="{5C86AE45-3F3F-4633-9C15-28F38F4A8304}"/>
              </a:ext>
            </a:extLst>
          </p:cNvPr>
          <p:cNvSpPr>
            <a:spLocks xmlns:a="http://schemas.openxmlformats.org/drawingml/2006/main" noGrp="1"/>
          </p:cNvSpPr>
          <p:nvPr/>
        </p:nvSpPr>
        <p:spPr>
          <a:xfrm xmlns:a="http://schemas.openxmlformats.org/drawingml/2006/main">
            <a:off x="619125" y="5810250"/>
            <a:ext cx="10810875" cy="600075"/>
          </a:xfrm>
          <a:prstGeom xmlns:a="http://schemas.openxmlformats.org/drawingml/2006/main" prst="roundRect">
            <a:avLst>
              <a:gd name="adj" fmla="val 15873"/>
            </a:avLst>
          </a:prstGeom>
          <a:solidFill xmlns:a="http://schemas.openxmlformats.org/drawingml/2006/main">
            <a:srgbClr val="FFF1D4"/>
          </a:solidFill>
          <a:ln xmlns:a="http://schemas.openxmlformats.org/drawingml/2006/main" w="12383">
            <a:solidFill>
              <a:srgbClr val="F59E0B"/>
            </a:solidFill>
            <a:prstDash val="solid"/>
          </a:ln>
        </p:spPr>
      </p:sp>
      <p:sp>
        <p:nvSpPr>
          <p:cNvPr id="21" name="">
            <a:extLst xmlns:a="http://schemas.openxmlformats.org/drawingml/2006/main">
              <a:ext uri="{FF2B5EF4-FFF2-40B4-BE49-F238E27FC236}">
                <a16:creationId xmlns:a16="http://schemas.microsoft.com/office/drawing/2014/main" id="{0853DBE8-80F3-4630-A73E-705DCCBE1101}"/>
              </a:ext>
            </a:extLst>
          </p:cNvPr>
          <p:cNvSpPr>
            <a:spLocks xmlns:a="http://schemas.openxmlformats.org/drawingml/2006/main" noGrp="1"/>
          </p:cNvSpPr>
          <p:nvPr/>
        </p:nvSpPr>
        <p:spPr>
          <a:xfrm xmlns:a="http://schemas.openxmlformats.org/drawingml/2006/main">
            <a:off x="819150" y="5962650"/>
            <a:ext cx="152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350" b="1">
                <a:solidFill>
                  <a:srgbClr val="A55D00"/>
                </a:solidFill>
                <a:latin typeface="Arial"/>
                <a:ea typeface="Arial"/>
                <a:cs typeface="Arial"/>
              </a:defRPr>
            </a:pPr>
            <a:r>
              <a:rPr sz="1350" b="1">
                <a:solidFill>
                  <a:srgbClr val="A55D00"/>
                </a:solidFill>
                <a:latin typeface="Arial"/>
                <a:ea typeface="Arial"/>
                <a:cs typeface="Arial"/>
              </a:rPr>
              <a:t>NGUYÊN TẮC</a:t>
            </a:r>
          </a:p>
        </p:txBody>
      </p:sp>
      <p:sp>
        <p:nvSpPr>
          <p:cNvPr id="22" name="">
            <a:extLst xmlns:a="http://schemas.openxmlformats.org/drawingml/2006/main">
              <a:ext uri="{FF2B5EF4-FFF2-40B4-BE49-F238E27FC236}">
                <a16:creationId xmlns:a16="http://schemas.microsoft.com/office/drawing/2014/main" id="{783A2858-BEC6-4326-9E83-09D976613AEC}"/>
              </a:ext>
            </a:extLst>
          </p:cNvPr>
          <p:cNvSpPr>
            <a:spLocks xmlns:a="http://schemas.openxmlformats.org/drawingml/2006/main" noGrp="1"/>
          </p:cNvSpPr>
          <p:nvPr/>
        </p:nvSpPr>
        <p:spPr>
          <a:xfrm xmlns:a="http://schemas.openxmlformats.org/drawingml/2006/main">
            <a:off x="2362200" y="5886450"/>
            <a:ext cx="8810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1998"/>
          </a:bodyPr>
          <a:lstStyle xmlns:a="http://schemas.openxmlformats.org/drawingml/2006/main"/>
          <a:p xmlns:a="http://schemas.openxmlformats.org/drawingml/2006/main">
            <a:pPr algn="l">
              <a:defRPr sz="1575" b="1">
                <a:solidFill>
                  <a:srgbClr val="0B1F33"/>
                </a:solidFill>
                <a:latin typeface="Arial"/>
                <a:ea typeface="Arial"/>
                <a:cs typeface="Arial"/>
              </a:defRPr>
            </a:pPr>
            <a:r>
              <a:rPr sz="1575" b="1">
                <a:solidFill>
                  <a:srgbClr val="0B1F33"/>
                </a:solidFill>
                <a:latin typeface="Arial"/>
                <a:ea typeface="Arial"/>
                <a:cs typeface="Arial"/>
              </a:rPr>
              <a:t>Chọn ngưỡng bằng tập validation. Không dùng nhãn test để điều chỉnh ngưỡng hoặc siêu tham số.</a:t>
            </a:r>
          </a:p>
        </p:txBody>
      </p:sp>
    </p:spTree>
    <p:extLst>
      <p:ext uri="{BB962C8B-B14F-4D97-AF65-F5344CB8AC3E}">
        <p14:creationId xmlns:p14="http://schemas.microsoft.com/office/powerpoint/2010/main" val="68337196"/>
      </p:ext>
    </p:extLst>
  </p:cSld>
</p:sld>
</file>

<file path=ppt/slides/slide1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6604C7-C629-4162-AF52-C1351532E34E}"/>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Thiết kế thí nghiệm</a:t>
            </a:r>
          </a:p>
        </p:txBody>
      </p:sp>
      <p:sp>
        <p:nvSpPr>
          <p:cNvPr id="2" name="">
            <a:extLst xmlns:a="http://schemas.openxmlformats.org/drawingml/2006/main">
              <a:ext uri="{FF2B5EF4-FFF2-40B4-BE49-F238E27FC236}">
                <a16:creationId xmlns:a16="http://schemas.microsoft.com/office/drawing/2014/main" id="{339C3919-F9F8-4C2C-85EA-7738F1B2020D}"/>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7AC9C207-ED5E-4F18-BC1D-D03AEE9F5ECE}"/>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9E94E889-8DBC-4434-88DC-D7BB7BAF51BC}"/>
              </a:ext>
            </a:extLst>
          </p:cNvPr>
          <p:cNvSpPr>
            <a:spLocks xmlns:a="http://schemas.openxmlformats.org/drawingml/2006/main" noGrp="1"/>
          </p:cNvSpPr>
          <p:nvPr/>
        </p:nvSpPr>
        <p:spPr>
          <a:xfrm xmlns:a="http://schemas.openxmlformats.org/drawingml/2006/main">
            <a:off x="619125" y="1143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MÔ HÌNH SO SÁNH</a:t>
            </a:r>
          </a:p>
        </p:txBody>
      </p:sp>
      <p:sp>
        <p:nvSpPr>
          <p:cNvPr id="5" name="">
            <a:extLst xmlns:a="http://schemas.openxmlformats.org/drawingml/2006/main">
              <a:ext uri="{FF2B5EF4-FFF2-40B4-BE49-F238E27FC236}">
                <a16:creationId xmlns:a16="http://schemas.microsoft.com/office/drawing/2014/main" id="{367CE8E2-E2A1-435F-9AC2-FD364C222560}"/>
              </a:ext>
            </a:extLst>
          </p:cNvPr>
          <p:cNvSpPr>
            <a:spLocks xmlns:a="http://schemas.openxmlformats.org/drawingml/2006/main" noGrp="1"/>
          </p:cNvSpPr>
          <p:nvPr/>
        </p:nvSpPr>
        <p:spPr>
          <a:xfrm xmlns:a="http://schemas.openxmlformats.org/drawingml/2006/main">
            <a:off x="619125" y="1504950"/>
            <a:ext cx="49530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400"/>
              </a:spcAft>
              <a:buChar char="•"/>
              <a:defRPr sz="1575">
                <a:solidFill>
                  <a:srgbClr val="132B3F"/>
                </a:solidFill>
                <a:latin typeface="Arial"/>
                <a:ea typeface="Arial"/>
                <a:cs typeface="Arial"/>
              </a:defRPr>
            </a:pPr>
            <a:r>
              <a:t>Baseline: Conv-Autoencoder.</a:t>
            </a:r>
          </a:p>
          <a:p xmlns:a="http://schemas.openxmlformats.org/drawingml/2006/main">
            <a:pPr marL="228600" indent="-114300">
              <a:spcAft>
                <a:spcPts val="400"/>
              </a:spcAft>
              <a:buChar char="•"/>
              <a:defRPr sz="1575">
                <a:solidFill>
                  <a:srgbClr val="132B3F"/>
                </a:solidFill>
                <a:latin typeface="Arial"/>
                <a:ea typeface="Arial"/>
                <a:cs typeface="Arial"/>
              </a:defRPr>
            </a:pPr>
            <a:r>
              <a:t>Mô hình chính: CNN và Temporal Transformer.</a:t>
            </a:r>
          </a:p>
          <a:p xmlns:a="http://schemas.openxmlformats.org/drawingml/2006/main">
            <a:pPr marL="228600" indent="-114300">
              <a:spcAft>
                <a:spcPts val="400"/>
              </a:spcAft>
              <a:buChar char="•"/>
              <a:defRPr sz="1575">
                <a:solidFill>
                  <a:srgbClr val="132B3F"/>
                </a:solidFill>
                <a:latin typeface="Arial"/>
                <a:ea typeface="Arial"/>
                <a:cs typeface="Arial"/>
              </a:defRPr>
            </a:pPr>
            <a:r>
              <a:t>Mở rộng nếu còn thời gian: ConvLSTM-Autoencoder.</a:t>
            </a:r>
          </a:p>
        </p:txBody>
      </p:sp>
      <p:sp>
        <p:nvSpPr>
          <p:cNvPr id="6" name="">
            <a:extLst xmlns:a="http://schemas.openxmlformats.org/drawingml/2006/main">
              <a:ext uri="{FF2B5EF4-FFF2-40B4-BE49-F238E27FC236}">
                <a16:creationId xmlns:a16="http://schemas.microsoft.com/office/drawing/2014/main" id="{6E7E9125-F100-4838-98BD-554F7828B0AE}"/>
              </a:ext>
            </a:extLst>
          </p:cNvPr>
          <p:cNvSpPr>
            <a:spLocks xmlns:a="http://schemas.openxmlformats.org/drawingml/2006/main" noGrp="1"/>
          </p:cNvSpPr>
          <p:nvPr/>
        </p:nvSpPr>
        <p:spPr>
          <a:xfrm xmlns:a="http://schemas.openxmlformats.org/drawingml/2006/main">
            <a:off x="6381750" y="11430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ABLATION ƯU TIÊN</a:t>
            </a:r>
          </a:p>
        </p:txBody>
      </p:sp>
      <p:sp>
        <p:nvSpPr>
          <p:cNvPr id="7" name="">
            <a:extLst xmlns:a="http://schemas.openxmlformats.org/drawingml/2006/main">
              <a:ext uri="{FF2B5EF4-FFF2-40B4-BE49-F238E27FC236}">
                <a16:creationId xmlns:a16="http://schemas.microsoft.com/office/drawing/2014/main" id="{6D39A534-D725-4A59-ABCC-09EB36E05E7F}"/>
              </a:ext>
            </a:extLst>
          </p:cNvPr>
          <p:cNvSpPr>
            <a:spLocks xmlns:a="http://schemas.openxmlformats.org/drawingml/2006/main" noGrp="1"/>
          </p:cNvSpPr>
          <p:nvPr/>
        </p:nvSpPr>
        <p:spPr>
          <a:xfrm xmlns:a="http://schemas.openxmlformats.org/drawingml/2006/main">
            <a:off x="6381750" y="1504950"/>
            <a:ext cx="51911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400"/>
              </a:spcAft>
              <a:buChar char="•"/>
              <a:defRPr sz="1575">
                <a:solidFill>
                  <a:srgbClr val="132B3F"/>
                </a:solidFill>
                <a:latin typeface="Arial"/>
                <a:ea typeface="Arial"/>
                <a:cs typeface="Arial"/>
              </a:defRPr>
            </a:pPr>
            <a:r>
              <a:t>Không có Transformer và có Transformer.</a:t>
            </a:r>
          </a:p>
          <a:p xmlns:a="http://schemas.openxmlformats.org/drawingml/2006/main">
            <a:pPr marL="228600" indent="-114300">
              <a:spcAft>
                <a:spcPts val="400"/>
              </a:spcAft>
              <a:buChar char="•"/>
              <a:defRPr sz="1575">
                <a:solidFill>
                  <a:srgbClr val="132B3F"/>
                </a:solidFill>
                <a:latin typeface="Arial"/>
                <a:ea typeface="Arial"/>
                <a:cs typeface="Arial"/>
              </a:defRPr>
            </a:pPr>
            <a:r>
              <a:t>Sequence length 8 và 16.</a:t>
            </a:r>
          </a:p>
          <a:p xmlns:a="http://schemas.openxmlformats.org/drawingml/2006/main">
            <a:pPr marL="228600" indent="-114300">
              <a:spcAft>
                <a:spcPts val="400"/>
              </a:spcAft>
              <a:buChar char="•"/>
              <a:defRPr sz="1575">
                <a:solidFill>
                  <a:srgbClr val="132B3F"/>
                </a:solidFill>
                <a:latin typeface="Arial"/>
                <a:ea typeface="Arial"/>
                <a:cs typeface="Arial"/>
              </a:defRPr>
            </a:pPr>
            <a:r>
              <a:t>Pixel reconstruction và feature prediction nếu đủ thời gian.</a:t>
            </a:r>
          </a:p>
        </p:txBody>
      </p:sp>
      <p:sp>
        <p:nvSpPr>
          <p:cNvPr id="8" name="">
            <a:extLst xmlns:a="http://schemas.openxmlformats.org/drawingml/2006/main">
              <a:ext uri="{FF2B5EF4-FFF2-40B4-BE49-F238E27FC236}">
                <a16:creationId xmlns:a16="http://schemas.microsoft.com/office/drawing/2014/main" id="{A366F523-88D1-4788-8E03-D7FB7DC482F1}"/>
              </a:ext>
            </a:extLst>
          </p:cNvPr>
          <p:cNvSpPr>
            <a:spLocks xmlns:a="http://schemas.openxmlformats.org/drawingml/2006/main" noGrp="1"/>
          </p:cNvSpPr>
          <p:nvPr/>
        </p:nvSpPr>
        <p:spPr>
          <a:xfrm xmlns:a="http://schemas.openxmlformats.org/drawingml/2006/main">
            <a:off x="619125" y="311467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BẢNG KẾT QUẢ DỰ KIẾN</a:t>
            </a:r>
          </a:p>
        </p:txBody>
      </p:sp>
      <p:graphicFrame>
        <p:nvGraphicFramePr>
          <p:cNvPr id="18" name=""/>
          <p:cNvGraphicFramePr/>
          <p:nvPr/>
        </p:nvGraphicFramePr>
        <p:xfrm>
          <a:off xmlns:a="http://schemas.openxmlformats.org/drawingml/2006/main" x="619125" y="3524250"/>
          <a:ext xmlns:a="http://schemas.openxmlformats.org/drawingml/2006/main" cx="10953750" cy="2428875"/>
        </p:xfrm>
        <a:graphic xmlns:a="http://schemas.openxmlformats.org/drawingml/2006/main">
          <a:graphicData uri="http://schemas.openxmlformats.org/drawingml/2006/table">
            <a:tbl>
              <a:tblPr/>
              <a:tblGrid>
                <a:gridCol w="2000250"/>
                <a:gridCol w="1666875"/>
                <a:gridCol w="1428750"/>
                <a:gridCol w="1428750"/>
                <a:gridCol w="2476500"/>
                <a:gridCol w="1952625"/>
              </a:tblGrid>
              <a:tr h="571500">
                <a:tc>
                  <a:txBody>
                    <a:bodyPr/>
                    <a:lstStyle/>
                    <a:p>
                      <a:r>
                        <a:rPr sz="1350" b="1">
                          <a:solidFill>
                            <a:srgbClr val="FFFFFF"/>
                          </a:solidFill>
                          <a:latin typeface="Arial"/>
                          <a:ea typeface="Arial"/>
                          <a:cs typeface="Arial"/>
                        </a:rPr>
                        <a:t>Model</a:t>
                      </a:r>
                    </a:p>
                  </a:txBody>
                  <a:tcPr marL="66675" marR="66675" marT="57150" marB="57150" anchor="ctr">
                    <a:solidFill>
                      <a:srgbClr val="0B1F33"/>
                    </a:solidFill>
                  </a:tcPr>
                </a:tc>
                <a:tc>
                  <a:txBody>
                    <a:bodyPr/>
                    <a:lstStyle/>
                    <a:p>
                      <a:r>
                        <a:rPr sz="1350" b="1">
                          <a:solidFill>
                            <a:srgbClr val="FFFFFF"/>
                          </a:solidFill>
                          <a:latin typeface="Arial"/>
                          <a:ea typeface="Arial"/>
                          <a:cs typeface="Arial"/>
                        </a:rPr>
                        <a:t>AUROC</a:t>
                      </a:r>
                    </a:p>
                  </a:txBody>
                  <a:tcPr marL="66675" marR="66675" marT="57150" marB="57150" anchor="ctr">
                    <a:solidFill>
                      <a:srgbClr val="0B1F33"/>
                    </a:solidFill>
                  </a:tcPr>
                </a:tc>
                <a:tc>
                  <a:txBody>
                    <a:bodyPr/>
                    <a:lstStyle/>
                    <a:p>
                      <a:r>
                        <a:rPr sz="1350" b="1">
                          <a:solidFill>
                            <a:srgbClr val="FFFFFF"/>
                          </a:solidFill>
                          <a:latin typeface="Arial"/>
                          <a:ea typeface="Arial"/>
                          <a:cs typeface="Arial"/>
                        </a:rPr>
                        <a:t>AP</a:t>
                      </a:r>
                    </a:p>
                  </a:txBody>
                  <a:tcPr marL="66675" marR="66675" marT="57150" marB="57150" anchor="ctr">
                    <a:solidFill>
                      <a:srgbClr val="0B1F33"/>
                    </a:solidFill>
                  </a:tcPr>
                </a:tc>
                <a:tc>
                  <a:txBody>
                    <a:bodyPr/>
                    <a:lstStyle/>
                    <a:p>
                      <a:r>
                        <a:rPr sz="1350" b="1">
                          <a:solidFill>
                            <a:srgbClr val="FFFFFF"/>
                          </a:solidFill>
                          <a:latin typeface="Arial"/>
                          <a:ea typeface="Arial"/>
                          <a:cs typeface="Arial"/>
                        </a:rPr>
                        <a:t>F1</a:t>
                      </a:r>
                    </a:p>
                  </a:txBody>
                  <a:tcPr marL="66675" marR="66675" marT="57150" marB="57150" anchor="ctr">
                    <a:solidFill>
                      <a:srgbClr val="0B1F33"/>
                    </a:solidFill>
                  </a:tcPr>
                </a:tc>
                <a:tc>
                  <a:txBody>
                    <a:bodyPr/>
                    <a:lstStyle/>
                    <a:p>
                      <a:r>
                        <a:rPr sz="1350" b="1">
                          <a:solidFill>
                            <a:srgbClr val="FFFFFF"/>
                          </a:solidFill>
                          <a:latin typeface="Arial"/>
                          <a:ea typeface="Arial"/>
                          <a:cs typeface="Arial"/>
                        </a:rPr>
                        <a:t>Báo giả/giờ</a:t>
                      </a:r>
                    </a:p>
                  </a:txBody>
                  <a:tcPr marL="66675" marR="66675" marT="57150" marB="57150" anchor="ctr">
                    <a:solidFill>
                      <a:srgbClr val="0B1F33"/>
                    </a:solidFill>
                  </a:tcPr>
                </a:tc>
                <a:tc>
                  <a:txBody>
                    <a:bodyPr/>
                    <a:lstStyle/>
                    <a:p>
                      <a:r>
                        <a:rPr sz="1350" b="1">
                          <a:solidFill>
                            <a:srgbClr val="FFFFFF"/>
                          </a:solidFill>
                          <a:latin typeface="Arial"/>
                          <a:ea typeface="Arial"/>
                          <a:cs typeface="Arial"/>
                        </a:rPr>
                        <a:t>FPS</a:t>
                      </a:r>
                    </a:p>
                  </a:txBody>
                  <a:tcPr marL="66675" marR="66675" marT="57150" marB="57150" anchor="ctr">
                    <a:solidFill>
                      <a:srgbClr val="0B1F33"/>
                    </a:solidFill>
                  </a:tcPr>
                </a:tc>
              </a:tr>
              <a:tr h="914400">
                <a:tc>
                  <a:txBody>
                    <a:bodyPr/>
                    <a:lstStyle/>
                    <a:p>
                      <a:r>
                        <a:rPr sz="1350">
                          <a:solidFill>
                            <a:srgbClr val="132B3F"/>
                          </a:solidFill>
                          <a:latin typeface="Arial"/>
                          <a:ea typeface="Arial"/>
                          <a:cs typeface="Arial"/>
                        </a:rPr>
                        <a:t>Conv-AE</a:t>
                      </a:r>
                    </a:p>
                  </a:txBody>
                  <a:tcPr marL="66675" marR="66675" marT="47625" marB="47625" anchor="ctr">
                    <a:solidFill>
                      <a:srgbClr val="FFFFFF"/>
                    </a:solidFill>
                  </a:tcPr>
                </a:tc>
                <a:tc>
                  <a:txBody>
                    <a:bodyPr/>
                    <a:lstStyle/>
                    <a:p>
                      <a:r>
                        <a:rPr sz="1350">
                          <a:solidFill>
                            <a:srgbClr val="132B3F"/>
                          </a:solidFill>
                          <a:latin typeface="Arial"/>
                          <a:ea typeface="Arial"/>
                          <a:cs typeface="Arial"/>
                        </a:rPr>
                        <a:t>Chưa thực hiện</a:t>
                      </a:r>
                    </a:p>
                  </a:txBody>
                  <a:tcPr marL="66675" marR="66675" marT="47625" marB="47625" anchor="ctr">
                    <a:solidFill>
                      <a:srgbClr val="FFFFFF"/>
                    </a:solidFill>
                  </a:tcPr>
                </a:tc>
                <a:tc>
                  <a:txBody>
                    <a:bodyPr/>
                    <a:lstStyle/>
                    <a:p>
                      <a:r>
                        <a:rPr sz="1350">
                          <a:solidFill>
                            <a:srgbClr val="132B3F"/>
                          </a:solidFill>
                          <a:latin typeface="Arial"/>
                          <a:ea typeface="Arial"/>
                          <a:cs typeface="Arial"/>
                        </a:rPr>
                        <a:t>Chưa thực hiện</a:t>
                      </a:r>
                    </a:p>
                  </a:txBody>
                  <a:tcPr marL="66675" marR="66675" marT="47625" marB="47625" anchor="ctr">
                    <a:solidFill>
                      <a:srgbClr val="FFFFFF"/>
                    </a:solidFill>
                  </a:tcPr>
                </a:tc>
                <a:tc>
                  <a:txBody>
                    <a:bodyPr/>
                    <a:lstStyle/>
                    <a:p>
                      <a:r>
                        <a:rPr sz="1350">
                          <a:solidFill>
                            <a:srgbClr val="132B3F"/>
                          </a:solidFill>
                          <a:latin typeface="Arial"/>
                          <a:ea typeface="Arial"/>
                          <a:cs typeface="Arial"/>
                        </a:rPr>
                        <a:t>Chưa thực hiện</a:t>
                      </a:r>
                    </a:p>
                  </a:txBody>
                  <a:tcPr marL="66675" marR="66675" marT="47625" marB="47625" anchor="ctr">
                    <a:solidFill>
                      <a:srgbClr val="FFFFFF"/>
                    </a:solidFill>
                  </a:tcPr>
                </a:tc>
                <a:tc>
                  <a:txBody>
                    <a:bodyPr/>
                    <a:lstStyle/>
                    <a:p>
                      <a:r>
                        <a:rPr sz="1350">
                          <a:solidFill>
                            <a:srgbClr val="132B3F"/>
                          </a:solidFill>
                          <a:latin typeface="Arial"/>
                          <a:ea typeface="Arial"/>
                          <a:cs typeface="Arial"/>
                        </a:rPr>
                        <a:t>Chưa thực hiện</a:t>
                      </a:r>
                    </a:p>
                  </a:txBody>
                  <a:tcPr marL="66675" marR="66675" marT="47625" marB="47625" anchor="ctr">
                    <a:solidFill>
                      <a:srgbClr val="FFFFFF"/>
                    </a:solidFill>
                  </a:tcPr>
                </a:tc>
                <a:tc>
                  <a:txBody>
                    <a:bodyPr/>
                    <a:lstStyle/>
                    <a:p>
                      <a:r>
                        <a:rPr sz="1350">
                          <a:solidFill>
                            <a:srgbClr val="132B3F"/>
                          </a:solidFill>
                          <a:latin typeface="Arial"/>
                          <a:ea typeface="Arial"/>
                          <a:cs typeface="Arial"/>
                        </a:rPr>
                        <a:t>Chưa thực hiện</a:t>
                      </a:r>
                    </a:p>
                  </a:txBody>
                  <a:tcPr marL="66675" marR="66675" marT="47625" marB="47625" anchor="ctr">
                    <a:solidFill>
                      <a:srgbClr val="FFFFFF"/>
                    </a:solidFill>
                  </a:tcPr>
                </a:tc>
              </a:tr>
              <a:tr h="942975">
                <a:tc>
                  <a:txBody>
                    <a:bodyPr/>
                    <a:lstStyle/>
                    <a:p>
                      <a:r>
                        <a:rPr sz="1350">
                          <a:solidFill>
                            <a:srgbClr val="132B3F"/>
                          </a:solidFill>
                          <a:latin typeface="Arial"/>
                          <a:ea typeface="Arial"/>
                          <a:cs typeface="Arial"/>
                        </a:rPr>
                        <a:t>CNN-Transformer</a:t>
                      </a:r>
                    </a:p>
                  </a:txBody>
                  <a:tcPr marL="66675" marR="66675" marT="47625" marB="47625" anchor="ctr">
                    <a:solidFill>
                      <a:srgbClr val="DDF3F2"/>
                    </a:solidFill>
                  </a:tcPr>
                </a:tc>
                <a:tc>
                  <a:txBody>
                    <a:bodyPr/>
                    <a:lstStyle/>
                    <a:p>
                      <a:r>
                        <a:rPr sz="1350">
                          <a:solidFill>
                            <a:srgbClr val="132B3F"/>
                          </a:solidFill>
                          <a:latin typeface="Arial"/>
                          <a:ea typeface="Arial"/>
                          <a:cs typeface="Arial"/>
                        </a:rPr>
                        <a:t>Chưa thực hiện</a:t>
                      </a:r>
                    </a:p>
                  </a:txBody>
                  <a:tcPr marL="66675" marR="66675" marT="47625" marB="47625" anchor="ctr">
                    <a:solidFill>
                      <a:srgbClr val="DDF3F2"/>
                    </a:solidFill>
                  </a:tcPr>
                </a:tc>
                <a:tc>
                  <a:txBody>
                    <a:bodyPr/>
                    <a:lstStyle/>
                    <a:p>
                      <a:r>
                        <a:rPr sz="1350">
                          <a:solidFill>
                            <a:srgbClr val="132B3F"/>
                          </a:solidFill>
                          <a:latin typeface="Arial"/>
                          <a:ea typeface="Arial"/>
                          <a:cs typeface="Arial"/>
                        </a:rPr>
                        <a:t>Chưa thực hiện</a:t>
                      </a:r>
                    </a:p>
                  </a:txBody>
                  <a:tcPr marL="66675" marR="66675" marT="47625" marB="47625" anchor="ctr">
                    <a:solidFill>
                      <a:srgbClr val="DDF3F2"/>
                    </a:solidFill>
                  </a:tcPr>
                </a:tc>
                <a:tc>
                  <a:txBody>
                    <a:bodyPr/>
                    <a:lstStyle/>
                    <a:p>
                      <a:r>
                        <a:rPr sz="1350">
                          <a:solidFill>
                            <a:srgbClr val="132B3F"/>
                          </a:solidFill>
                          <a:latin typeface="Arial"/>
                          <a:ea typeface="Arial"/>
                          <a:cs typeface="Arial"/>
                        </a:rPr>
                        <a:t>Chưa thực hiện</a:t>
                      </a:r>
                    </a:p>
                  </a:txBody>
                  <a:tcPr marL="66675" marR="66675" marT="47625" marB="47625" anchor="ctr">
                    <a:solidFill>
                      <a:srgbClr val="DDF3F2"/>
                    </a:solidFill>
                  </a:tcPr>
                </a:tc>
                <a:tc>
                  <a:txBody>
                    <a:bodyPr/>
                    <a:lstStyle/>
                    <a:p>
                      <a:r>
                        <a:rPr sz="1350">
                          <a:solidFill>
                            <a:srgbClr val="132B3F"/>
                          </a:solidFill>
                          <a:latin typeface="Arial"/>
                          <a:ea typeface="Arial"/>
                          <a:cs typeface="Arial"/>
                        </a:rPr>
                        <a:t>Chưa thực hiện</a:t>
                      </a:r>
                    </a:p>
                  </a:txBody>
                  <a:tcPr marL="66675" marR="66675" marT="47625" marB="47625" anchor="ctr">
                    <a:solidFill>
                      <a:srgbClr val="DDF3F2"/>
                    </a:solidFill>
                  </a:tcPr>
                </a:tc>
                <a:tc>
                  <a:txBody>
                    <a:bodyPr/>
                    <a:lstStyle/>
                    <a:p>
                      <a:r>
                        <a:rPr sz="1350">
                          <a:solidFill>
                            <a:srgbClr val="132B3F"/>
                          </a:solidFill>
                          <a:latin typeface="Arial"/>
                          <a:ea typeface="Arial"/>
                          <a:cs typeface="Arial"/>
                        </a:rPr>
                        <a:t>Chưa thực hiện</a:t>
                      </a:r>
                    </a:p>
                  </a:txBody>
                  <a:tcPr marL="66675" marR="66675" marT="47625" marB="47625" anchor="ctr">
                    <a:solidFill>
                      <a:srgbClr val="DDF3F2"/>
                    </a:solidFill>
                  </a:tcPr>
                </a:tc>
              </a:tr>
            </a:tbl>
          </a:graphicData>
        </a:graphic>
      </p:graphicFrame>
    </p:spTree>
    <p:extLst>
      <p:ext uri="{BB962C8B-B14F-4D97-AF65-F5344CB8AC3E}">
        <p14:creationId xmlns:p14="http://schemas.microsoft.com/office/powerpoint/2010/main" val="1452457557"/>
      </p:ext>
    </p:extLst>
  </p:cSld>
</p:sld>
</file>

<file path=ppt/slides/slide1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5A69F5-8705-4C7E-B054-7863F3584856}"/>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Kết quả khảo sát tuần 1 và rủi ro</a:t>
            </a:r>
          </a:p>
        </p:txBody>
      </p:sp>
      <p:sp>
        <p:nvSpPr>
          <p:cNvPr id="2" name="">
            <a:extLst xmlns:a="http://schemas.openxmlformats.org/drawingml/2006/main">
              <a:ext uri="{FF2B5EF4-FFF2-40B4-BE49-F238E27FC236}">
                <a16:creationId xmlns:a16="http://schemas.microsoft.com/office/drawing/2014/main" id="{6B9C6494-A06D-4C4E-9FE5-6996F915DE23}"/>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4A8B941B-A441-4472-BD46-7879CE2ABA7B}"/>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6DD8F958-04D5-45BD-9954-9BE55291151F}"/>
              </a:ext>
            </a:extLst>
          </p:cNvPr>
          <p:cNvSpPr>
            <a:spLocks xmlns:a="http://schemas.openxmlformats.org/drawingml/2006/main" noGrp="1"/>
          </p:cNvSpPr>
          <p:nvPr/>
        </p:nvSpPr>
        <p:spPr>
          <a:xfrm xmlns:a="http://schemas.openxmlformats.org/drawingml/2006/main">
            <a:off x="590550" y="11430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KẾT QUẢ KHẢO SÁT TUẦN 1</a:t>
            </a:r>
          </a:p>
        </p:txBody>
      </p:sp>
      <p:sp>
        <p:nvSpPr>
          <p:cNvPr id="5" name="">
            <a:extLst xmlns:a="http://schemas.openxmlformats.org/drawingml/2006/main">
              <a:ext uri="{FF2B5EF4-FFF2-40B4-BE49-F238E27FC236}">
                <a16:creationId xmlns:a16="http://schemas.microsoft.com/office/drawing/2014/main" id="{9A6DBA88-A9D1-408B-BDAF-9EE83FA8395B}"/>
              </a:ext>
            </a:extLst>
          </p:cNvPr>
          <p:cNvSpPr>
            <a:spLocks xmlns:a="http://schemas.openxmlformats.org/drawingml/2006/main" noGrp="1"/>
          </p:cNvSpPr>
          <p:nvPr/>
        </p:nvSpPr>
        <p:spPr>
          <a:xfrm xmlns:a="http://schemas.openxmlformats.org/drawingml/2006/main">
            <a:off x="590550" y="1524000"/>
            <a:ext cx="404812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500"/>
              </a:spcAft>
              <a:buChar char="•"/>
              <a:defRPr sz="1575">
                <a:solidFill>
                  <a:srgbClr val="132B3F"/>
                </a:solidFill>
                <a:latin typeface="Arial"/>
                <a:ea typeface="Arial"/>
                <a:cs typeface="Arial"/>
              </a:defRPr>
            </a:pPr>
            <a:r>
              <a:t>Xác định bài toán normal-only video anomaly detection.</a:t>
            </a:r>
          </a:p>
          <a:p xmlns:a="http://schemas.openxmlformats.org/drawingml/2006/main">
            <a:pPr marL="228600" indent="-114300">
              <a:spcAft>
                <a:spcPts val="500"/>
              </a:spcAft>
              <a:buChar char="•"/>
              <a:defRPr sz="1575">
                <a:solidFill>
                  <a:srgbClr val="132B3F"/>
                </a:solidFill>
                <a:latin typeface="Arial"/>
                <a:ea typeface="Arial"/>
                <a:cs typeface="Arial"/>
              </a:defRPr>
            </a:pPr>
            <a:r>
              <a:t>Giới hạn bối cảnh ở camera cố định và khu vực dành cho người đi bộ.</a:t>
            </a:r>
          </a:p>
          <a:p xmlns:a="http://schemas.openxmlformats.org/drawingml/2006/main">
            <a:pPr marL="228600" indent="-114300">
              <a:spcAft>
                <a:spcPts val="500"/>
              </a:spcAft>
              <a:buChar char="•"/>
              <a:defRPr sz="1575">
                <a:solidFill>
                  <a:srgbClr val="132B3F"/>
                </a:solidFill>
                <a:latin typeface="Arial"/>
                <a:ea typeface="Arial"/>
                <a:cs typeface="Arial"/>
              </a:defRPr>
            </a:pPr>
            <a:r>
              <a:t>Khảo sát UCSD Ped2 và CUHK Avenue.</a:t>
            </a:r>
          </a:p>
          <a:p xmlns:a="http://schemas.openxmlformats.org/drawingml/2006/main">
            <a:pPr marL="228600" indent="-114300">
              <a:spcAft>
                <a:spcPts val="500"/>
              </a:spcAft>
              <a:buChar char="•"/>
              <a:defRPr sz="1575">
                <a:solidFill>
                  <a:srgbClr val="132B3F"/>
                </a:solidFill>
                <a:latin typeface="Arial"/>
                <a:ea typeface="Arial"/>
                <a:cs typeface="Arial"/>
              </a:defRPr>
            </a:pPr>
            <a:r>
              <a:t>Đề xuất Conv-Autoencoder làm baseline.</a:t>
            </a:r>
          </a:p>
          <a:p xmlns:a="http://schemas.openxmlformats.org/drawingml/2006/main">
            <a:pPr marL="228600" indent="-114300">
              <a:spcAft>
                <a:spcPts val="500"/>
              </a:spcAft>
              <a:buChar char="•"/>
              <a:defRPr sz="1575">
                <a:solidFill>
                  <a:srgbClr val="132B3F"/>
                </a:solidFill>
                <a:latin typeface="Arial"/>
                <a:ea typeface="Arial"/>
                <a:cs typeface="Arial"/>
              </a:defRPr>
            </a:pPr>
            <a:r>
              <a:t>Thiết kế sơ bộ CNN và Temporal Transformer.</a:t>
            </a:r>
          </a:p>
          <a:p xmlns:a="http://schemas.openxmlformats.org/drawingml/2006/main">
            <a:pPr marL="228600" indent="-114300">
              <a:spcAft>
                <a:spcPts val="500"/>
              </a:spcAft>
              <a:buChar char="•"/>
              <a:defRPr sz="1575">
                <a:solidFill>
                  <a:srgbClr val="132B3F"/>
                </a:solidFill>
                <a:latin typeface="Arial"/>
                <a:ea typeface="Arial"/>
                <a:cs typeface="Arial"/>
              </a:defRPr>
            </a:pPr>
            <a:r>
              <a:t>Xác định pipeline từ video đầu vào đến cảnh báo.</a:t>
            </a:r>
          </a:p>
        </p:txBody>
      </p:sp>
      <p:sp>
        <p:nvSpPr>
          <p:cNvPr id="6" name="">
            <a:extLst xmlns:a="http://schemas.openxmlformats.org/drawingml/2006/main">
              <a:ext uri="{FF2B5EF4-FFF2-40B4-BE49-F238E27FC236}">
                <a16:creationId xmlns:a16="http://schemas.microsoft.com/office/drawing/2014/main" id="{C45B5991-27D5-48E9-85F4-543E50DCD674}"/>
              </a:ext>
            </a:extLst>
          </p:cNvPr>
          <p:cNvSpPr>
            <a:spLocks xmlns:a="http://schemas.openxmlformats.org/drawingml/2006/main" noGrp="1"/>
          </p:cNvSpPr>
          <p:nvPr/>
        </p:nvSpPr>
        <p:spPr>
          <a:xfrm xmlns:a="http://schemas.openxmlformats.org/drawingml/2006/main">
            <a:off x="4953000" y="11430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F59E0B"/>
                </a:solidFill>
                <a:latin typeface="Arial"/>
                <a:ea typeface="Arial"/>
                <a:cs typeface="Arial"/>
              </a:defRPr>
            </a:pPr>
            <a:r>
              <a:rPr sz="1425" b="1">
                <a:solidFill>
                  <a:srgbClr val="F59E0B"/>
                </a:solidFill>
                <a:latin typeface="Arial"/>
                <a:ea typeface="Arial"/>
                <a:cs typeface="Arial"/>
              </a:rPr>
              <a:t>RỦI RO CẦN KIỂM SOÁT</a:t>
            </a:r>
          </a:p>
        </p:txBody>
      </p:sp>
      <p:graphicFrame>
        <p:nvGraphicFramePr>
          <p:cNvPr id="14" name=""/>
          <p:cNvGraphicFramePr/>
          <p:nvPr/>
        </p:nvGraphicFramePr>
        <p:xfrm>
          <a:off xmlns:a="http://schemas.openxmlformats.org/drawingml/2006/main" x="4953000" y="1524000"/>
          <a:ext xmlns:a="http://schemas.openxmlformats.org/drawingml/2006/main" cx="6619875" cy="4476750"/>
        </p:xfrm>
        <a:graphic xmlns:a="http://schemas.openxmlformats.org/drawingml/2006/main">
          <a:graphicData uri="http://schemas.openxmlformats.org/drawingml/2006/table">
            <a:tbl>
              <a:tblPr/>
              <a:tblGrid>
                <a:gridCol w="2524125"/>
                <a:gridCol w="4095750"/>
              </a:tblGrid>
              <a:tr h="552450">
                <a:tc>
                  <a:txBody>
                    <a:bodyPr/>
                    <a:lstStyle/>
                    <a:p>
                      <a:r>
                        <a:rPr sz="1350" b="1">
                          <a:solidFill>
                            <a:srgbClr val="FFFFFF"/>
                          </a:solidFill>
                          <a:latin typeface="Arial"/>
                          <a:ea typeface="Arial"/>
                          <a:cs typeface="Arial"/>
                        </a:rPr>
                        <a:t>Rủi ro</a:t>
                      </a:r>
                    </a:p>
                  </a:txBody>
                  <a:tcPr marL="66675" marR="66675" marT="57150" marB="57150" anchor="ctr">
                    <a:solidFill>
                      <a:srgbClr val="0B1F33"/>
                    </a:solidFill>
                  </a:tcPr>
                </a:tc>
                <a:tc>
                  <a:txBody>
                    <a:bodyPr/>
                    <a:lstStyle/>
                    <a:p>
                      <a:r>
                        <a:rPr sz="1350" b="1">
                          <a:solidFill>
                            <a:srgbClr val="FFFFFF"/>
                          </a:solidFill>
                          <a:latin typeface="Arial"/>
                          <a:ea typeface="Arial"/>
                          <a:cs typeface="Arial"/>
                        </a:rPr>
                        <a:t>Hướng xử lý</a:t>
                      </a:r>
                    </a:p>
                  </a:txBody>
                  <a:tcPr marL="66675" marR="66675" marT="57150" marB="57150" anchor="ctr">
                    <a:solidFill>
                      <a:srgbClr val="0B1F33"/>
                    </a:solidFill>
                  </a:tcPr>
                </a:tc>
              </a:tr>
              <a:tr h="781050">
                <a:tc>
                  <a:txBody>
                    <a:bodyPr/>
                    <a:lstStyle/>
                    <a:p>
                      <a:r>
                        <a:rPr sz="1350">
                          <a:solidFill>
                            <a:srgbClr val="132B3F"/>
                          </a:solidFill>
                          <a:latin typeface="Arial"/>
                          <a:ea typeface="Arial"/>
                          <a:cs typeface="Arial"/>
                        </a:rPr>
                        <a:t>Chưa có nền tảng AI</a:t>
                      </a:r>
                    </a:p>
                  </a:txBody>
                  <a:tcPr marL="66675" marR="66675" marT="47625" marB="47625" anchor="ctr">
                    <a:solidFill>
                      <a:srgbClr val="FFFFFF"/>
                    </a:solidFill>
                  </a:tcPr>
                </a:tc>
                <a:tc>
                  <a:txBody>
                    <a:bodyPr/>
                    <a:lstStyle/>
                    <a:p>
                      <a:r>
                        <a:rPr sz="1350">
                          <a:solidFill>
                            <a:srgbClr val="132B3F"/>
                          </a:solidFill>
                          <a:latin typeface="Arial"/>
                          <a:ea typeface="Arial"/>
                          <a:cs typeface="Arial"/>
                        </a:rPr>
                        <a:t>Học PyTorch theo từng thành phần cần dùng</a:t>
                      </a:r>
                    </a:p>
                  </a:txBody>
                  <a:tcPr marL="66675" marR="66675" marT="47625" marB="47625" anchor="ctr">
                    <a:solidFill>
                      <a:srgbClr val="FFFFFF"/>
                    </a:solidFill>
                  </a:tcPr>
                </a:tc>
              </a:tr>
              <a:tr h="781050">
                <a:tc>
                  <a:txBody>
                    <a:bodyPr/>
                    <a:lstStyle/>
                    <a:p>
                      <a:r>
                        <a:rPr sz="1350">
                          <a:solidFill>
                            <a:srgbClr val="132B3F"/>
                          </a:solidFill>
                          <a:latin typeface="Arial"/>
                          <a:ea typeface="Arial"/>
                          <a:cs typeface="Arial"/>
                        </a:rPr>
                        <a:t>Dataset nhỏ và dễ overfit</a:t>
                      </a:r>
                    </a:p>
                  </a:txBody>
                  <a:tcPr marL="66675" marR="66675" marT="47625" marB="47625" anchor="ctr">
                    <a:solidFill>
                      <a:srgbClr val="FFFFFF"/>
                    </a:solidFill>
                  </a:tcPr>
                </a:tc>
                <a:tc>
                  <a:txBody>
                    <a:bodyPr/>
                    <a:lstStyle/>
                    <a:p>
                      <a:r>
                        <a:rPr sz="1350">
                          <a:solidFill>
                            <a:srgbClr val="132B3F"/>
                          </a:solidFill>
                          <a:latin typeface="Arial"/>
                          <a:ea typeface="Arial"/>
                          <a:cs typeface="Arial"/>
                        </a:rPr>
                        <a:t>Validation riêng, augmentation có kiểm soát</a:t>
                      </a:r>
                    </a:p>
                  </a:txBody>
                  <a:tcPr marL="66675" marR="66675" marT="47625" marB="47625" anchor="ctr">
                    <a:solidFill>
                      <a:srgbClr val="FFFFFF"/>
                    </a:solidFill>
                  </a:tcPr>
                </a:tc>
              </a:tr>
              <a:tr h="781050">
                <a:tc>
                  <a:txBody>
                    <a:bodyPr/>
                    <a:lstStyle/>
                    <a:p>
                      <a:r>
                        <a:rPr sz="1350">
                          <a:solidFill>
                            <a:srgbClr val="132B3F"/>
                          </a:solidFill>
                          <a:latin typeface="Arial"/>
                          <a:ea typeface="Arial"/>
                          <a:cs typeface="Arial"/>
                        </a:rPr>
                        <a:t>Ped2 và Avenue khác miền</a:t>
                      </a:r>
                    </a:p>
                  </a:txBody>
                  <a:tcPr marL="66675" marR="66675" marT="47625" marB="47625" anchor="ctr">
                    <a:solidFill>
                      <a:srgbClr val="FFFFFF"/>
                    </a:solidFill>
                  </a:tcPr>
                </a:tc>
                <a:tc>
                  <a:txBody>
                    <a:bodyPr/>
                    <a:lstStyle/>
                    <a:p>
                      <a:r>
                        <a:rPr sz="1350">
                          <a:solidFill>
                            <a:srgbClr val="132B3F"/>
                          </a:solidFill>
                          <a:latin typeface="Arial"/>
                          <a:ea typeface="Arial"/>
                          <a:cs typeface="Arial"/>
                        </a:rPr>
                        <a:t>Đánh giá cùng miền trước, cross-domain sau</a:t>
                      </a:r>
                    </a:p>
                  </a:txBody>
                  <a:tcPr marL="66675" marR="66675" marT="47625" marB="47625" anchor="ctr">
                    <a:solidFill>
                      <a:srgbClr val="FFFFFF"/>
                    </a:solidFill>
                  </a:tcPr>
                </a:tc>
              </a:tr>
              <a:tr h="781050">
                <a:tc>
                  <a:txBody>
                    <a:bodyPr/>
                    <a:lstStyle/>
                    <a:p>
                      <a:r>
                        <a:rPr sz="1350">
                          <a:solidFill>
                            <a:srgbClr val="132B3F"/>
                          </a:solidFill>
                          <a:latin typeface="Arial"/>
                          <a:ea typeface="Arial"/>
                          <a:cs typeface="Arial"/>
                        </a:rPr>
                        <a:t>Transformer tốn tài nguyên</a:t>
                      </a:r>
                    </a:p>
                  </a:txBody>
                  <a:tcPr marL="66675" marR="66675" marT="47625" marB="47625" anchor="ctr">
                    <a:solidFill>
                      <a:srgbClr val="FFFFFF"/>
                    </a:solidFill>
                  </a:tcPr>
                </a:tc>
                <a:tc>
                  <a:txBody>
                    <a:bodyPr/>
                    <a:lstStyle/>
                    <a:p>
                      <a:r>
                        <a:rPr sz="1350">
                          <a:solidFill>
                            <a:srgbClr val="132B3F"/>
                          </a:solidFill>
                          <a:latin typeface="Arial"/>
                          <a:ea typeface="Arial"/>
                          <a:cs typeface="Arial"/>
                        </a:rPr>
                        <a:t>ResNet18, sequence 8, Transformer 2 lớp</a:t>
                      </a:r>
                    </a:p>
                  </a:txBody>
                  <a:tcPr marL="66675" marR="66675" marT="47625" marB="47625" anchor="ctr">
                    <a:solidFill>
                      <a:srgbClr val="FFFFFF"/>
                    </a:solidFill>
                  </a:tcPr>
                </a:tc>
              </a:tr>
              <a:tr h="781050">
                <a:tc>
                  <a:txBody>
                    <a:bodyPr/>
                    <a:lstStyle/>
                    <a:p>
                      <a:r>
                        <a:rPr sz="1350">
                          <a:solidFill>
                            <a:srgbClr val="132B3F"/>
                          </a:solidFill>
                          <a:latin typeface="Arial"/>
                          <a:ea typeface="Arial"/>
                          <a:cs typeface="Arial"/>
                        </a:rPr>
                        <a:t>Báo giả do ánh sáng hoặc rung</a:t>
                      </a:r>
                    </a:p>
                  </a:txBody>
                  <a:tcPr marL="66675" marR="66675" marT="47625" marB="47625" anchor="ctr">
                    <a:solidFill>
                      <a:srgbClr val="FFF1D4"/>
                    </a:solidFill>
                  </a:tcPr>
                </a:tc>
                <a:tc>
                  <a:txBody>
                    <a:bodyPr/>
                    <a:lstStyle/>
                    <a:p>
                      <a:r>
                        <a:rPr sz="1350">
                          <a:solidFill>
                            <a:srgbClr val="132B3F"/>
                          </a:solidFill>
                          <a:latin typeface="Arial"/>
                          <a:ea typeface="Arial"/>
                          <a:cs typeface="Arial"/>
                        </a:rPr>
                        <a:t>Làm mượt score và kiểm tra nhiều frame liên tiếp</a:t>
                      </a:r>
                    </a:p>
                  </a:txBody>
                  <a:tcPr marL="66675" marR="66675" marT="47625" marB="47625" anchor="ctr">
                    <a:solidFill>
                      <a:srgbClr val="FFF1D4"/>
                    </a:solidFill>
                  </a:tcPr>
                </a:tc>
              </a:tr>
            </a:tbl>
          </a:graphicData>
        </a:graphic>
      </p:graphicFrame>
    </p:spTree>
    <p:extLst>
      <p:ext uri="{BB962C8B-B14F-4D97-AF65-F5344CB8AC3E}">
        <p14:creationId xmlns:p14="http://schemas.microsoft.com/office/powerpoint/2010/main" val="196216754"/>
      </p:ext>
    </p:extLst>
  </p:cSld>
</p:sld>
</file>

<file path=ppt/slides/slide1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924728-7B01-43A8-B9B8-6D7FCF443472}"/>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0B1F33"/>
                </a:solidFill>
                <a:latin typeface="Arial"/>
                <a:ea typeface="Arial"/>
                <a:cs typeface="Arial"/>
              </a:defRPr>
            </a:pPr>
            <a:r>
              <a:rPr sz="3150" b="1">
                <a:solidFill>
                  <a:srgbClr val="0B1F33"/>
                </a:solidFill>
                <a:latin typeface="Arial"/>
                <a:ea typeface="Arial"/>
                <a:cs typeface="Arial"/>
              </a:rPr>
              <a:t>Kế hoạch thực hiện</a:t>
            </a:r>
          </a:p>
        </p:txBody>
      </p:sp>
      <p:sp>
        <p:nvSpPr>
          <p:cNvPr id="2" name="">
            <a:extLst xmlns:a="http://schemas.openxmlformats.org/drawingml/2006/main">
              <a:ext uri="{FF2B5EF4-FFF2-40B4-BE49-F238E27FC236}">
                <a16:creationId xmlns:a16="http://schemas.microsoft.com/office/drawing/2014/main" id="{7FA67963-DDBB-44DF-8C2D-166779AC60C5}"/>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159E9C"/>
            </a:solidFill>
            <a:prstDash val="solid"/>
          </a:ln>
        </p:spPr>
      </p:sp>
      <p:sp>
        <p:nvSpPr>
          <p:cNvPr id="3" name="">
            <a:extLst xmlns:a="http://schemas.openxmlformats.org/drawingml/2006/main">
              <a:ext uri="{FF2B5EF4-FFF2-40B4-BE49-F238E27FC236}">
                <a16:creationId xmlns:a16="http://schemas.microsoft.com/office/drawing/2014/main" id="{EA5168A6-7B11-42E6-998F-13C8FC3CB23D}"/>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159E9C"/>
                </a:solidFill>
                <a:latin typeface="Arial"/>
                <a:ea typeface="Arial"/>
                <a:cs typeface="Arial"/>
              </a:defRPr>
            </a:pPr>
            <a:r>
              <a:rPr sz="1500" b="1">
                <a:solidFill>
                  <a:srgbClr val="159E9C"/>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5C917F53-713E-49CC-9EE5-B669078F0684}"/>
              </a:ext>
            </a:extLst>
          </p:cNvPr>
          <p:cNvSpPr>
            <a:spLocks xmlns:a="http://schemas.openxmlformats.org/drawingml/2006/main" noGrp="1"/>
          </p:cNvSpPr>
          <p:nvPr/>
        </p:nvSpPr>
        <p:spPr>
          <a:xfrm xmlns:a="http://schemas.openxmlformats.org/drawingml/2006/main">
            <a:off x="590550" y="11430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MỤC TIÊU TUẦN 2</a:t>
            </a:r>
          </a:p>
        </p:txBody>
      </p:sp>
      <p:sp>
        <p:nvSpPr>
          <p:cNvPr id="5" name="">
            <a:extLst xmlns:a="http://schemas.openxmlformats.org/drawingml/2006/main">
              <a:ext uri="{FF2B5EF4-FFF2-40B4-BE49-F238E27FC236}">
                <a16:creationId xmlns:a16="http://schemas.microsoft.com/office/drawing/2014/main" id="{AC99F903-230A-4C78-B5AE-E8DFB1C85EF3}"/>
              </a:ext>
            </a:extLst>
          </p:cNvPr>
          <p:cNvSpPr>
            <a:spLocks xmlns:a="http://schemas.openxmlformats.org/drawingml/2006/main" noGrp="1"/>
          </p:cNvSpPr>
          <p:nvPr/>
        </p:nvSpPr>
        <p:spPr>
          <a:xfrm xmlns:a="http://schemas.openxmlformats.org/drawingml/2006/main">
            <a:off x="590550" y="1524000"/>
            <a:ext cx="4714875" cy="433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600"/>
              </a:spcAft>
              <a:buChar char="•"/>
              <a:defRPr sz="1575">
                <a:solidFill>
                  <a:srgbClr val="132B3F"/>
                </a:solidFill>
                <a:latin typeface="Arial"/>
                <a:ea typeface="Arial"/>
                <a:cs typeface="Arial"/>
              </a:defRPr>
            </a:pPr>
            <a:r>
              <a:t>Tải và kiểm tra cấu trúc Ped2, Avenue.</a:t>
            </a:r>
          </a:p>
          <a:p xmlns:a="http://schemas.openxmlformats.org/drawingml/2006/main">
            <a:pPr marL="228600" indent="-114300">
              <a:spcAft>
                <a:spcPts val="600"/>
              </a:spcAft>
              <a:buChar char="•"/>
              <a:defRPr sz="1575">
                <a:solidFill>
                  <a:srgbClr val="132B3F"/>
                </a:solidFill>
                <a:latin typeface="Arial"/>
                <a:ea typeface="Arial"/>
                <a:cs typeface="Arial"/>
              </a:defRPr>
            </a:pPr>
            <a:r>
              <a:t>Thống kê số video, frame, độ phân giải và tỷ lệ frame bất thường.</a:t>
            </a:r>
          </a:p>
          <a:p xmlns:a="http://schemas.openxmlformats.org/drawingml/2006/main">
            <a:pPr marL="228600" indent="-114300">
              <a:spcAft>
                <a:spcPts val="600"/>
              </a:spcAft>
              <a:buChar char="•"/>
              <a:defRPr sz="1575">
                <a:solidFill>
                  <a:srgbClr val="132B3F"/>
                </a:solidFill>
                <a:latin typeface="Arial"/>
                <a:ea typeface="Arial"/>
                <a:cs typeface="Arial"/>
              </a:defRPr>
            </a:pPr>
            <a:r>
              <a:t>Hiển thị frame cùng ground truth để kiểm tra nhãn.</a:t>
            </a:r>
          </a:p>
          <a:p xmlns:a="http://schemas.openxmlformats.org/drawingml/2006/main">
            <a:pPr marL="228600" indent="-114300">
              <a:spcAft>
                <a:spcPts val="600"/>
              </a:spcAft>
              <a:buChar char="•"/>
              <a:defRPr sz="1575">
                <a:solidFill>
                  <a:srgbClr val="132B3F"/>
                </a:solidFill>
                <a:latin typeface="Arial"/>
                <a:ea typeface="Arial"/>
                <a:cs typeface="Arial"/>
              </a:defRPr>
            </a:pPr>
            <a:r>
              <a:t>Viết PyTorch Dataset và DataLoader cho chuỗi 8 frame.</a:t>
            </a:r>
          </a:p>
          <a:p xmlns:a="http://schemas.openxmlformats.org/drawingml/2006/main">
            <a:pPr marL="228600" indent="-114300">
              <a:spcAft>
                <a:spcPts val="600"/>
              </a:spcAft>
              <a:buChar char="•"/>
              <a:defRPr sz="1575">
                <a:solidFill>
                  <a:srgbClr val="132B3F"/>
                </a:solidFill>
                <a:latin typeface="Arial"/>
                <a:ea typeface="Arial"/>
                <a:cs typeface="Arial"/>
              </a:defRPr>
            </a:pPr>
            <a:r>
              <a:t>Tách validation từ dữ liệu bình thường.</a:t>
            </a:r>
          </a:p>
          <a:p xmlns:a="http://schemas.openxmlformats.org/drawingml/2006/main">
            <a:pPr marL="228600" indent="-114300">
              <a:spcAft>
                <a:spcPts val="600"/>
              </a:spcAft>
              <a:buChar char="•"/>
              <a:defRPr sz="1575">
                <a:solidFill>
                  <a:srgbClr val="132B3F"/>
                </a:solidFill>
                <a:latin typeface="Arial"/>
                <a:ea typeface="Arial"/>
                <a:cs typeface="Arial"/>
              </a:defRPr>
            </a:pPr>
            <a:r>
              <a:t>Chạy thử một batch qua CNN nhỏ.</a:t>
            </a:r>
          </a:p>
        </p:txBody>
      </p:sp>
      <p:sp>
        <p:nvSpPr>
          <p:cNvPr id="6" name="">
            <a:extLst xmlns:a="http://schemas.openxmlformats.org/drawingml/2006/main">
              <a:ext uri="{FF2B5EF4-FFF2-40B4-BE49-F238E27FC236}">
                <a16:creationId xmlns:a16="http://schemas.microsoft.com/office/drawing/2014/main" id="{7FC32674-753B-40F3-A681-D089A798AD43}"/>
              </a:ext>
            </a:extLst>
          </p:cNvPr>
          <p:cNvSpPr>
            <a:spLocks xmlns:a="http://schemas.openxmlformats.org/drawingml/2006/main" noGrp="1"/>
          </p:cNvSpPr>
          <p:nvPr/>
        </p:nvSpPr>
        <p:spPr>
          <a:xfrm xmlns:a="http://schemas.openxmlformats.org/drawingml/2006/main">
            <a:off x="5810250" y="11430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9E9C"/>
                </a:solidFill>
                <a:latin typeface="Arial"/>
                <a:ea typeface="Arial"/>
                <a:cs typeface="Arial"/>
              </a:defRPr>
            </a:pPr>
            <a:r>
              <a:rPr sz="1425" b="1">
                <a:solidFill>
                  <a:srgbClr val="159E9C"/>
                </a:solidFill>
                <a:latin typeface="Arial"/>
                <a:ea typeface="Arial"/>
                <a:cs typeface="Arial"/>
              </a:rPr>
              <a:t>LỘ TRÌNH 8 TUẦN</a:t>
            </a:r>
          </a:p>
        </p:txBody>
      </p:sp>
      <p:graphicFrame>
        <p:nvGraphicFramePr>
          <p:cNvPr id="14" name=""/>
          <p:cNvGraphicFramePr/>
          <p:nvPr/>
        </p:nvGraphicFramePr>
        <p:xfrm>
          <a:off xmlns:a="http://schemas.openxmlformats.org/drawingml/2006/main" x="5810250" y="1524000"/>
          <a:ext xmlns:a="http://schemas.openxmlformats.org/drawingml/2006/main" cx="5762625" cy="4572000"/>
        </p:xfrm>
        <a:graphic xmlns:a="http://schemas.openxmlformats.org/drawingml/2006/main">
          <a:graphicData uri="http://schemas.openxmlformats.org/drawingml/2006/table">
            <a:tbl>
              <a:tblPr/>
              <a:tblGrid>
                <a:gridCol w="1190625"/>
                <a:gridCol w="4572000"/>
              </a:tblGrid>
              <a:tr h="523875">
                <a:tc>
                  <a:txBody>
                    <a:bodyPr/>
                    <a:lstStyle/>
                    <a:p>
                      <a:r>
                        <a:rPr sz="1350" b="1">
                          <a:solidFill>
                            <a:srgbClr val="FFFFFF"/>
                          </a:solidFill>
                          <a:latin typeface="Arial"/>
                          <a:ea typeface="Arial"/>
                          <a:cs typeface="Arial"/>
                        </a:rPr>
                        <a:t>Tuần</a:t>
                      </a:r>
                    </a:p>
                  </a:txBody>
                  <a:tcPr marL="66675" marR="66675" marT="57150" marB="57150" anchor="ctr">
                    <a:solidFill>
                      <a:srgbClr val="0B1F33"/>
                    </a:solidFill>
                  </a:tcPr>
                </a:tc>
                <a:tc>
                  <a:txBody>
                    <a:bodyPr/>
                    <a:lstStyle/>
                    <a:p>
                      <a:r>
                        <a:rPr sz="1350" b="1">
                          <a:solidFill>
                            <a:srgbClr val="FFFFFF"/>
                          </a:solidFill>
                          <a:latin typeface="Arial"/>
                          <a:ea typeface="Arial"/>
                          <a:cs typeface="Arial"/>
                        </a:rPr>
                        <a:t>Đầu ra chính</a:t>
                      </a:r>
                    </a:p>
                  </a:txBody>
                  <a:tcPr marL="66675" marR="66675" marT="57150" marB="57150" anchor="ctr">
                    <a:solidFill>
                      <a:srgbClr val="0B1F33"/>
                    </a:solidFill>
                  </a:tcPr>
                </a:tc>
              </a:tr>
              <a:tr h="581025">
                <a:tc>
                  <a:txBody>
                    <a:bodyPr/>
                    <a:lstStyle/>
                    <a:p>
                      <a:r>
                        <a:rPr sz="1350">
                          <a:solidFill>
                            <a:srgbClr val="132B3F"/>
                          </a:solidFill>
                          <a:latin typeface="Arial"/>
                          <a:ea typeface="Arial"/>
                          <a:cs typeface="Arial"/>
                        </a:rPr>
                        <a:t>1</a:t>
                      </a:r>
                    </a:p>
                  </a:txBody>
                  <a:tcPr marL="66675" marR="66675" marT="47625" marB="47625" anchor="ctr">
                    <a:solidFill>
                      <a:srgbClr val="FFFFFF"/>
                    </a:solidFill>
                  </a:tcPr>
                </a:tc>
                <a:tc>
                  <a:txBody>
                    <a:bodyPr/>
                    <a:lstStyle/>
                    <a:p>
                      <a:r>
                        <a:rPr sz="1350">
                          <a:solidFill>
                            <a:srgbClr val="132B3F"/>
                          </a:solidFill>
                          <a:latin typeface="Arial"/>
                          <a:ea typeface="Arial"/>
                          <a:cs typeface="Arial"/>
                        </a:rPr>
                        <a:t>Khảo sát bài toán, dataset và kiến trúc</a:t>
                      </a:r>
                    </a:p>
                  </a:txBody>
                  <a:tcPr marL="66675" marR="66675" marT="47625" marB="47625" anchor="ctr">
                    <a:solidFill>
                      <a:srgbClr val="FFFFFF"/>
                    </a:solidFill>
                  </a:tcPr>
                </a:tc>
              </a:tr>
              <a:tr h="581025">
                <a:tc>
                  <a:txBody>
                    <a:bodyPr/>
                    <a:lstStyle/>
                    <a:p>
                      <a:r>
                        <a:rPr sz="1350" b="1">
                          <a:solidFill>
                            <a:srgbClr val="0B1F33"/>
                          </a:solidFill>
                          <a:latin typeface="Arial"/>
                          <a:ea typeface="Arial"/>
                          <a:cs typeface="Arial"/>
                        </a:rPr>
                        <a:t>2</a:t>
                      </a:r>
                    </a:p>
                  </a:txBody>
                  <a:tcPr marL="66675" marR="66675" marT="47625" marB="47625" anchor="ctr">
                    <a:solidFill>
                      <a:srgbClr val="DDF3F2"/>
                    </a:solidFill>
                  </a:tcPr>
                </a:tc>
                <a:tc>
                  <a:txBody>
                    <a:bodyPr/>
                    <a:lstStyle/>
                    <a:p>
                      <a:r>
                        <a:rPr sz="1350" b="1">
                          <a:solidFill>
                            <a:srgbClr val="0B1F33"/>
                          </a:solidFill>
                          <a:latin typeface="Arial"/>
                          <a:ea typeface="Arial"/>
                          <a:cs typeface="Arial"/>
                        </a:rPr>
                        <a:t>Data pipeline và thống kê dữ liệu</a:t>
                      </a:r>
                    </a:p>
                  </a:txBody>
                  <a:tcPr marL="66675" marR="66675" marT="47625" marB="47625" anchor="ctr">
                    <a:solidFill>
                      <a:srgbClr val="DDF3F2"/>
                    </a:solidFill>
                  </a:tcPr>
                </a:tc>
              </a:tr>
              <a:tr h="581025">
                <a:tc>
                  <a:txBody>
                    <a:bodyPr/>
                    <a:lstStyle/>
                    <a:p>
                      <a:r>
                        <a:rPr sz="1350">
                          <a:solidFill>
                            <a:srgbClr val="132B3F"/>
                          </a:solidFill>
                          <a:latin typeface="Arial"/>
                          <a:ea typeface="Arial"/>
                          <a:cs typeface="Arial"/>
                        </a:rPr>
                        <a:t>3</a:t>
                      </a:r>
                    </a:p>
                  </a:txBody>
                  <a:tcPr marL="66675" marR="66675" marT="47625" marB="47625" anchor="ctr">
                    <a:solidFill>
                      <a:srgbClr val="FFFFFF"/>
                    </a:solidFill>
                  </a:tcPr>
                </a:tc>
                <a:tc>
                  <a:txBody>
                    <a:bodyPr/>
                    <a:lstStyle/>
                    <a:p>
                      <a:r>
                        <a:rPr sz="1350">
                          <a:solidFill>
                            <a:srgbClr val="132B3F"/>
                          </a:solidFill>
                          <a:latin typeface="Arial"/>
                          <a:ea typeface="Arial"/>
                          <a:cs typeface="Arial"/>
                        </a:rPr>
                        <a:t>Conv-Autoencoder baseline</a:t>
                      </a:r>
                    </a:p>
                  </a:txBody>
                  <a:tcPr marL="66675" marR="66675" marT="47625" marB="47625" anchor="ctr">
                    <a:solidFill>
                      <a:srgbClr val="FFFFFF"/>
                    </a:solidFill>
                  </a:tcPr>
                </a:tc>
              </a:tr>
              <a:tr h="581025">
                <a:tc>
                  <a:txBody>
                    <a:bodyPr/>
                    <a:lstStyle/>
                    <a:p>
                      <a:r>
                        <a:rPr sz="1350">
                          <a:solidFill>
                            <a:srgbClr val="132B3F"/>
                          </a:solidFill>
                          <a:latin typeface="Arial"/>
                          <a:ea typeface="Arial"/>
                          <a:cs typeface="Arial"/>
                        </a:rPr>
                        <a:t>4 đến 5</a:t>
                      </a:r>
                    </a:p>
                  </a:txBody>
                  <a:tcPr marL="66675" marR="66675" marT="47625" marB="47625" anchor="ctr">
                    <a:solidFill>
                      <a:srgbClr val="FFFFFF"/>
                    </a:solidFill>
                  </a:tcPr>
                </a:tc>
                <a:tc>
                  <a:txBody>
                    <a:bodyPr/>
                    <a:lstStyle/>
                    <a:p>
                      <a:r>
                        <a:rPr sz="1350">
                          <a:solidFill>
                            <a:srgbClr val="132B3F"/>
                          </a:solidFill>
                          <a:latin typeface="Arial"/>
                          <a:ea typeface="Arial"/>
                          <a:cs typeface="Arial"/>
                        </a:rPr>
                        <a:t>CNN-Transformer và huấn luyện</a:t>
                      </a:r>
                    </a:p>
                  </a:txBody>
                  <a:tcPr marL="66675" marR="66675" marT="47625" marB="47625" anchor="ctr">
                    <a:solidFill>
                      <a:srgbClr val="FFFFFF"/>
                    </a:solidFill>
                  </a:tcPr>
                </a:tc>
              </a:tr>
              <a:tr h="581025">
                <a:tc>
                  <a:txBody>
                    <a:bodyPr/>
                    <a:lstStyle/>
                    <a:p>
                      <a:r>
                        <a:rPr sz="1350">
                          <a:solidFill>
                            <a:srgbClr val="132B3F"/>
                          </a:solidFill>
                          <a:latin typeface="Arial"/>
                          <a:ea typeface="Arial"/>
                          <a:cs typeface="Arial"/>
                        </a:rPr>
                        <a:t>6</a:t>
                      </a:r>
                    </a:p>
                  </a:txBody>
                  <a:tcPr marL="66675" marR="66675" marT="47625" marB="47625" anchor="ctr">
                    <a:solidFill>
                      <a:srgbClr val="FFFFFF"/>
                    </a:solidFill>
                  </a:tcPr>
                </a:tc>
                <a:tc>
                  <a:txBody>
                    <a:bodyPr/>
                    <a:lstStyle/>
                    <a:p>
                      <a:r>
                        <a:rPr sz="1350">
                          <a:solidFill>
                            <a:srgbClr val="132B3F"/>
                          </a:solidFill>
                          <a:latin typeface="Arial"/>
                          <a:ea typeface="Arial"/>
                          <a:cs typeface="Arial"/>
                        </a:rPr>
                        <a:t>Đánh giá, ablation và cross-domain test</a:t>
                      </a:r>
                    </a:p>
                  </a:txBody>
                  <a:tcPr marL="66675" marR="66675" marT="47625" marB="47625" anchor="ctr">
                    <a:solidFill>
                      <a:srgbClr val="FFFFFF"/>
                    </a:solidFill>
                  </a:tcPr>
                </a:tc>
              </a:tr>
              <a:tr h="581025">
                <a:tc>
                  <a:txBody>
                    <a:bodyPr/>
                    <a:lstStyle/>
                    <a:p>
                      <a:r>
                        <a:rPr sz="1350">
                          <a:solidFill>
                            <a:srgbClr val="132B3F"/>
                          </a:solidFill>
                          <a:latin typeface="Arial"/>
                          <a:ea typeface="Arial"/>
                          <a:cs typeface="Arial"/>
                        </a:rPr>
                        <a:t>7</a:t>
                      </a:r>
                    </a:p>
                  </a:txBody>
                  <a:tcPr marL="66675" marR="66675" marT="47625" marB="47625" anchor="ctr">
                    <a:solidFill>
                      <a:srgbClr val="FFFFFF"/>
                    </a:solidFill>
                  </a:tcPr>
                </a:tc>
                <a:tc>
                  <a:txBody>
                    <a:bodyPr/>
                    <a:lstStyle/>
                    <a:p>
                      <a:r>
                        <a:rPr sz="1350">
                          <a:solidFill>
                            <a:srgbClr val="132B3F"/>
                          </a:solidFill>
                          <a:latin typeface="Arial"/>
                          <a:ea typeface="Arial"/>
                          <a:cs typeface="Arial"/>
                        </a:rPr>
                        <a:t>Demo video, cảnh báo và nhật ký</a:t>
                      </a:r>
                    </a:p>
                  </a:txBody>
                  <a:tcPr marL="66675" marR="66675" marT="47625" marB="47625" anchor="ctr">
                    <a:solidFill>
                      <a:srgbClr val="FFFFFF"/>
                    </a:solidFill>
                  </a:tcPr>
                </a:tc>
              </a:tr>
              <a:tr h="581025">
                <a:tc>
                  <a:txBody>
                    <a:bodyPr/>
                    <a:lstStyle/>
                    <a:p>
                      <a:r>
                        <a:rPr sz="1350">
                          <a:solidFill>
                            <a:srgbClr val="132B3F"/>
                          </a:solidFill>
                          <a:latin typeface="Arial"/>
                          <a:ea typeface="Arial"/>
                          <a:cs typeface="Arial"/>
                        </a:rPr>
                        <a:t>8</a:t>
                      </a:r>
                    </a:p>
                  </a:txBody>
                  <a:tcPr marL="66675" marR="66675" marT="47625" marB="47625" anchor="ctr">
                    <a:solidFill>
                      <a:srgbClr val="FFFFFF"/>
                    </a:solidFill>
                  </a:tcPr>
                </a:tc>
                <a:tc>
                  <a:txBody>
                    <a:bodyPr/>
                    <a:lstStyle/>
                    <a:p>
                      <a:r>
                        <a:rPr sz="1350">
                          <a:solidFill>
                            <a:srgbClr val="132B3F"/>
                          </a:solidFill>
                          <a:latin typeface="Arial"/>
                          <a:ea typeface="Arial"/>
                          <a:cs typeface="Arial"/>
                        </a:rPr>
                        <a:t>Báo cáo, kiểm tra và chuẩn bị bảo vệ</a:t>
                      </a:r>
                    </a:p>
                  </a:txBody>
                  <a:tcPr marL="66675" marR="66675" marT="47625" marB="47625" anchor="ctr">
                    <a:solidFill>
                      <a:srgbClr val="FFFFFF"/>
                    </a:solidFill>
                  </a:tcPr>
                </a:tc>
              </a:tr>
            </a:tbl>
          </a:graphicData>
        </a:graphic>
      </p:graphicFrame>
    </p:spTree>
    <p:extLst>
      <p:ext uri="{BB962C8B-B14F-4D97-AF65-F5344CB8AC3E}">
        <p14:creationId xmlns:p14="http://schemas.microsoft.com/office/powerpoint/2010/main" val="1874218084"/>
      </p:ext>
    </p:extLst>
  </p:cSld>
</p:sld>
</file>

<file path=ppt/slides/slide15.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1A798D-42C2-401B-A4E4-FB0909D08157}"/>
              </a:ext>
            </a:extLst>
          </p:cNvPr>
          <p:cNvSpPr>
            <a:spLocks xmlns:a="http://schemas.openxmlformats.org/drawingml/2006/main" noGrp="1"/>
          </p:cNvSpPr>
          <p:nvPr/>
        </p:nvSpPr>
        <p:spPr>
          <a:xfrm xmlns:a="http://schemas.openxmlformats.org/drawingml/2006/main">
            <a:off x="590550" y="3238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Kết luận tuần 1</a:t>
            </a:r>
          </a:p>
        </p:txBody>
      </p:sp>
      <p:sp>
        <p:nvSpPr>
          <p:cNvPr id="2" name="">
            <a:extLst xmlns:a="http://schemas.openxmlformats.org/drawingml/2006/main">
              <a:ext uri="{FF2B5EF4-FFF2-40B4-BE49-F238E27FC236}">
                <a16:creationId xmlns:a16="http://schemas.microsoft.com/office/drawing/2014/main" id="{F565AA30-2D3F-443C-8A3C-34CB9217D093}"/>
              </a:ext>
            </a:extLst>
          </p:cNvPr>
          <p:cNvSpPr>
            <a:spLocks xmlns:a="http://schemas.openxmlformats.org/drawingml/2006/main" noGrp="1"/>
          </p:cNvSpPr>
          <p:nvPr/>
        </p:nvSpPr>
        <p:spPr>
          <a:xfrm xmlns:a="http://schemas.openxmlformats.org/drawingml/2006/main">
            <a:off x="600075" y="933450"/>
            <a:ext cx="10953750" cy="0"/>
          </a:xfrm>
          <a:prstGeom xmlns:a="http://schemas.openxmlformats.org/drawingml/2006/main" prst="line">
            <a:avLst/>
          </a:prstGeom>
          <a:noFill xmlns:a="http://schemas.openxmlformats.org/drawingml/2006/main"/>
          <a:ln xmlns:a="http://schemas.openxmlformats.org/drawingml/2006/main" w="19050">
            <a:solidFill>
              <a:srgbClr val="6EBFBD"/>
            </a:solidFill>
            <a:prstDash val="solid"/>
          </a:ln>
        </p:spPr>
      </p:sp>
      <p:sp>
        <p:nvSpPr>
          <p:cNvPr id="3" name="">
            <a:extLst xmlns:a="http://schemas.openxmlformats.org/drawingml/2006/main">
              <a:ext uri="{FF2B5EF4-FFF2-40B4-BE49-F238E27FC236}">
                <a16:creationId xmlns:a16="http://schemas.microsoft.com/office/drawing/2014/main" id="{AF6EBCC9-6261-4B3E-88EF-79132A6C2D54}"/>
              </a:ext>
            </a:extLst>
          </p:cNvPr>
          <p:cNvSpPr>
            <a:spLocks xmlns:a="http://schemas.openxmlformats.org/drawingml/2006/main" noGrp="1"/>
          </p:cNvSpPr>
          <p:nvPr/>
        </p:nvSpPr>
        <p:spPr>
          <a:xfrm xmlns:a="http://schemas.openxmlformats.org/drawingml/2006/main">
            <a:off x="10953750" y="3333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r">
              <a:defRPr sz="1500" b="1">
                <a:solidFill>
                  <a:srgbClr val="A8CFD0"/>
                </a:solidFill>
                <a:latin typeface="Arial"/>
                <a:ea typeface="Arial"/>
                <a:cs typeface="Arial"/>
              </a:defRPr>
            </a:pPr>
            <a:r>
              <a:rPr sz="1500" b="1">
                <a:solidFill>
                  <a:srgbClr val="A8CFD0"/>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D5BC6FCB-4277-4BBD-AE25-CFA1E4F053E5}"/>
              </a:ext>
            </a:extLst>
          </p:cNvPr>
          <p:cNvSpPr>
            <a:spLocks xmlns:a="http://schemas.openxmlformats.org/drawingml/2006/main" noGrp="1"/>
          </p:cNvSpPr>
          <p:nvPr/>
        </p:nvSpPr>
        <p:spPr>
          <a:xfrm xmlns:a="http://schemas.openxmlformats.org/drawingml/2006/main">
            <a:off x="781050" y="1381125"/>
            <a:ext cx="1047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19050" tIns="19050" rIns="38100" bIns="19050">
            <a:normAutofit fontScale="100000"/>
          </a:bodyPr>
          <a:lstStyle xmlns:a="http://schemas.openxmlformats.org/drawingml/2006/main"/>
          <a:p xmlns:a="http://schemas.openxmlformats.org/drawingml/2006/main">
            <a:pPr marL="228600" indent="-114300">
              <a:spcAft>
                <a:spcPts val="1000"/>
              </a:spcAft>
              <a:buChar char="•"/>
              <a:defRPr sz="1875">
                <a:solidFill>
                  <a:srgbClr val="FFFFFF"/>
                </a:solidFill>
                <a:latin typeface="Arial"/>
                <a:ea typeface="Arial"/>
                <a:cs typeface="Arial"/>
              </a:defRPr>
            </a:pPr>
            <a:r>
              <a:t>Đề tài phù hợp với học phần và khả thi trong 8 tuần nếu giữ phạm vi camera cố định.</a:t>
            </a:r>
          </a:p>
          <a:p xmlns:a="http://schemas.openxmlformats.org/drawingml/2006/main">
            <a:pPr marL="228600" indent="-114300">
              <a:spcAft>
                <a:spcPts val="1000"/>
              </a:spcAft>
              <a:buChar char="•"/>
              <a:defRPr sz="1875">
                <a:solidFill>
                  <a:srgbClr val="FFFFFF"/>
                </a:solidFill>
                <a:latin typeface="Arial"/>
                <a:ea typeface="Arial"/>
                <a:cs typeface="Arial"/>
              </a:defRPr>
            </a:pPr>
            <a:r>
              <a:t>Ped2 phù hợp để phát triển mô hình. Avenue phù hợp để xác nhận phương pháp và khảo sát cross-domain.</a:t>
            </a:r>
          </a:p>
          <a:p xmlns:a="http://schemas.openxmlformats.org/drawingml/2006/main">
            <a:pPr marL="228600" indent="-114300">
              <a:spcAft>
                <a:spcPts val="1000"/>
              </a:spcAft>
              <a:buChar char="•"/>
              <a:defRPr sz="1875">
                <a:solidFill>
                  <a:srgbClr val="FFFFFF"/>
                </a:solidFill>
                <a:latin typeface="Arial"/>
                <a:ea typeface="Arial"/>
                <a:cs typeface="Arial"/>
              </a:defRPr>
            </a:pPr>
            <a:r>
              <a:t>Conv-Autoencoder là baseline bắt buộc. CNN-Transformer là mô hình chính.</a:t>
            </a:r>
          </a:p>
          <a:p xmlns:a="http://schemas.openxmlformats.org/drawingml/2006/main">
            <a:pPr marL="228600" indent="-114300">
              <a:spcAft>
                <a:spcPts val="1000"/>
              </a:spcAft>
              <a:buChar char="•"/>
              <a:defRPr sz="1875">
                <a:solidFill>
                  <a:srgbClr val="FFFFFF"/>
                </a:solidFill>
                <a:latin typeface="Arial"/>
                <a:ea typeface="Arial"/>
                <a:cs typeface="Arial"/>
              </a:defRPr>
            </a:pPr>
            <a:r>
              <a:t>Kết quả cần được đánh giá bằng cả metric học thuật và số cảnh báo giả.</a:t>
            </a:r>
          </a:p>
          <a:p xmlns:a="http://schemas.openxmlformats.org/drawingml/2006/main">
            <a:pPr marL="228600" indent="-114300">
              <a:spcAft>
                <a:spcPts val="1000"/>
              </a:spcAft>
              <a:buChar char="•"/>
              <a:defRPr sz="1875">
                <a:solidFill>
                  <a:srgbClr val="FFFFFF"/>
                </a:solidFill>
                <a:latin typeface="Arial"/>
                <a:ea typeface="Arial"/>
                <a:cs typeface="Arial"/>
              </a:defRPr>
            </a:pPr>
            <a:r>
              <a:t>Giá trị ứng dụng đến từ toàn bộ pipeline cảnh báo, không chỉ từ model.</a:t>
            </a:r>
          </a:p>
        </p:txBody>
      </p:sp>
      <p:sp>
        <p:nvSpPr>
          <p:cNvPr id="5" name="">
            <a:extLst xmlns:a="http://schemas.openxmlformats.org/drawingml/2006/main">
              <a:ext uri="{FF2B5EF4-FFF2-40B4-BE49-F238E27FC236}">
                <a16:creationId xmlns:a16="http://schemas.microsoft.com/office/drawing/2014/main" id="{8BC2FAAD-17A4-41C5-9831-8AF6498778FD}"/>
              </a:ext>
            </a:extLst>
          </p:cNvPr>
          <p:cNvSpPr>
            <a:spLocks xmlns:a="http://schemas.openxmlformats.org/drawingml/2006/main" noGrp="1"/>
          </p:cNvSpPr>
          <p:nvPr/>
        </p:nvSpPr>
        <p:spPr>
          <a:xfrm xmlns:a="http://schemas.openxmlformats.org/drawingml/2006/main">
            <a:off x="781050" y="4953000"/>
            <a:ext cx="10477500" cy="1123950"/>
          </a:xfrm>
          <a:prstGeom xmlns:a="http://schemas.openxmlformats.org/drawingml/2006/main" prst="roundRect">
            <a:avLst>
              <a:gd name="adj" fmla="val 11864"/>
            </a:avLst>
          </a:prstGeom>
          <a:solidFill xmlns:a="http://schemas.openxmlformats.org/drawingml/2006/main">
            <a:srgbClr val="159E9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85441B-3C9B-4D95-B780-8AD322E2C03D}"/>
              </a:ext>
            </a:extLst>
          </p:cNvPr>
          <p:cNvSpPr>
            <a:spLocks xmlns:a="http://schemas.openxmlformats.org/drawingml/2006/main" noGrp="1"/>
          </p:cNvSpPr>
          <p:nvPr/>
        </p:nvSpPr>
        <p:spPr>
          <a:xfrm xmlns:a="http://schemas.openxmlformats.org/drawingml/2006/main">
            <a:off x="1028700" y="51244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t">
            <a:noAutofit/>
          </a:bodyPr>
          <a:lstStyle xmlns:a="http://schemas.openxmlformats.org/drawingml/2006/main"/>
          <a:p xmlns:a="http://schemas.openxmlformats.org/drawingml/2006/main">
            <a:pPr algn="l">
              <a:defRPr sz="1500" b="1">
                <a:solidFill>
                  <a:srgbClr val="0B1F33"/>
                </a:solidFill>
                <a:latin typeface="Arial"/>
                <a:ea typeface="Arial"/>
                <a:cs typeface="Arial"/>
              </a:defRPr>
            </a:pPr>
            <a:r>
              <a:rPr sz="1500" b="1">
                <a:solidFill>
                  <a:srgbClr val="0B1F33"/>
                </a:solidFill>
                <a:latin typeface="Arial"/>
                <a:ea typeface="Arial"/>
                <a:cs typeface="Arial"/>
              </a:rPr>
              <a:t>BƯỚC TIẾP THEO</a:t>
            </a:r>
          </a:p>
        </p:txBody>
      </p:sp>
      <p:sp>
        <p:nvSpPr>
          <p:cNvPr id="7" name="">
            <a:extLst xmlns:a="http://schemas.openxmlformats.org/drawingml/2006/main">
              <a:ext uri="{FF2B5EF4-FFF2-40B4-BE49-F238E27FC236}">
                <a16:creationId xmlns:a16="http://schemas.microsoft.com/office/drawing/2014/main" id="{F504722B-38D8-436E-BEF3-7DCEB156C4F5}"/>
              </a:ext>
            </a:extLst>
          </p:cNvPr>
          <p:cNvSpPr>
            <a:spLocks xmlns:a="http://schemas.openxmlformats.org/drawingml/2006/main" noGrp="1"/>
          </p:cNvSpPr>
          <p:nvPr/>
        </p:nvSpPr>
        <p:spPr>
          <a:xfrm xmlns:a="http://schemas.openxmlformats.org/drawingml/2006/main">
            <a:off x="1028700" y="5505450"/>
            <a:ext cx="9858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28575" rIns="38100" bIns="28575" anchor="ctr">
            <a:normAutofit fontScale="94828"/>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Hoàn thiện data pipeline và kiểm tra dữ liệu trước khi huấn luyện.</a:t>
            </a:r>
          </a:p>
        </p:txBody>
      </p:sp>
    </p:spTree>
    <p:extLst>
      <p:ext uri="{BB962C8B-B14F-4D97-AF65-F5344CB8AC3E}">
        <p14:creationId xmlns:p14="http://schemas.microsoft.com/office/powerpoint/2010/main" val="1364399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2026-09-05T08:25:33.4290000Z</dcterms:created>
  <dcterms:modified xsi:type="dcterms:W3CDTF">2026-09-05T08:25:33.4290000Z</dcterms:modified>
</coreProperties>
</file>